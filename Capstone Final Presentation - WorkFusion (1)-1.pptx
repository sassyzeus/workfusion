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12_1F12D82.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25_81CBAF52.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8"/>
  </p:notesMasterIdLst>
  <p:sldIdLst>
    <p:sldId id="256" r:id="rId5"/>
    <p:sldId id="257" r:id="rId6"/>
    <p:sldId id="266" r:id="rId7"/>
    <p:sldId id="274" r:id="rId8"/>
    <p:sldId id="260" r:id="rId9"/>
    <p:sldId id="267" r:id="rId10"/>
    <p:sldId id="300" r:id="rId11"/>
    <p:sldId id="281" r:id="rId12"/>
    <p:sldId id="261" r:id="rId13"/>
    <p:sldId id="296" r:id="rId14"/>
    <p:sldId id="262" r:id="rId15"/>
    <p:sldId id="277" r:id="rId16"/>
    <p:sldId id="298" r:id="rId17"/>
    <p:sldId id="284" r:id="rId18"/>
    <p:sldId id="293" r:id="rId19"/>
    <p:sldId id="283" r:id="rId20"/>
    <p:sldId id="282" r:id="rId21"/>
    <p:sldId id="302" r:id="rId22"/>
    <p:sldId id="303" r:id="rId23"/>
    <p:sldId id="304" r:id="rId24"/>
    <p:sldId id="292" r:id="rId25"/>
    <p:sldId id="285" r:id="rId26"/>
    <p:sldId id="265" r:id="rId27"/>
  </p:sldIdLst>
  <p:sldSz cx="18288000" cy="10287000"/>
  <p:notesSz cx="6858000" cy="9144000"/>
  <p:embeddedFontLst>
    <p:embeddedFont>
      <p:font typeface="Consolas" panose="020B0609020204030204" pitchFamily="49" charset="0"/>
      <p:regular r:id="rId29"/>
      <p:bold r:id="rId30"/>
      <p:italic r:id="rId31"/>
      <p:boldItalic r:id="rId32"/>
    </p:embeddedFont>
    <p:embeddedFont>
      <p:font typeface="Gotham" panose="020B0604020202020204" charset="0"/>
      <p:regular r:id="rId33"/>
    </p:embeddedFont>
    <p:embeddedFont>
      <p:font typeface="Gotham Bold" panose="020B0604020202020204" charset="0"/>
      <p:regular r:id="rId34"/>
    </p:embeddedFont>
    <p:embeddedFont>
      <p:font typeface="Gotham Bold Italics" panose="020B0604020202020204" charset="0"/>
      <p:regular r:id="rId35"/>
    </p:embeddedFont>
    <p:embeddedFont>
      <p:font typeface="PMingLiU" panose="02020500000000000000" pitchFamily="18" charset="-120"/>
      <p:regular r:id="rId36"/>
    </p:embeddedFont>
    <p:embeddedFont>
      <p:font typeface="Poppins" panose="00000500000000000000" pitchFamily="2" charset="0"/>
      <p:regular r:id="rId37"/>
      <p:bold r:id="rId38"/>
      <p:italic r:id="rId39"/>
      <p:boldItalic r:id="rId40"/>
    </p:embeddedFont>
    <p:embeddedFont>
      <p:font typeface="Segoe UI" panose="020B0502040204020203" pitchFamily="34" charset="0"/>
      <p:regular r:id="rId41"/>
      <p:bold r:id="rId42"/>
      <p:italic r:id="rId43"/>
      <p:boldItalic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36C950F-8353-6798-E186-54347BB6CE46}" name="jshial@workfusion.com" initials="js" userId="S::urn:spo:guest#jshial@workfusion.com::" providerId="AD"/>
  <p188:author id="{2C620123-B994-F94E-09E8-5A9B0600269C}" name="Santhosh Kumar Raja Surendranath (Student)" initials="S(" userId="S::ssuren11@sundevils.asu.edu::3e221a13-f55e-4ce1-ba34-f4964fcfc171" providerId="AD"/>
  <p188:author id="{29A6A3A3-DE0C-8B53-1A5D-D7E2E577E1CD}" name="Meghana Pilly (Student)" initials="M(" userId="S::mpilly@sundevils.asu.edu::dde794e3-c72a-470e-8ead-8719b125fd61" providerId="AD"/>
  <p188:author id="{CFB220E7-9086-4DEA-2090-1124C5027D46}" name="Sanjana Ramesh (Student)" initials="SR" userId="S::srames67@sundevils.asu.edu::1627dea1-e9fe-4bfe-9165-7698acbe14f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B2C"/>
    <a:srgbClr val="B5C983"/>
    <a:srgbClr val="FFCFCC"/>
    <a:srgbClr val="FDE9E7"/>
    <a:srgbClr val="80DCF2"/>
    <a:srgbClr val="F633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B7C304-B145-8399-3A83-CAF44E9AA505}" v="1359" dt="2024-12-10T06:19:58.242"/>
    <p1510:client id="{309615E5-2C37-0221-3BE7-389D577751C8}" v="43" dt="2024-12-10T00:56:24.851"/>
    <p1510:client id="{408E8A0B-709F-A55F-1B2D-F8900E83BC31}" v="5524" dt="2024-12-09T23:14:15.356"/>
    <p1510:client id="{4CA49A29-FD6B-7DE1-E626-2B11F4E36318}" v="597" dt="2024-12-10T04:33:08.219"/>
    <p1510:client id="{5B55C347-AB03-7444-FBFB-F24651144A8F}" v="1293" dt="2024-12-10T07:27:16.910"/>
    <p1510:client id="{5DE51F92-CA1A-9FD1-45D6-A31E471C6693}" v="1462" dt="2024-12-10T18:03:04.311"/>
    <p1510:client id="{6C1DBFD9-C93D-5341-2B30-F3222D7AF2B1}" v="373" dt="2024-12-10T03:46:12.381"/>
    <p1510:client id="{707684AA-41C5-A2AF-F4DB-85891FAC7F45}" v="91" dt="2024-12-10T15:32:45.598"/>
    <p1510:client id="{73EB8C4B-1BB6-7B99-DBDE-6CC6EC7310F3}" v="1423" dt="2024-12-10T20:56:04.746"/>
    <p1510:client id="{7CF7527E-99F0-A209-8D0B-F24C3B101CB2}" v="4795" dt="2024-12-10T04:15:07.071"/>
    <p1510:client id="{8349CD2F-F814-8014-B0BD-B6A13B2DB998}" v="1369" dt="2024-12-10T18:46:16.884"/>
    <p1510:client id="{8AE2ABC0-FF2E-40BD-BC0D-BDF94AFD3F52}" v="4747" dt="2024-12-10T22:50:37.480"/>
    <p1510:client id="{B83D3969-9DF2-363B-4B7A-89198FBC1A50}" v="3" dt="2024-12-10T22:50:17.363"/>
    <p1510:client id="{BF4EFA5B-DBC9-D8C7-294D-3B5E7DB6C203}" v="112" dt="2024-12-09T23:39:09.638"/>
    <p1510:client id="{CFF13939-F46F-752C-91C0-99AB084DD56F}" v="313" vWet="315" dt="2024-12-10T00:20:07.570"/>
    <p1510:client id="{D9BB663F-04AC-8276-045C-EF55ABF92BED}" v="1466" dt="2024-12-10T12:17:31.030"/>
    <p1510:client id="{EB899DAB-81BB-B401-B2D1-F8836E058644}" v="50" dt="2024-12-10T20:11:17.382"/>
    <p1510:client id="{F9D45D3A-7943-4E34-9495-9F06AB968065}" v="245" dt="2024-12-10T05:21:49.1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7" d="100"/>
          <a:sy n="57" d="100"/>
        </p:scale>
        <p:origin x="28" y="24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1.fntdata"/><Relationship Id="rId21" Type="http://schemas.openxmlformats.org/officeDocument/2006/relationships/slide" Target="slides/slide17.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font" Target="fonts/font1.fntdata"/><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font" Target="fonts/font13.fntdata"/><Relationship Id="rId1" Type="http://schemas.openxmlformats.org/officeDocument/2006/relationships/customXml" Target="../customXml/item1.xml"/><Relationship Id="rId6" Type="http://schemas.openxmlformats.org/officeDocument/2006/relationships/slide" Target="slides/slide2.xml"/></Relationships>
</file>

<file path=ppt/comments/modernComment_112_1F12D82.xml><?xml version="1.0" encoding="utf-8"?>
<p188:cmLst xmlns:a="http://schemas.openxmlformats.org/drawingml/2006/main" xmlns:r="http://schemas.openxmlformats.org/officeDocument/2006/relationships" xmlns:p188="http://schemas.microsoft.com/office/powerpoint/2018/8/main">
  <p188:cm id="{097F987C-7F9E-4036-9167-02E42A1A9F9B}" authorId="{2C620123-B994-F94E-09E8-5A9B0600269C}" status="resolved" created="2024-12-09T23:57:17.597" complete="100000">
    <pc:sldMkLst xmlns:pc="http://schemas.microsoft.com/office/powerpoint/2013/main/command">
      <pc:docMk/>
      <pc:sldMk cId="32583042" sldId="274"/>
    </pc:sldMkLst>
    <p188:txBody>
      <a:bodyPr/>
      <a:lstStyle/>
      <a:p>
        <a:r>
          <a:rPr lang="en-US"/>
          <a:t>Prroblem STatement SMaller 
Mention Model Name :
Datasets </a:t>
        </a:r>
      </a:p>
    </p188:txBody>
  </p188:cm>
</p188:cmLst>
</file>

<file path=ppt/comments/modernComment_125_81CBAF52.xml><?xml version="1.0" encoding="utf-8"?>
<p188:cmLst xmlns:a="http://schemas.openxmlformats.org/drawingml/2006/main" xmlns:r="http://schemas.openxmlformats.org/officeDocument/2006/relationships" xmlns:p188="http://schemas.microsoft.com/office/powerpoint/2018/8/main">
  <p188:cm id="{83132D1A-3A8E-4EE2-ACB9-294BE377C23A}" authorId="{936C950F-8353-6798-E186-54347BB6CE46}" status="resolved" created="2024-12-10T06:08:33.682" complete="100000">
    <pc:sldMkLst xmlns:pc="http://schemas.microsoft.com/office/powerpoint/2013/main/command">
      <pc:docMk/>
      <pc:sldMk cId="2177609554" sldId="293"/>
    </pc:sldMkLst>
    <p188:txBody>
      <a:bodyPr/>
      <a:lstStyle/>
      <a:p>
        <a:r>
          <a:rPr lang="en-US"/>
          <a:t>compare relation statistics need to be added in one slide for invoice, since it does have tables.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935136-C595-4251-BD14-8A66E06EB4CA}" type="datetimeFigureOut">
              <a:rPr lang="en-US" smtClean="0"/>
              <a:t>12/10/2024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997B44-CE67-49E6-838F-23F2538A4D3B}" type="slidenum">
              <a:rPr lang="en-US" smtClean="0"/>
              <a:t>‹#›</a:t>
            </a:fld>
            <a:endParaRPr lang="en-US"/>
          </a:p>
        </p:txBody>
      </p:sp>
    </p:spTree>
    <p:extLst>
      <p:ext uri="{BB962C8B-B14F-4D97-AF65-F5344CB8AC3E}">
        <p14:creationId xmlns:p14="http://schemas.microsoft.com/office/powerpoint/2010/main" val="1014476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997B44-CE67-49E6-838F-23F2538A4D3B}" type="slidenum">
              <a:rPr lang="en-US" smtClean="0"/>
              <a:t>3</a:t>
            </a:fld>
            <a:endParaRPr lang="en-US"/>
          </a:p>
        </p:txBody>
      </p:sp>
    </p:spTree>
    <p:extLst>
      <p:ext uri="{BB962C8B-B14F-4D97-AF65-F5344CB8AC3E}">
        <p14:creationId xmlns:p14="http://schemas.microsoft.com/office/powerpoint/2010/main" val="1194559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Mention model and datasets with </a:t>
            </a:r>
            <a:r>
              <a:rPr lang="en-US" err="1">
                <a:latin typeface="Calibri"/>
                <a:ea typeface="Calibri"/>
                <a:cs typeface="Calibri"/>
              </a:rPr>
              <a:t>no.of</a:t>
            </a:r>
            <a:r>
              <a:rPr lang="en-US">
                <a:latin typeface="Calibri"/>
                <a:ea typeface="Calibri"/>
                <a:cs typeface="Calibri"/>
              </a:rPr>
              <a:t> documents</a:t>
            </a:r>
          </a:p>
          <a:p>
            <a:r>
              <a:rPr lang="en-US">
                <a:latin typeface="Calibri"/>
                <a:ea typeface="Calibri"/>
                <a:cs typeface="Calibri"/>
              </a:rPr>
              <a:t>Aoi – mention </a:t>
            </a:r>
            <a:r>
              <a:rPr lang="en-US" err="1">
                <a:latin typeface="Calibri"/>
                <a:ea typeface="Calibri"/>
                <a:cs typeface="Calibri"/>
              </a:rPr>
              <a:t>no.of</a:t>
            </a:r>
            <a:r>
              <a:rPr lang="en-US">
                <a:latin typeface="Calibri"/>
                <a:ea typeface="Calibri"/>
                <a:cs typeface="Calibri"/>
              </a:rPr>
              <a:t> pages</a:t>
            </a:r>
            <a:br>
              <a:rPr lang="en-US">
                <a:latin typeface="Calibri"/>
                <a:ea typeface="Calibri"/>
                <a:cs typeface="Calibri"/>
              </a:rPr>
            </a:br>
            <a:r>
              <a:rPr lang="en-US">
                <a:latin typeface="Calibri"/>
                <a:ea typeface="Calibri"/>
                <a:cs typeface="Calibri"/>
              </a:rPr>
              <a:t>Add prompt – system prompt, user prompt, conversion of images-inpout,output</a:t>
            </a:r>
          </a:p>
          <a:p>
            <a:r>
              <a:rPr lang="en-US">
                <a:latin typeface="Calibri"/>
                <a:ea typeface="Calibri"/>
                <a:cs typeface="Calibri"/>
              </a:rPr>
              <a:t>Goals should be in problem statement</a:t>
            </a:r>
            <a:br>
              <a:rPr lang="en-US">
                <a:latin typeface="Calibri"/>
                <a:ea typeface="Calibri"/>
                <a:cs typeface="Calibri"/>
              </a:rPr>
            </a:br>
            <a:br>
              <a:rPr lang="en-US">
                <a:latin typeface="Calibri"/>
                <a:ea typeface="Calibri"/>
                <a:cs typeface="Calibri"/>
              </a:rPr>
            </a:br>
            <a:endParaRPr lang="en-US">
              <a:latin typeface="Calibri"/>
              <a:ea typeface="Calibri"/>
              <a:cs typeface="Calibri"/>
            </a:endParaRPr>
          </a:p>
          <a:p>
            <a:endParaRPr lang="en-US">
              <a:latin typeface="Calibri"/>
              <a:ea typeface="Calibri"/>
              <a:cs typeface="Calibri"/>
            </a:endParaRP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85997B44-CE67-49E6-838F-23F2538A4D3B}" type="slidenum">
              <a:rPr lang="en-US" smtClean="0"/>
              <a:t>4</a:t>
            </a:fld>
            <a:endParaRPr lang="en-US"/>
          </a:p>
        </p:txBody>
      </p:sp>
    </p:spTree>
    <p:extLst>
      <p:ext uri="{BB962C8B-B14F-4D97-AF65-F5344CB8AC3E}">
        <p14:creationId xmlns:p14="http://schemas.microsoft.com/office/powerpoint/2010/main" val="1245004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Research - </a:t>
            </a:r>
            <a:r>
              <a:rPr lang="en-US" sz="1800" b="0" i="0" u="none" strike="noStrike">
                <a:solidFill>
                  <a:srgbClr val="000000"/>
                </a:solidFill>
                <a:effectLst/>
                <a:latin typeface="Arial" panose="020B0604020202020204" pitchFamily="34" charset="0"/>
              </a:rPr>
              <a:t>Construct the pipeline, – APIs don’t support image files – convert to base64 – why? extracting text directly from documents rather than convert to text</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800"/>
              <a:t>Workflow diagram</a:t>
            </a:r>
            <a:endParaRPr lang="en-US" sz="1800" b="0" i="0" u="none" strike="noStrike">
              <a:solidFill>
                <a:srgbClr val="000000"/>
              </a:solidFill>
              <a:effectLst/>
              <a:latin typeface="Arial" panose="020B0604020202020204" pitchFamily="34" charset="0"/>
            </a:endParaRPr>
          </a:p>
          <a:p>
            <a:pPr marL="228600" indent="-228600">
              <a:buAutoNum type="arabicPeriod"/>
            </a:pPr>
            <a:r>
              <a:rPr lang="en-US"/>
              <a:t>How did we start? Initial prompt Vs. Best Prompt – normalization (Chain of Thought)</a:t>
            </a:r>
          </a:p>
          <a:p>
            <a:pPr marL="228600" indent="-228600">
              <a:buAutoNum type="arabicPeriod"/>
            </a:pPr>
            <a:r>
              <a:rPr lang="en-US"/>
              <a:t>Invoice fields image</a:t>
            </a:r>
          </a:p>
          <a:p>
            <a:pPr marL="228600" indent="-228600">
              <a:buAutoNum type="arabicPeriod"/>
            </a:pPr>
            <a:r>
              <a:rPr lang="en-US"/>
              <a:t>Json structure – list of dictionaries</a:t>
            </a:r>
          </a:p>
          <a:p>
            <a:pPr marL="228600" indent="-228600">
              <a:buAutoNum type="arabicPeriod"/>
            </a:pPr>
            <a:endParaRPr lang="en-US"/>
          </a:p>
        </p:txBody>
      </p:sp>
      <p:sp>
        <p:nvSpPr>
          <p:cNvPr id="4" name="Slide Number Placeholder 3"/>
          <p:cNvSpPr>
            <a:spLocks noGrp="1"/>
          </p:cNvSpPr>
          <p:nvPr>
            <p:ph type="sldNum" sz="quarter" idx="5"/>
          </p:nvPr>
        </p:nvSpPr>
        <p:spPr/>
        <p:txBody>
          <a:bodyPr/>
          <a:lstStyle/>
          <a:p>
            <a:fld id="{85997B44-CE67-49E6-838F-23F2538A4D3B}" type="slidenum">
              <a:rPr lang="en-US" smtClean="0"/>
              <a:t>5</a:t>
            </a:fld>
            <a:endParaRPr lang="en-US"/>
          </a:p>
        </p:txBody>
      </p:sp>
    </p:spTree>
    <p:extLst>
      <p:ext uri="{BB962C8B-B14F-4D97-AF65-F5344CB8AC3E}">
        <p14:creationId xmlns:p14="http://schemas.microsoft.com/office/powerpoint/2010/main" val="2591617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997B44-CE67-49E6-838F-23F2538A4D3B}" type="slidenum">
              <a:rPr lang="en-US" smtClean="0"/>
              <a:t>6</a:t>
            </a:fld>
            <a:endParaRPr lang="en-US"/>
          </a:p>
        </p:txBody>
      </p:sp>
    </p:spTree>
    <p:extLst>
      <p:ext uri="{BB962C8B-B14F-4D97-AF65-F5344CB8AC3E}">
        <p14:creationId xmlns:p14="http://schemas.microsoft.com/office/powerpoint/2010/main" val="1894312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the system prompt? </a:t>
            </a:r>
          </a:p>
          <a:p>
            <a:r>
              <a:rPr lang="en-US"/>
              <a:t>What is the user prompt? </a:t>
            </a:r>
            <a:br>
              <a:rPr lang="en-US"/>
            </a:br>
            <a:r>
              <a:rPr lang="en-US"/>
              <a:t>What directions are we giving to the model? – why are we normalizing? – bringing the nearest bounding box to the text </a:t>
            </a:r>
          </a:p>
          <a:p>
            <a:endParaRPr lang="en-US"/>
          </a:p>
        </p:txBody>
      </p:sp>
      <p:sp>
        <p:nvSpPr>
          <p:cNvPr id="4" name="Slide Number Placeholder 3"/>
          <p:cNvSpPr>
            <a:spLocks noGrp="1"/>
          </p:cNvSpPr>
          <p:nvPr>
            <p:ph type="sldNum" sz="quarter" idx="5"/>
          </p:nvPr>
        </p:nvSpPr>
        <p:spPr/>
        <p:txBody>
          <a:bodyPr/>
          <a:lstStyle/>
          <a:p>
            <a:fld id="{85997B44-CE67-49E6-838F-23F2538A4D3B}" type="slidenum">
              <a:rPr lang="en-US" smtClean="0"/>
              <a:t>7</a:t>
            </a:fld>
            <a:endParaRPr lang="en-US"/>
          </a:p>
        </p:txBody>
      </p:sp>
    </p:spTree>
    <p:extLst>
      <p:ext uri="{BB962C8B-B14F-4D97-AF65-F5344CB8AC3E}">
        <p14:creationId xmlns:p14="http://schemas.microsoft.com/office/powerpoint/2010/main" val="3023275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50139-9A98-3B9E-0B0C-20D6F5470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94DFD-8ADA-C3C3-20AB-637BDB5123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C91759-0671-CABF-9EDC-4080DC8E298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0A2E3E-4275-B62A-A404-B0E68F40BD9D}"/>
              </a:ext>
            </a:extLst>
          </p:cNvPr>
          <p:cNvSpPr>
            <a:spLocks noGrp="1"/>
          </p:cNvSpPr>
          <p:nvPr>
            <p:ph type="sldNum" sz="quarter" idx="5"/>
          </p:nvPr>
        </p:nvSpPr>
        <p:spPr/>
        <p:txBody>
          <a:bodyPr/>
          <a:lstStyle/>
          <a:p>
            <a:fld id="{85997B44-CE67-49E6-838F-23F2538A4D3B}" type="slidenum">
              <a:rPr lang="en-US" smtClean="0"/>
              <a:t>8</a:t>
            </a:fld>
            <a:endParaRPr lang="en-US"/>
          </a:p>
        </p:txBody>
      </p:sp>
    </p:spTree>
    <p:extLst>
      <p:ext uri="{BB962C8B-B14F-4D97-AF65-F5344CB8AC3E}">
        <p14:creationId xmlns:p14="http://schemas.microsoft.com/office/powerpoint/2010/main" val="259588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a:p>
            <a:pPr marL="228600" indent="-228600">
              <a:buAutoNum type="arabicPeriod"/>
            </a:pPr>
            <a:r>
              <a:rPr lang="en-US"/>
              <a:t>Research on how to prompt, ask for normalization – why? – The reason is because that’s what the model has primarily been trained on </a:t>
            </a:r>
          </a:p>
          <a:p>
            <a:pPr marL="228600" indent="-228600">
              <a:buAutoNum type="arabicPeriod"/>
            </a:pPr>
            <a:r>
              <a:rPr lang="en-US"/>
              <a:t>3 images ran through different prompts/runs, throwing different results each time</a:t>
            </a:r>
          </a:p>
          <a:p>
            <a:pPr marL="228600" indent="-228600">
              <a:buAutoNum type="arabicPeriod"/>
            </a:pPr>
            <a:r>
              <a:rPr lang="en-US"/>
              <a:t>Image dimensions were experimented with all GPT models, and we tabulated the results - That concluded that GPT models are currently incapable of retaining pixel-level information </a:t>
            </a:r>
          </a:p>
          <a:p>
            <a:pPr marL="228600" indent="-228600">
              <a:buAutoNum type="arabicPeriod"/>
            </a:pPr>
            <a:r>
              <a:rPr lang="en-US"/>
              <a:t>Ran another experiment on Normalization vs. top, left, bottom, right nomenclature </a:t>
            </a:r>
          </a:p>
          <a:p>
            <a:pPr marL="228600" indent="-228600">
              <a:buAutoNum type="arabicPeriod"/>
            </a:pPr>
            <a:r>
              <a:rPr lang="en-US"/>
              <a:t>Some results achieved </a:t>
            </a:r>
          </a:p>
          <a:p>
            <a:pPr marL="228600" indent="-228600">
              <a:buAutoNum type="arabicPeriod"/>
            </a:pPr>
            <a:r>
              <a:rPr lang="en-US"/>
              <a:t>Is OCR really dependable? Some labels where OCR didn’t capture some characters and examples of those. </a:t>
            </a:r>
          </a:p>
          <a:p>
            <a:pPr marL="228600" indent="-228600">
              <a:buAutoNum type="arabicPeriod"/>
            </a:pPr>
            <a:endParaRPr lang="en-US"/>
          </a:p>
          <a:p>
            <a:pPr marL="0" indent="0">
              <a:buNone/>
            </a:pPr>
            <a:r>
              <a:rPr lang="en-US"/>
              <a:t>About Approaches- why normalized bounding boxes and what were the prior issues ? – just one page - Extracted</a:t>
            </a:r>
          </a:p>
          <a:p>
            <a:pPr marL="0" indent="0">
              <a:buNone/>
            </a:pPr>
            <a:endParaRPr lang="en-US"/>
          </a:p>
          <a:p>
            <a:pPr marL="228600" indent="-228600">
              <a:buAutoNum type="arabicPeriod"/>
            </a:pPr>
            <a:endParaRPr lang="en-US"/>
          </a:p>
        </p:txBody>
      </p:sp>
      <p:sp>
        <p:nvSpPr>
          <p:cNvPr id="4" name="Slide Number Placeholder 3"/>
          <p:cNvSpPr>
            <a:spLocks noGrp="1"/>
          </p:cNvSpPr>
          <p:nvPr>
            <p:ph type="sldNum" sz="quarter" idx="5"/>
          </p:nvPr>
        </p:nvSpPr>
        <p:spPr/>
        <p:txBody>
          <a:bodyPr/>
          <a:lstStyle/>
          <a:p>
            <a:fld id="{85997B44-CE67-49E6-838F-23F2538A4D3B}" type="slidenum">
              <a:rPr lang="en-US" smtClean="0"/>
              <a:t>9</a:t>
            </a:fld>
            <a:endParaRPr lang="en-US"/>
          </a:p>
        </p:txBody>
      </p:sp>
    </p:spTree>
    <p:extLst>
      <p:ext uri="{BB962C8B-B14F-4D97-AF65-F5344CB8AC3E}">
        <p14:creationId xmlns:p14="http://schemas.microsoft.com/office/powerpoint/2010/main" val="1558490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Improved Bounding boxes with normalization </a:t>
            </a:r>
          </a:p>
          <a:p>
            <a:endParaRPr lang="en-US"/>
          </a:p>
        </p:txBody>
      </p:sp>
      <p:sp>
        <p:nvSpPr>
          <p:cNvPr id="4" name="Slide Number Placeholder 3"/>
          <p:cNvSpPr>
            <a:spLocks noGrp="1"/>
          </p:cNvSpPr>
          <p:nvPr>
            <p:ph type="sldNum" sz="quarter" idx="5"/>
          </p:nvPr>
        </p:nvSpPr>
        <p:spPr/>
        <p:txBody>
          <a:bodyPr/>
          <a:lstStyle/>
          <a:p>
            <a:fld id="{85997B44-CE67-49E6-838F-23F2538A4D3B}" type="slidenum">
              <a:rPr lang="en-US" smtClean="0"/>
              <a:t>10</a:t>
            </a:fld>
            <a:endParaRPr lang="en-US"/>
          </a:p>
        </p:txBody>
      </p:sp>
    </p:spTree>
    <p:extLst>
      <p:ext uri="{BB962C8B-B14F-4D97-AF65-F5344CB8AC3E}">
        <p14:creationId xmlns:p14="http://schemas.microsoft.com/office/powerpoint/2010/main" val="27769358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New Workflow is the code-block diagram </a:t>
            </a:r>
          </a:p>
          <a:p>
            <a:pPr marL="228600" indent="-228600">
              <a:buAutoNum type="arabicPeriod"/>
            </a:pPr>
            <a:r>
              <a:rPr lang="en-US"/>
              <a:t>Mention the key differences – add another slide for it – String matching logic and multi-line matching ---done</a:t>
            </a:r>
          </a:p>
          <a:p>
            <a:pPr marL="228600" indent="-228600">
              <a:buAutoNum type="arabicPeriod"/>
            </a:pPr>
            <a:r>
              <a:rPr lang="en-US"/>
              <a:t>Explain the code logics ---DONE</a:t>
            </a:r>
          </a:p>
          <a:p>
            <a:pPr marL="228600" indent="-228600">
              <a:buAutoNum type="arabicPeriod"/>
            </a:pPr>
            <a:r>
              <a:rPr lang="en-US"/>
              <a:t>Output images --DONE</a:t>
            </a:r>
          </a:p>
          <a:p>
            <a:pPr marL="228600" indent="-228600">
              <a:buAutoNum type="arabicPeriod"/>
            </a:pPr>
            <a:r>
              <a:rPr lang="en-US"/>
              <a:t>Final Results and statistics for all datasets ---done</a:t>
            </a:r>
          </a:p>
          <a:p>
            <a:pPr marL="228600" indent="-228600">
              <a:buAutoNum type="arabicPeriod"/>
            </a:pPr>
            <a:r>
              <a:rPr lang="en-US"/>
              <a:t>Comparison with the base-existing process and OCR/current results ---</a:t>
            </a:r>
          </a:p>
          <a:p>
            <a:pPr marL="228600" indent="-228600">
              <a:buAutoNum type="arabicPeriod"/>
            </a:pPr>
            <a:endParaRPr lang="en-US"/>
          </a:p>
        </p:txBody>
      </p:sp>
      <p:sp>
        <p:nvSpPr>
          <p:cNvPr id="4" name="Slide Number Placeholder 3"/>
          <p:cNvSpPr>
            <a:spLocks noGrp="1"/>
          </p:cNvSpPr>
          <p:nvPr>
            <p:ph type="sldNum" sz="quarter" idx="5"/>
          </p:nvPr>
        </p:nvSpPr>
        <p:spPr/>
        <p:txBody>
          <a:bodyPr/>
          <a:lstStyle/>
          <a:p>
            <a:fld id="{85997B44-CE67-49E6-838F-23F2538A4D3B}" type="slidenum">
              <a:rPr lang="en-US" smtClean="0"/>
              <a:t>11</a:t>
            </a:fld>
            <a:endParaRPr lang="en-US"/>
          </a:p>
        </p:txBody>
      </p:sp>
    </p:spTree>
    <p:extLst>
      <p:ext uri="{BB962C8B-B14F-4D97-AF65-F5344CB8AC3E}">
        <p14:creationId xmlns:p14="http://schemas.microsoft.com/office/powerpoint/2010/main" val="35599009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38A9C-0717-E462-5143-6877137D8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7ED3E9-A5F3-7410-27FF-76F6A2A7B6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E8E7ED-0EE3-2A05-7F86-5CEF6F930B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Workflow diagram</a:t>
            </a:r>
            <a:endParaRPr lang="en-US" sz="1200" b="0" i="0" u="none" strike="noStrike">
              <a:solidFill>
                <a:srgbClr val="000000"/>
              </a:solidFill>
              <a:effectLst/>
              <a:latin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CC24AB40-749B-DE75-D302-BCE1DB4C5F64}"/>
              </a:ext>
            </a:extLst>
          </p:cNvPr>
          <p:cNvSpPr>
            <a:spLocks noGrp="1"/>
          </p:cNvSpPr>
          <p:nvPr>
            <p:ph type="sldNum" sz="quarter" idx="5"/>
          </p:nvPr>
        </p:nvSpPr>
        <p:spPr/>
        <p:txBody>
          <a:bodyPr/>
          <a:lstStyle/>
          <a:p>
            <a:fld id="{85997B44-CE67-49E6-838F-23F2538A4D3B}" type="slidenum">
              <a:rPr lang="en-US" smtClean="0"/>
              <a:t>12</a:t>
            </a:fld>
            <a:endParaRPr lang="en-US"/>
          </a:p>
        </p:txBody>
      </p:sp>
    </p:spTree>
    <p:extLst>
      <p:ext uri="{BB962C8B-B14F-4D97-AF65-F5344CB8AC3E}">
        <p14:creationId xmlns:p14="http://schemas.microsoft.com/office/powerpoint/2010/main" val="1219721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997B44-CE67-49E6-838F-23F2538A4D3B}" type="slidenum">
              <a:rPr lang="en-US" smtClean="0"/>
              <a:t>18</a:t>
            </a:fld>
            <a:endParaRPr lang="en-US"/>
          </a:p>
        </p:txBody>
      </p:sp>
    </p:spTree>
    <p:extLst>
      <p:ext uri="{BB962C8B-B14F-4D97-AF65-F5344CB8AC3E}">
        <p14:creationId xmlns:p14="http://schemas.microsoft.com/office/powerpoint/2010/main" val="23812266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997B44-CE67-49E6-838F-23F2538A4D3B}" type="slidenum">
              <a:rPr lang="en-US" smtClean="0"/>
              <a:t>19</a:t>
            </a:fld>
            <a:endParaRPr lang="en-US"/>
          </a:p>
        </p:txBody>
      </p:sp>
    </p:spTree>
    <p:extLst>
      <p:ext uri="{BB962C8B-B14F-4D97-AF65-F5344CB8AC3E}">
        <p14:creationId xmlns:p14="http://schemas.microsoft.com/office/powerpoint/2010/main" val="2637541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997B44-CE67-49E6-838F-23F2538A4D3B}" type="slidenum">
              <a:rPr lang="en-US" smtClean="0"/>
              <a:t>20</a:t>
            </a:fld>
            <a:endParaRPr lang="en-US"/>
          </a:p>
        </p:txBody>
      </p:sp>
    </p:spTree>
    <p:extLst>
      <p:ext uri="{BB962C8B-B14F-4D97-AF65-F5344CB8AC3E}">
        <p14:creationId xmlns:p14="http://schemas.microsoft.com/office/powerpoint/2010/main" val="1515324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table containing costs for both datasets</a:t>
            </a:r>
          </a:p>
          <a:p>
            <a:r>
              <a:rPr lang="en-US"/>
              <a:t> </a:t>
            </a:r>
          </a:p>
          <a:p>
            <a:endParaRPr lang="en-US"/>
          </a:p>
          <a:p>
            <a:r>
              <a:rPr lang="en-US"/>
              <a:t>Calculate the number of tokens for input</a:t>
            </a:r>
          </a:p>
          <a:p>
            <a:endParaRPr lang="en-US"/>
          </a:p>
          <a:p>
            <a:r>
              <a:rPr lang="en-US"/>
              <a:t>Number of tokens for output. </a:t>
            </a:r>
          </a:p>
          <a:p>
            <a:endParaRPr lang="en-US"/>
          </a:p>
          <a:p>
            <a:r>
              <a:rPr lang="en-US"/>
              <a:t>Inference time, Speed per datasets, </a:t>
            </a:r>
          </a:p>
        </p:txBody>
      </p:sp>
      <p:sp>
        <p:nvSpPr>
          <p:cNvPr id="4" name="Slide Number Placeholder 3"/>
          <p:cNvSpPr>
            <a:spLocks noGrp="1"/>
          </p:cNvSpPr>
          <p:nvPr>
            <p:ph type="sldNum" sz="quarter" idx="5"/>
          </p:nvPr>
        </p:nvSpPr>
        <p:spPr/>
        <p:txBody>
          <a:bodyPr/>
          <a:lstStyle/>
          <a:p>
            <a:fld id="{85997B44-CE67-49E6-838F-23F2538A4D3B}" type="slidenum">
              <a:rPr lang="en-US" smtClean="0"/>
              <a:t>21</a:t>
            </a:fld>
            <a:endParaRPr lang="en-US"/>
          </a:p>
        </p:txBody>
      </p:sp>
    </p:spTree>
    <p:extLst>
      <p:ext uri="{BB962C8B-B14F-4D97-AF65-F5344CB8AC3E}">
        <p14:creationId xmlns:p14="http://schemas.microsoft.com/office/powerpoint/2010/main" val="821686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1.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microsoft.com/office/2018/10/relationships/comments" Target="../comments/modernComment_112_1F12D82.xm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microsoft.com/office/2018/10/relationships/comments" Target="../comments/modernComment_125_81CBAF5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 name="Group 2"/>
          <p:cNvGrpSpPr/>
          <p:nvPr/>
        </p:nvGrpSpPr>
        <p:grpSpPr>
          <a:xfrm>
            <a:off x="-4468512" y="-353712"/>
            <a:ext cx="10994424" cy="1099442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85725" cap="sq">
              <a:solidFill>
                <a:srgbClr val="F15204"/>
              </a:solidFill>
              <a:prstDash val="solid"/>
              <a:miter/>
            </a:ln>
          </p:spPr>
          <p:txBody>
            <a:bodyPr/>
            <a:lstStyle/>
            <a:p>
              <a:endParaRPr lang="en-US">
                <a:latin typeface="Consolas"/>
              </a:endParaRP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latin typeface="Consolas"/>
              </a:endParaRPr>
            </a:p>
          </p:txBody>
        </p:sp>
      </p:grpSp>
      <p:grpSp>
        <p:nvGrpSpPr>
          <p:cNvPr id="6" name="Group 6"/>
          <p:cNvGrpSpPr/>
          <p:nvPr/>
        </p:nvGrpSpPr>
        <p:grpSpPr>
          <a:xfrm>
            <a:off x="15767059" y="5488040"/>
            <a:ext cx="6059445" cy="605944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5204"/>
            </a:solidFill>
          </p:spPr>
          <p:txBody>
            <a:bodyPr/>
            <a:lstStyle/>
            <a:p>
              <a:endParaRPr lang="en-US"/>
            </a:p>
          </p:txBody>
        </p:sp>
        <p:sp>
          <p:nvSpPr>
            <p:cNvPr id="8" name="TextBox 8"/>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4577762" y="7180674"/>
            <a:ext cx="2000810" cy="4114800"/>
          </a:xfrm>
          <a:custGeom>
            <a:avLst/>
            <a:gdLst/>
            <a:ahLst/>
            <a:cxnLst/>
            <a:rect l="l" t="t" r="r" b="b"/>
            <a:pathLst>
              <a:path w="2000810" h="4114800">
                <a:moveTo>
                  <a:pt x="0" y="0"/>
                </a:moveTo>
                <a:lnTo>
                  <a:pt x="2000810" y="0"/>
                </a:lnTo>
                <a:lnTo>
                  <a:pt x="2000810" y="4114800"/>
                </a:lnTo>
                <a:lnTo>
                  <a:pt x="0" y="4114800"/>
                </a:lnTo>
                <a:lnTo>
                  <a:pt x="0" y="0"/>
                </a:lnTo>
                <a:close/>
              </a:path>
            </a:pathLst>
          </a:custGeom>
          <a:blipFill>
            <a:blip r:embed="rId2">
              <a:alphaModFix amt="53000"/>
              <a:extLst>
                <a:ext uri="{96DAC541-7B7A-43D3-8B79-37D633B846F1}">
                  <asvg:svgBlip xmlns:asvg="http://schemas.microsoft.com/office/drawing/2016/SVG/main" r:embed="rId3"/>
                </a:ext>
              </a:extLst>
            </a:blip>
            <a:stretch>
              <a:fillRect r="-204881"/>
            </a:stretch>
          </a:blipFill>
        </p:spPr>
        <p:txBody>
          <a:bodyPr/>
          <a:lstStyle/>
          <a:p>
            <a:endParaRPr lang="en-US"/>
          </a:p>
        </p:txBody>
      </p:sp>
      <p:grpSp>
        <p:nvGrpSpPr>
          <p:cNvPr id="13" name="Group 13"/>
          <p:cNvGrpSpPr/>
          <p:nvPr/>
        </p:nvGrpSpPr>
        <p:grpSpPr>
          <a:xfrm>
            <a:off x="3373132" y="4036296"/>
            <a:ext cx="12198237" cy="1720515"/>
            <a:chOff x="0" y="-28575"/>
            <a:chExt cx="3212705" cy="632088"/>
          </a:xfrm>
        </p:grpSpPr>
        <p:sp>
          <p:nvSpPr>
            <p:cNvPr id="14" name="Freeform 14"/>
            <p:cNvSpPr/>
            <p:nvPr/>
          </p:nvSpPr>
          <p:spPr>
            <a:xfrm>
              <a:off x="0" y="0"/>
              <a:ext cx="3212704" cy="603513"/>
            </a:xfrm>
            <a:custGeom>
              <a:avLst/>
              <a:gdLst/>
              <a:ahLst/>
              <a:cxnLst/>
              <a:rect l="l" t="t" r="r" b="b"/>
              <a:pathLst>
                <a:path w="3212704" h="603513">
                  <a:moveTo>
                    <a:pt x="0" y="0"/>
                  </a:moveTo>
                  <a:lnTo>
                    <a:pt x="3212704" y="0"/>
                  </a:lnTo>
                  <a:lnTo>
                    <a:pt x="3212704" y="603513"/>
                  </a:lnTo>
                  <a:lnTo>
                    <a:pt x="0" y="603513"/>
                  </a:lnTo>
                  <a:close/>
                </a:path>
              </a:pathLst>
            </a:custGeom>
            <a:solidFill>
              <a:srgbClr val="FFFEFE"/>
            </a:solidFill>
          </p:spPr>
          <p:txBody>
            <a:bodyPr/>
            <a:lstStyle/>
            <a:p>
              <a:endParaRPr lang="en-US">
                <a:latin typeface="Consolas"/>
              </a:endParaRPr>
            </a:p>
          </p:txBody>
        </p:sp>
        <p:sp>
          <p:nvSpPr>
            <p:cNvPr id="15" name="TextBox 15"/>
            <p:cNvSpPr txBox="1"/>
            <p:nvPr/>
          </p:nvSpPr>
          <p:spPr>
            <a:xfrm>
              <a:off x="0" y="-28575"/>
              <a:ext cx="3212705" cy="632088"/>
            </a:xfrm>
            <a:prstGeom prst="rect">
              <a:avLst/>
            </a:prstGeom>
          </p:spPr>
          <p:txBody>
            <a:bodyPr lIns="50800" tIns="50800" rIns="50800" bIns="50800" rtlCol="0" anchor="ctr"/>
            <a:lstStyle/>
            <a:p>
              <a:pPr algn="ctr">
                <a:lnSpc>
                  <a:spcPts val="2380"/>
                </a:lnSpc>
              </a:pPr>
              <a:endParaRPr>
                <a:latin typeface="Consolas"/>
              </a:endParaRPr>
            </a:p>
          </p:txBody>
        </p:sp>
      </p:grpSp>
      <p:sp>
        <p:nvSpPr>
          <p:cNvPr id="17" name="TextBox 17"/>
          <p:cNvSpPr txBox="1"/>
          <p:nvPr/>
        </p:nvSpPr>
        <p:spPr>
          <a:xfrm>
            <a:off x="3564241" y="3904526"/>
            <a:ext cx="11205854" cy="1866079"/>
          </a:xfrm>
          <a:prstGeom prst="rect">
            <a:avLst/>
          </a:prstGeom>
        </p:spPr>
        <p:txBody>
          <a:bodyPr wrap="square" lIns="0" tIns="0" rIns="0" bIns="0" rtlCol="0" anchor="t">
            <a:spAutoFit/>
          </a:bodyPr>
          <a:lstStyle/>
          <a:p>
            <a:pPr algn="ctr">
              <a:lnSpc>
                <a:spcPts val="15270"/>
              </a:lnSpc>
              <a:spcBef>
                <a:spcPct val="0"/>
              </a:spcBef>
            </a:pPr>
            <a:r>
              <a:rPr lang="en-US" sz="10900" b="1" spc="1527">
                <a:solidFill>
                  <a:srgbClr val="191919"/>
                </a:solidFill>
                <a:latin typeface="Avenir Book"/>
                <a:ea typeface="Gotham Bold"/>
                <a:cs typeface="Gotham Bold"/>
              </a:rPr>
              <a:t>Docu-Vision</a:t>
            </a:r>
          </a:p>
        </p:txBody>
      </p:sp>
      <p:sp>
        <p:nvSpPr>
          <p:cNvPr id="18" name="TextBox 18"/>
          <p:cNvSpPr txBox="1"/>
          <p:nvPr/>
        </p:nvSpPr>
        <p:spPr>
          <a:xfrm>
            <a:off x="6068500" y="8661165"/>
            <a:ext cx="6151000" cy="341119"/>
          </a:xfrm>
          <a:prstGeom prst="rect">
            <a:avLst/>
          </a:prstGeom>
        </p:spPr>
        <p:txBody>
          <a:bodyPr lIns="0" tIns="0" rIns="0" bIns="0" rtlCol="0" anchor="t">
            <a:spAutoFit/>
          </a:bodyPr>
          <a:lstStyle/>
          <a:p>
            <a:pPr algn="ctr">
              <a:lnSpc>
                <a:spcPts val="2800"/>
              </a:lnSpc>
              <a:spcBef>
                <a:spcPct val="0"/>
              </a:spcBef>
            </a:pPr>
            <a:r>
              <a:rPr lang="en-US" sz="2000" spc="1224">
                <a:solidFill>
                  <a:srgbClr val="191919"/>
                </a:solidFill>
                <a:latin typeface="Poppins"/>
                <a:ea typeface="Poppins"/>
                <a:cs typeface="Poppins"/>
                <a:sym typeface="Poppins"/>
              </a:rPr>
              <a:t>2024</a:t>
            </a:r>
          </a:p>
        </p:txBody>
      </p:sp>
      <p:pic>
        <p:nvPicPr>
          <p:cNvPr id="22" name="Picture 21">
            <a:extLst>
              <a:ext uri="{FF2B5EF4-FFF2-40B4-BE49-F238E27FC236}">
                <a16:creationId xmlns:a16="http://schemas.microsoft.com/office/drawing/2014/main" id="{14F270B2-4F31-6458-C4F3-12C9B803C5BE}"/>
              </a:ext>
            </a:extLst>
          </p:cNvPr>
          <p:cNvPicPr>
            <a:picLocks noChangeAspect="1"/>
          </p:cNvPicPr>
          <p:nvPr/>
        </p:nvPicPr>
        <p:blipFill>
          <a:blip r:embed="rId4"/>
          <a:stretch>
            <a:fillRect/>
          </a:stretch>
        </p:blipFill>
        <p:spPr>
          <a:xfrm>
            <a:off x="6706535" y="6665020"/>
            <a:ext cx="4357805" cy="1027092"/>
          </a:xfrm>
          <a:prstGeom prst="rect">
            <a:avLst/>
          </a:prstGeom>
        </p:spPr>
      </p:pic>
      <p:sp>
        <p:nvSpPr>
          <p:cNvPr id="23" name="TextBox 22">
            <a:extLst>
              <a:ext uri="{FF2B5EF4-FFF2-40B4-BE49-F238E27FC236}">
                <a16:creationId xmlns:a16="http://schemas.microsoft.com/office/drawing/2014/main" id="{0F01BA75-C87F-DB4F-0D2B-8F0CDE2881E2}"/>
              </a:ext>
            </a:extLst>
          </p:cNvPr>
          <p:cNvSpPr txBox="1"/>
          <p:nvPr/>
        </p:nvSpPr>
        <p:spPr>
          <a:xfrm>
            <a:off x="8696669" y="5888581"/>
            <a:ext cx="1551158" cy="584775"/>
          </a:xfrm>
          <a:prstGeom prst="rect">
            <a:avLst/>
          </a:prstGeom>
          <a:noFill/>
        </p:spPr>
        <p:txBody>
          <a:bodyPr wrap="square" lIns="91440" tIns="45720" rIns="91440" bIns="45720" rtlCol="0" anchor="t">
            <a:spAutoFit/>
          </a:bodyPr>
          <a:lstStyle/>
          <a:p>
            <a:r>
              <a:rPr lang="en-US" sz="3200">
                <a:latin typeface="Avenir Book"/>
              </a:rPr>
              <a:t>For</a:t>
            </a:r>
            <a:r>
              <a:rPr lang="en-US">
                <a:latin typeface="Avenir Book"/>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2" name="TextBox 32"/>
          <p:cNvSpPr txBox="1"/>
          <p:nvPr/>
        </p:nvSpPr>
        <p:spPr>
          <a:xfrm>
            <a:off x="1217367" y="6161309"/>
            <a:ext cx="14895177" cy="2110514"/>
          </a:xfrm>
          <a:prstGeom prst="rect">
            <a:avLst/>
          </a:prstGeom>
        </p:spPr>
        <p:txBody>
          <a:bodyPr wrap="square" lIns="0" tIns="0" rIns="0" bIns="0" rtlCol="0" anchor="t">
            <a:spAutoFit/>
          </a:bodyPr>
          <a:lstStyle/>
          <a:p>
            <a:pPr>
              <a:lnSpc>
                <a:spcPct val="200000"/>
              </a:lnSpc>
            </a:pPr>
            <a:r>
              <a:rPr lang="en-US" sz="2400">
                <a:latin typeface="Avenir Book"/>
                <a:ea typeface="+mn-lt"/>
                <a:cs typeface="+mn-lt"/>
                <a:sym typeface="Gotham Light"/>
              </a:rPr>
              <a:t>A team of Master’s students in Business Analytics dedicated to solving real-world challenges through innovative technology. </a:t>
            </a:r>
            <a:endParaRPr lang="en-US" sz="2400">
              <a:latin typeface="Avenir Book"/>
              <a:ea typeface="+mn-lt"/>
              <a:cs typeface="+mn-lt"/>
            </a:endParaRPr>
          </a:p>
          <a:p>
            <a:pPr algn="just">
              <a:lnSpc>
                <a:spcPct val="200000"/>
              </a:lnSpc>
            </a:pPr>
            <a:endParaRPr lang="en-US" sz="2400">
              <a:latin typeface="Consolas"/>
              <a:ea typeface="Calibri"/>
              <a:cs typeface="Calibri"/>
            </a:endParaRPr>
          </a:p>
          <a:p>
            <a:pPr algn="just">
              <a:lnSpc>
                <a:spcPct val="200000"/>
              </a:lnSpc>
            </a:pPr>
            <a:endParaRPr lang="en-US" sz="2400">
              <a:latin typeface="Consolas"/>
              <a:ea typeface="+mn-lt"/>
              <a:cs typeface="+mn-lt"/>
            </a:endParaRPr>
          </a:p>
        </p:txBody>
      </p:sp>
      <p:sp>
        <p:nvSpPr>
          <p:cNvPr id="33" name="TextBox 33"/>
          <p:cNvSpPr txBox="1"/>
          <p:nvPr/>
        </p:nvSpPr>
        <p:spPr>
          <a:xfrm>
            <a:off x="1213521" y="1139357"/>
            <a:ext cx="6727836" cy="1783758"/>
          </a:xfrm>
          <a:prstGeom prst="rect">
            <a:avLst/>
          </a:prstGeom>
        </p:spPr>
        <p:txBody>
          <a:bodyPr lIns="0" tIns="0" rIns="0" bIns="0" rtlCol="0" anchor="t">
            <a:spAutoFit/>
          </a:bodyPr>
          <a:lstStyle/>
          <a:p>
            <a:pPr algn="l">
              <a:lnSpc>
                <a:spcPts val="15266"/>
              </a:lnSpc>
            </a:pPr>
            <a:r>
              <a:rPr lang="en-US" sz="9600" b="1" spc="786">
                <a:solidFill>
                  <a:srgbClr val="191919"/>
                </a:solidFill>
                <a:latin typeface="Avenir Book"/>
                <a:ea typeface="Gotham Bold"/>
                <a:cs typeface="Gotham Bold"/>
                <a:sym typeface="Gotham Bold"/>
              </a:rPr>
              <a:t>Hello,</a:t>
            </a:r>
            <a:endParaRPr lang="en-US" sz="9600" b="1" spc="786">
              <a:solidFill>
                <a:srgbClr val="191919"/>
              </a:solidFill>
              <a:latin typeface="Avenir Book"/>
              <a:ea typeface="Gotham Bold"/>
              <a:cs typeface="Gotham Bold"/>
            </a:endParaRPr>
          </a:p>
        </p:txBody>
      </p:sp>
      <p:sp>
        <p:nvSpPr>
          <p:cNvPr id="34" name="TextBox 34"/>
          <p:cNvSpPr txBox="1"/>
          <p:nvPr/>
        </p:nvSpPr>
        <p:spPr>
          <a:xfrm>
            <a:off x="1240423" y="5229086"/>
            <a:ext cx="18274297" cy="590033"/>
          </a:xfrm>
          <a:prstGeom prst="rect">
            <a:avLst/>
          </a:prstGeom>
        </p:spPr>
        <p:txBody>
          <a:bodyPr wrap="square" lIns="0" tIns="0" rIns="0" bIns="0" rtlCol="0" anchor="t">
            <a:spAutoFit/>
          </a:bodyPr>
          <a:lstStyle/>
          <a:p>
            <a:pPr>
              <a:lnSpc>
                <a:spcPts val="4858"/>
              </a:lnSpc>
            </a:pPr>
            <a:r>
              <a:rPr lang="en-US" sz="3600" b="1">
                <a:latin typeface="Avenir Book"/>
                <a:ea typeface="Gotham Bold"/>
                <a:cs typeface="Gotham Bold"/>
              </a:rPr>
              <a:t>We are </a:t>
            </a:r>
            <a:r>
              <a:rPr lang="en-US" sz="3600" b="1" err="1">
                <a:solidFill>
                  <a:srgbClr val="F6331E"/>
                </a:solidFill>
                <a:latin typeface="Avenir Book"/>
                <a:ea typeface="Gotham Bold"/>
                <a:cs typeface="Gotham Bold"/>
              </a:rPr>
              <a:t>MS_Cube</a:t>
            </a:r>
            <a:r>
              <a:rPr lang="en-US" sz="3600" b="1">
                <a:solidFill>
                  <a:srgbClr val="F6331E"/>
                </a:solidFill>
                <a:latin typeface="Avenir Book"/>
                <a:ea typeface="Gotham Bold"/>
                <a:cs typeface="Gotham Bold"/>
              </a:rPr>
              <a:t> : M</a:t>
            </a:r>
            <a:r>
              <a:rPr lang="en-US" sz="3600" b="1">
                <a:latin typeface="Avenir Book"/>
                <a:ea typeface="Gotham Bold"/>
                <a:cs typeface="Gotham Bold"/>
              </a:rPr>
              <a:t>eghana,</a:t>
            </a:r>
            <a:r>
              <a:rPr lang="en-US" sz="3600" b="1">
                <a:solidFill>
                  <a:srgbClr val="F6331E"/>
                </a:solidFill>
                <a:latin typeface="Avenir Book"/>
                <a:ea typeface="Gotham Bold"/>
                <a:cs typeface="Gotham Bold"/>
              </a:rPr>
              <a:t> S</a:t>
            </a:r>
            <a:r>
              <a:rPr lang="en-US" sz="3600" b="1">
                <a:latin typeface="Avenir Book"/>
                <a:ea typeface="Gotham Bold"/>
                <a:cs typeface="Gotham Bold"/>
              </a:rPr>
              <a:t>anjana,</a:t>
            </a:r>
            <a:r>
              <a:rPr lang="en-US" sz="3600" b="1">
                <a:solidFill>
                  <a:srgbClr val="F6331E"/>
                </a:solidFill>
                <a:latin typeface="Avenir Book"/>
                <a:ea typeface="Calibri"/>
                <a:cs typeface="Gotham Bold"/>
              </a:rPr>
              <a:t> </a:t>
            </a:r>
            <a:r>
              <a:rPr lang="en-US" sz="3600" b="1">
                <a:solidFill>
                  <a:srgbClr val="F6331E"/>
                </a:solidFill>
                <a:latin typeface="Avenir Book"/>
                <a:ea typeface="Calibri"/>
                <a:cs typeface="Calibri"/>
              </a:rPr>
              <a:t>S</a:t>
            </a:r>
            <a:r>
              <a:rPr lang="en-US" sz="3600" b="1">
                <a:latin typeface="Avenir Book"/>
                <a:ea typeface="Calibri"/>
                <a:cs typeface="Calibri"/>
              </a:rPr>
              <a:t>hih-Hsuan</a:t>
            </a:r>
            <a:r>
              <a:rPr lang="en-US" sz="3600" b="1">
                <a:latin typeface="Avenir Book"/>
                <a:ea typeface="+mn-lt"/>
                <a:cs typeface="+mn-lt"/>
              </a:rPr>
              <a:t>,</a:t>
            </a:r>
            <a:r>
              <a:rPr lang="en-US" sz="3600" b="1">
                <a:solidFill>
                  <a:srgbClr val="F6331E"/>
                </a:solidFill>
                <a:latin typeface="Avenir Book"/>
                <a:ea typeface="+mn-lt"/>
                <a:cs typeface="+mn-lt"/>
              </a:rPr>
              <a:t> S</a:t>
            </a:r>
            <a:r>
              <a:rPr lang="en-US" sz="3600" b="1">
                <a:latin typeface="Avenir Book"/>
                <a:ea typeface="+mn-lt"/>
                <a:cs typeface="+mn-lt"/>
              </a:rPr>
              <a:t>anthosh</a:t>
            </a:r>
            <a:endParaRPr lang="en-US" sz="3600" b="1">
              <a:latin typeface="Avenir Book"/>
              <a:ea typeface="Gotham Bold"/>
              <a:cs typeface="Gotham Bold"/>
              <a:sym typeface="Gotham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2A129696-F24B-0758-59B7-B7AB377160D1}"/>
            </a:ext>
          </a:extLst>
        </p:cNvPr>
        <p:cNvGrpSpPr/>
        <p:nvPr/>
      </p:nvGrpSpPr>
      <p:grpSpPr>
        <a:xfrm>
          <a:off x="0" y="0"/>
          <a:ext cx="0" cy="0"/>
          <a:chOff x="0" y="0"/>
          <a:chExt cx="0" cy="0"/>
        </a:xfrm>
      </p:grpSpPr>
      <p:sp>
        <p:nvSpPr>
          <p:cNvPr id="8" name="Freeform 8">
            <a:extLst>
              <a:ext uri="{FF2B5EF4-FFF2-40B4-BE49-F238E27FC236}">
                <a16:creationId xmlns:a16="http://schemas.microsoft.com/office/drawing/2014/main" id="{D46143E4-DDF8-E2E3-F330-3AB12F292241}"/>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3" name="TextBox 33">
            <a:extLst>
              <a:ext uri="{FF2B5EF4-FFF2-40B4-BE49-F238E27FC236}">
                <a16:creationId xmlns:a16="http://schemas.microsoft.com/office/drawing/2014/main" id="{FE42F8E8-7C11-6726-6064-832102F1414F}"/>
              </a:ext>
            </a:extLst>
          </p:cNvPr>
          <p:cNvSpPr txBox="1"/>
          <p:nvPr/>
        </p:nvSpPr>
        <p:spPr>
          <a:xfrm>
            <a:off x="1159925" y="1924"/>
            <a:ext cx="11883077" cy="1788246"/>
          </a:xfrm>
          <a:prstGeom prst="rect">
            <a:avLst/>
          </a:prstGeom>
        </p:spPr>
        <p:txBody>
          <a:bodyPr wrap="square" lIns="0" tIns="0" rIns="0" bIns="0" rtlCol="0" anchor="t">
            <a:spAutoFit/>
          </a:bodyPr>
          <a:lstStyle/>
          <a:p>
            <a:pPr algn="l">
              <a:lnSpc>
                <a:spcPts val="15266"/>
              </a:lnSpc>
            </a:pPr>
            <a:r>
              <a:rPr lang="en-US" sz="9600" b="1" spc="786">
                <a:solidFill>
                  <a:srgbClr val="191919"/>
                </a:solidFill>
                <a:latin typeface="Avenir Book"/>
                <a:ea typeface="Gotham Bold"/>
                <a:cs typeface="Gotham Bold"/>
                <a:sym typeface="Gotham Bold"/>
              </a:rPr>
              <a:t>Overview</a:t>
            </a:r>
            <a:endParaRPr lang="en-US" sz="9600" b="1" spc="786">
              <a:solidFill>
                <a:srgbClr val="191919"/>
              </a:solidFill>
              <a:latin typeface="Avenir Book"/>
              <a:ea typeface="Gotham Bold"/>
              <a:cs typeface="Gotham Bold"/>
            </a:endParaRPr>
          </a:p>
        </p:txBody>
      </p:sp>
      <p:sp>
        <p:nvSpPr>
          <p:cNvPr id="34" name="TextBox 34">
            <a:extLst>
              <a:ext uri="{FF2B5EF4-FFF2-40B4-BE49-F238E27FC236}">
                <a16:creationId xmlns:a16="http://schemas.microsoft.com/office/drawing/2014/main" id="{1A8854CC-58DF-25C0-E6A9-A525300709E8}"/>
              </a:ext>
            </a:extLst>
          </p:cNvPr>
          <p:cNvSpPr txBox="1"/>
          <p:nvPr/>
        </p:nvSpPr>
        <p:spPr>
          <a:xfrm>
            <a:off x="1155402" y="1791730"/>
            <a:ext cx="11016353" cy="7544501"/>
          </a:xfrm>
          <a:prstGeom prst="rect">
            <a:avLst/>
          </a:prstGeom>
        </p:spPr>
        <p:txBody>
          <a:bodyPr wrap="square" lIns="0" tIns="0" rIns="0" bIns="0" rtlCol="0" anchor="t">
            <a:spAutoFit/>
          </a:bodyPr>
          <a:lstStyle/>
          <a:p>
            <a:pPr>
              <a:lnSpc>
                <a:spcPct val="200000"/>
              </a:lnSpc>
            </a:pPr>
            <a:r>
              <a:rPr lang="en-US" sz="3600" b="1">
                <a:solidFill>
                  <a:srgbClr val="191919"/>
                </a:solidFill>
                <a:latin typeface="Avenir Book"/>
                <a:ea typeface="Gotham Bold"/>
                <a:cs typeface="Gotham Bold"/>
                <a:sym typeface="Gotham Bold"/>
              </a:rPr>
              <a:t>1. Problem Statement</a:t>
            </a:r>
            <a:endParaRPr lang="en-US" sz="3600" b="1">
              <a:solidFill>
                <a:srgbClr val="191919"/>
              </a:solidFill>
              <a:latin typeface="Avenir Book"/>
              <a:ea typeface="Gotham Bold"/>
              <a:cs typeface="Gotham Bold"/>
            </a:endParaRPr>
          </a:p>
          <a:p>
            <a:pPr>
              <a:lnSpc>
                <a:spcPct val="200000"/>
              </a:lnSpc>
            </a:pPr>
            <a:r>
              <a:rPr lang="en-US" sz="3600" b="1" spc="19">
                <a:solidFill>
                  <a:srgbClr val="191919"/>
                </a:solidFill>
                <a:latin typeface="Avenir Book"/>
                <a:ea typeface="Canva Sans 1"/>
                <a:cs typeface="Gotham Bold"/>
                <a:sym typeface="Gotham Bold"/>
              </a:rPr>
              <a:t>2.</a:t>
            </a:r>
            <a:r>
              <a:rPr lang="en-US" sz="3600" b="1" spc="19">
                <a:solidFill>
                  <a:srgbClr val="231F20"/>
                </a:solidFill>
                <a:latin typeface="Avenir Book"/>
                <a:ea typeface="Gotham Bold"/>
                <a:cs typeface="Gotham Bold"/>
              </a:rPr>
              <a:t> Act 1: The Rise  </a:t>
            </a:r>
          </a:p>
          <a:p>
            <a:pPr>
              <a:lnSpc>
                <a:spcPct val="200000"/>
              </a:lnSpc>
            </a:pPr>
            <a:r>
              <a:rPr lang="en-US" sz="3600" b="1" spc="19">
                <a:solidFill>
                  <a:srgbClr val="231F20"/>
                </a:solidFill>
                <a:latin typeface="Avenir Book"/>
                <a:ea typeface="Gotham Bold"/>
                <a:cs typeface="Gotham Bold"/>
              </a:rPr>
              <a:t>3. Act 2: The Fall</a:t>
            </a:r>
          </a:p>
          <a:p>
            <a:pPr>
              <a:lnSpc>
                <a:spcPct val="200000"/>
              </a:lnSpc>
            </a:pPr>
            <a:r>
              <a:rPr lang="en-US" sz="3600" b="1" spc="19">
                <a:solidFill>
                  <a:srgbClr val="231F20"/>
                </a:solidFill>
                <a:latin typeface="Avenir Book"/>
                <a:ea typeface="Gotham Bold"/>
                <a:cs typeface="Gotham Bold"/>
              </a:rPr>
              <a:t>4. Act 3: The Resurrection</a:t>
            </a:r>
          </a:p>
          <a:p>
            <a:pPr>
              <a:lnSpc>
                <a:spcPct val="200000"/>
              </a:lnSpc>
            </a:pPr>
            <a:r>
              <a:rPr lang="en-US" sz="3600" b="1" spc="19">
                <a:solidFill>
                  <a:srgbClr val="231F20"/>
                </a:solidFill>
                <a:latin typeface="Avenir Book"/>
                <a:ea typeface="Gotham Bold"/>
                <a:cs typeface="Gotham Bold"/>
              </a:rPr>
              <a:t>5. Results</a:t>
            </a:r>
          </a:p>
          <a:p>
            <a:pPr>
              <a:lnSpc>
                <a:spcPct val="150000"/>
              </a:lnSpc>
            </a:pPr>
            <a:endParaRPr lang="en-US" sz="3600" b="1">
              <a:solidFill>
                <a:srgbClr val="191919"/>
              </a:solidFill>
              <a:latin typeface="Consolas"/>
              <a:ea typeface="Gotham Bold"/>
              <a:cs typeface="Gotham Bold"/>
            </a:endParaRPr>
          </a:p>
          <a:p>
            <a:pPr>
              <a:lnSpc>
                <a:spcPts val="4858"/>
              </a:lnSpc>
            </a:pPr>
            <a:endParaRPr lang="en-US" sz="3450" b="1">
              <a:solidFill>
                <a:srgbClr val="191919"/>
              </a:solidFill>
              <a:latin typeface="Gotham Bold"/>
              <a:ea typeface="Gotham Bold"/>
              <a:cs typeface="Gotham Bold"/>
            </a:endParaRPr>
          </a:p>
          <a:p>
            <a:pPr>
              <a:lnSpc>
                <a:spcPts val="4858"/>
              </a:lnSpc>
            </a:pPr>
            <a:endParaRPr lang="en-US" sz="2400" b="1">
              <a:solidFill>
                <a:srgbClr val="191919"/>
              </a:solidFill>
              <a:latin typeface="Gotham Bold"/>
              <a:ea typeface="Gotham Bold"/>
              <a:cs typeface="Gotham Bold"/>
            </a:endParaRPr>
          </a:p>
        </p:txBody>
      </p:sp>
      <p:grpSp>
        <p:nvGrpSpPr>
          <p:cNvPr id="42" name="Group 42">
            <a:extLst>
              <a:ext uri="{FF2B5EF4-FFF2-40B4-BE49-F238E27FC236}">
                <a16:creationId xmlns:a16="http://schemas.microsoft.com/office/drawing/2014/main" id="{8C70C3C2-9D3C-E8C5-A185-CA9C9698173D}"/>
              </a:ext>
            </a:extLst>
          </p:cNvPr>
          <p:cNvGrpSpPr/>
          <p:nvPr/>
        </p:nvGrpSpPr>
        <p:grpSpPr>
          <a:xfrm rot="3945801">
            <a:off x="14865048" y="7090622"/>
            <a:ext cx="4776403" cy="4776403"/>
            <a:chOff x="0" y="0"/>
            <a:chExt cx="812800" cy="812800"/>
          </a:xfrm>
        </p:grpSpPr>
        <p:sp>
          <p:nvSpPr>
            <p:cNvPr id="43" name="Freeform 43">
              <a:extLst>
                <a:ext uri="{FF2B5EF4-FFF2-40B4-BE49-F238E27FC236}">
                  <a16:creationId xmlns:a16="http://schemas.microsoft.com/office/drawing/2014/main" id="{52420437-FD8F-1BCE-F990-F0803A0DA1A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5204"/>
            </a:solidFill>
          </p:spPr>
          <p:txBody>
            <a:bodyPr/>
            <a:lstStyle/>
            <a:p>
              <a:endParaRPr lang="en-US"/>
            </a:p>
          </p:txBody>
        </p:sp>
        <p:sp>
          <p:nvSpPr>
            <p:cNvPr id="44" name="TextBox 44">
              <a:extLst>
                <a:ext uri="{FF2B5EF4-FFF2-40B4-BE49-F238E27FC236}">
                  <a16:creationId xmlns:a16="http://schemas.microsoft.com/office/drawing/2014/main" id="{DF917CAB-89AE-5059-D928-42BB3F67B9AF}"/>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5" name="Freeform 45">
            <a:extLst>
              <a:ext uri="{FF2B5EF4-FFF2-40B4-BE49-F238E27FC236}">
                <a16:creationId xmlns:a16="http://schemas.microsoft.com/office/drawing/2014/main" id="{1DAB80DC-0FBC-6D22-BCAA-690CA407D96A}"/>
              </a:ext>
            </a:extLst>
          </p:cNvPr>
          <p:cNvSpPr/>
          <p:nvPr/>
        </p:nvSpPr>
        <p:spPr>
          <a:xfrm rot="3945801">
            <a:off x="14658814" y="5717565"/>
            <a:ext cx="1577153" cy="3243522"/>
          </a:xfrm>
          <a:custGeom>
            <a:avLst/>
            <a:gdLst/>
            <a:ahLst/>
            <a:cxnLst/>
            <a:rect l="l" t="t" r="r" b="b"/>
            <a:pathLst>
              <a:path w="1577153" h="3243522">
                <a:moveTo>
                  <a:pt x="0" y="0"/>
                </a:moveTo>
                <a:lnTo>
                  <a:pt x="1577154" y="0"/>
                </a:lnTo>
                <a:lnTo>
                  <a:pt x="1577154" y="3243523"/>
                </a:lnTo>
                <a:lnTo>
                  <a:pt x="0" y="3243523"/>
                </a:lnTo>
                <a:lnTo>
                  <a:pt x="0" y="0"/>
                </a:lnTo>
                <a:close/>
              </a:path>
            </a:pathLst>
          </a:custGeom>
          <a:blipFill>
            <a:blip r:embed="rId5">
              <a:extLst>
                <a:ext uri="{96DAC541-7B7A-43D3-8B79-37D633B846F1}">
                  <asvg:svgBlip xmlns:asvg="http://schemas.microsoft.com/office/drawing/2016/SVG/main" r:embed="rId6"/>
                </a:ext>
              </a:extLst>
            </a:blip>
            <a:stretch>
              <a:fillRect r="-204881"/>
            </a:stretch>
          </a:blipFill>
        </p:spPr>
        <p:txBody>
          <a:bodyPr/>
          <a:lstStyle/>
          <a:p>
            <a:endParaRPr lang="en-US"/>
          </a:p>
        </p:txBody>
      </p:sp>
    </p:spTree>
    <p:extLst>
      <p:ext uri="{BB962C8B-B14F-4D97-AF65-F5344CB8AC3E}">
        <p14:creationId xmlns:p14="http://schemas.microsoft.com/office/powerpoint/2010/main" val="1380519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3" name="TextBox 43"/>
          <p:cNvSpPr txBox="1"/>
          <p:nvPr/>
        </p:nvSpPr>
        <p:spPr>
          <a:xfrm>
            <a:off x="635120" y="1767089"/>
            <a:ext cx="16357480" cy="3614003"/>
          </a:xfrm>
          <a:prstGeom prst="rect">
            <a:avLst/>
          </a:prstGeom>
        </p:spPr>
        <p:txBody>
          <a:bodyPr wrap="square" lIns="0" tIns="0" rIns="0" bIns="0" rtlCol="0" anchor="t">
            <a:spAutoFit/>
          </a:bodyPr>
          <a:lstStyle/>
          <a:p>
            <a:pPr marL="457200" indent="-457200" algn="just">
              <a:lnSpc>
                <a:spcPct val="150000"/>
              </a:lnSpc>
              <a:buFont typeface="Wingdings" panose="05000000000000000000" pitchFamily="2" charset="2"/>
              <a:buChar char="§"/>
            </a:pPr>
            <a:r>
              <a:rPr lang="en-US" sz="3200" i="0">
                <a:effectLst/>
                <a:latin typeface="Avenir Book"/>
                <a:cs typeface="Gotham Bold"/>
              </a:rPr>
              <a:t>Unstructured document processing relies heavily on OCR accuracy, limited by its error-handling capabilities </a:t>
            </a:r>
            <a:r>
              <a:rPr lang="en-US" sz="3200">
                <a:latin typeface="Avenir Book"/>
                <a:cs typeface="Gotham Bold"/>
              </a:rPr>
              <a:t>and longer processing times,</a:t>
            </a:r>
            <a:r>
              <a:rPr lang="en-US" sz="3200" i="0">
                <a:effectLst/>
                <a:latin typeface="Avenir Book"/>
                <a:cs typeface="Gotham Bold"/>
              </a:rPr>
              <a:t> hampering efficiency in financial operations. </a:t>
            </a:r>
            <a:endParaRPr lang="en-US" sz="3200">
              <a:latin typeface="Avenir Book"/>
              <a:cs typeface="Gotham Bold" panose="020B0604020202020204" charset="0"/>
            </a:endParaRPr>
          </a:p>
          <a:p>
            <a:pPr marL="457200" indent="-457200" algn="just">
              <a:lnSpc>
                <a:spcPct val="150000"/>
              </a:lnSpc>
              <a:buFont typeface="Wingdings" panose="05000000000000000000" pitchFamily="2" charset="2"/>
              <a:buChar char="§"/>
            </a:pPr>
            <a:r>
              <a:rPr lang="en-US" sz="3200" i="0">
                <a:effectLst/>
                <a:latin typeface="Avenir Book"/>
                <a:cs typeface="Gotham Bold"/>
              </a:rPr>
              <a:t>This project aims to leverage multimodal Large Language Models to create a robust information extraction pipeline, bypassing OCR limitations and enhancing accuracy across various document formats.</a:t>
            </a:r>
            <a:endParaRPr lang="en-US" sz="3200" spc="59">
              <a:solidFill>
                <a:srgbClr val="191919"/>
              </a:solidFill>
              <a:latin typeface="Avenir Book"/>
              <a:ea typeface="Gotham Bold"/>
              <a:cs typeface="Gotham Bold"/>
            </a:endParaRPr>
          </a:p>
        </p:txBody>
      </p:sp>
      <p:sp>
        <p:nvSpPr>
          <p:cNvPr id="3" name="TextBox 2">
            <a:extLst>
              <a:ext uri="{FF2B5EF4-FFF2-40B4-BE49-F238E27FC236}">
                <a16:creationId xmlns:a16="http://schemas.microsoft.com/office/drawing/2014/main" id="{9089192A-3BA4-45ED-BB59-C19A4B8E8678}"/>
              </a:ext>
            </a:extLst>
          </p:cNvPr>
          <p:cNvSpPr txBox="1"/>
          <p:nvPr/>
        </p:nvSpPr>
        <p:spPr>
          <a:xfrm>
            <a:off x="478971" y="908956"/>
            <a:ext cx="441960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a:solidFill>
                  <a:srgbClr val="FC4710"/>
                </a:solidFill>
                <a:latin typeface="Avenir Book"/>
              </a:rPr>
              <a:t>Problem Statement:</a:t>
            </a:r>
          </a:p>
        </p:txBody>
      </p:sp>
      <p:sp>
        <p:nvSpPr>
          <p:cNvPr id="2" name="TextBox 1">
            <a:extLst>
              <a:ext uri="{FF2B5EF4-FFF2-40B4-BE49-F238E27FC236}">
                <a16:creationId xmlns:a16="http://schemas.microsoft.com/office/drawing/2014/main" id="{4FB75497-A89F-D260-6AA8-DFB5249DFF3E}"/>
              </a:ext>
            </a:extLst>
          </p:cNvPr>
          <p:cNvSpPr txBox="1"/>
          <p:nvPr/>
        </p:nvSpPr>
        <p:spPr>
          <a:xfrm>
            <a:off x="478971" y="5711038"/>
            <a:ext cx="441960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a:solidFill>
                  <a:srgbClr val="FC4710"/>
                </a:solidFill>
                <a:latin typeface="Avenir Book"/>
              </a:rPr>
              <a:t>Models:   </a:t>
            </a:r>
            <a:r>
              <a:rPr lang="en-US" sz="3200">
                <a:latin typeface="Avenir Book"/>
              </a:rPr>
              <a:t>GPT-4o</a:t>
            </a:r>
          </a:p>
        </p:txBody>
      </p:sp>
      <p:sp>
        <p:nvSpPr>
          <p:cNvPr id="4" name="TextBox 3">
            <a:extLst>
              <a:ext uri="{FF2B5EF4-FFF2-40B4-BE49-F238E27FC236}">
                <a16:creationId xmlns:a16="http://schemas.microsoft.com/office/drawing/2014/main" id="{68700F2D-CCFC-C2D1-BB8A-05786B6FCF93}"/>
              </a:ext>
            </a:extLst>
          </p:cNvPr>
          <p:cNvSpPr txBox="1"/>
          <p:nvPr/>
        </p:nvSpPr>
        <p:spPr>
          <a:xfrm>
            <a:off x="478971" y="6326591"/>
            <a:ext cx="16845160" cy="36317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200000"/>
              </a:lnSpc>
            </a:pPr>
            <a:r>
              <a:rPr lang="en-US" sz="3400">
                <a:solidFill>
                  <a:srgbClr val="FC4710"/>
                </a:solidFill>
                <a:latin typeface="Avenir Book"/>
              </a:rPr>
              <a:t>Datasets: </a:t>
            </a:r>
          </a:p>
          <a:p>
            <a:pPr marL="514350" indent="-514350">
              <a:lnSpc>
                <a:spcPct val="200000"/>
              </a:lnSpc>
              <a:buFont typeface="+mj-lt"/>
              <a:buAutoNum type="arabicPeriod"/>
            </a:pPr>
            <a:r>
              <a:rPr lang="en-US" sz="3200" b="1">
                <a:solidFill>
                  <a:srgbClr val="191919"/>
                </a:solidFill>
                <a:latin typeface="Avenir Book"/>
                <a:ea typeface="Gotham"/>
                <a:cs typeface="Gotham"/>
                <a:sym typeface="Gotham"/>
              </a:rPr>
              <a:t>Invoices</a:t>
            </a:r>
            <a:r>
              <a:rPr lang="en-US" sz="3200">
                <a:solidFill>
                  <a:srgbClr val="191919"/>
                </a:solidFill>
                <a:latin typeface="Avenir Book"/>
                <a:ea typeface="Gotham"/>
                <a:cs typeface="Gotham"/>
                <a:sym typeface="Gotham"/>
              </a:rPr>
              <a:t> – a Total of 50 documents with formats of </a:t>
            </a:r>
            <a:r>
              <a:rPr lang="en-US" sz="3200">
                <a:solidFill>
                  <a:srgbClr val="FF0000"/>
                </a:solidFill>
                <a:latin typeface="Avenir Book"/>
                <a:ea typeface="Gotham"/>
                <a:cs typeface="Gotham"/>
                <a:sym typeface="Gotham"/>
              </a:rPr>
              <a:t>.pdf, .jpg, .tiff, .jpeg</a:t>
            </a:r>
            <a:endParaRPr lang="en-US" sz="3600">
              <a:solidFill>
                <a:srgbClr val="FF0000"/>
              </a:solidFill>
              <a:latin typeface="Avenir Book"/>
            </a:endParaRPr>
          </a:p>
          <a:p>
            <a:pPr marL="514350" indent="-514350" algn="l">
              <a:lnSpc>
                <a:spcPct val="200000"/>
              </a:lnSpc>
              <a:buFont typeface="+mj-lt"/>
              <a:buAutoNum type="arabicPeriod"/>
            </a:pPr>
            <a:r>
              <a:rPr lang="en-US" sz="3200" b="1">
                <a:solidFill>
                  <a:srgbClr val="191919"/>
                </a:solidFill>
                <a:latin typeface="Avenir Book"/>
                <a:ea typeface="Gotham"/>
                <a:cs typeface="Gotham"/>
                <a:sym typeface="Gotham"/>
              </a:rPr>
              <a:t>Articles of Incorporation </a:t>
            </a:r>
            <a:r>
              <a:rPr lang="en-US" sz="3200">
                <a:solidFill>
                  <a:srgbClr val="191919"/>
                </a:solidFill>
                <a:latin typeface="Avenir Book"/>
                <a:ea typeface="Gotham"/>
                <a:cs typeface="Gotham"/>
                <a:sym typeface="Gotham"/>
              </a:rPr>
              <a:t>– a total of 9 </a:t>
            </a:r>
            <a:r>
              <a:rPr lang="en-US" sz="3200">
                <a:solidFill>
                  <a:srgbClr val="FF0000"/>
                </a:solidFill>
                <a:latin typeface="Avenir Book"/>
                <a:ea typeface="Gotham"/>
                <a:cs typeface="Gotham"/>
                <a:sym typeface="Gotham"/>
              </a:rPr>
              <a:t>.pdf </a:t>
            </a:r>
            <a:r>
              <a:rPr lang="en-US" sz="3200">
                <a:latin typeface="Avenir Book"/>
                <a:ea typeface="Gotham"/>
                <a:cs typeface="Gotham"/>
                <a:sym typeface="Gotham"/>
              </a:rPr>
              <a:t>documents with a total of 21 pages</a:t>
            </a:r>
            <a:endParaRPr lang="en-US" sz="3200">
              <a:latin typeface="Avenir Book"/>
              <a:ea typeface="Gotham"/>
              <a:cs typeface="Gotham"/>
            </a:endParaRPr>
          </a:p>
          <a:p>
            <a:endParaRPr lang="en-US" sz="3400">
              <a:solidFill>
                <a:srgbClr val="FC4710"/>
              </a:solidFill>
              <a:latin typeface="Avenir Book"/>
            </a:endParaRPr>
          </a:p>
        </p:txBody>
      </p:sp>
    </p:spTree>
    <p:extLst>
      <p:ext uri="{BB962C8B-B14F-4D97-AF65-F5344CB8AC3E}">
        <p14:creationId xmlns:p14="http://schemas.microsoft.com/office/powerpoint/2010/main" val="32583042"/>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TextBox 8"/>
          <p:cNvSpPr txBox="1"/>
          <p:nvPr/>
        </p:nvSpPr>
        <p:spPr>
          <a:xfrm>
            <a:off x="1795670" y="4797451"/>
            <a:ext cx="9875718" cy="1346522"/>
          </a:xfrm>
          <a:prstGeom prst="rect">
            <a:avLst/>
          </a:prstGeom>
        </p:spPr>
        <p:txBody>
          <a:bodyPr wrap="square" lIns="0" tIns="0" rIns="0" bIns="0" rtlCol="0" anchor="t">
            <a:spAutoFit/>
          </a:bodyPr>
          <a:lstStyle/>
          <a:p>
            <a:pPr algn="just">
              <a:lnSpc>
                <a:spcPts val="10500"/>
              </a:lnSpc>
              <a:spcBef>
                <a:spcPct val="0"/>
              </a:spcBef>
            </a:pPr>
            <a:r>
              <a:rPr lang="en-US" sz="9600" b="1">
                <a:solidFill>
                  <a:srgbClr val="191919"/>
                </a:solidFill>
                <a:latin typeface="Avenir Book"/>
                <a:ea typeface="Gotham Bold"/>
                <a:cs typeface="Gotham Bold"/>
                <a:sym typeface="Gotham Bold"/>
              </a:rPr>
              <a:t>Act I : The Rise</a:t>
            </a:r>
          </a:p>
        </p:txBody>
      </p:sp>
      <p:grpSp>
        <p:nvGrpSpPr>
          <p:cNvPr id="40" name="Group 40"/>
          <p:cNvGrpSpPr/>
          <p:nvPr/>
        </p:nvGrpSpPr>
        <p:grpSpPr>
          <a:xfrm>
            <a:off x="12557219" y="4795671"/>
            <a:ext cx="10994424" cy="10994424"/>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15204">
                  <a:alpha val="11765"/>
                </a:srgbClr>
              </a:solidFill>
              <a:prstDash val="solid"/>
              <a:miter/>
            </a:ln>
          </p:spPr>
          <p:txBody>
            <a:bodyPr/>
            <a:lstStyle/>
            <a:p>
              <a:endParaRPr lang="en-US"/>
            </a:p>
          </p:txBody>
        </p:sp>
        <p:sp>
          <p:nvSpPr>
            <p:cNvPr id="42" name="TextBox 4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8595A892-21BA-004D-271B-E1178AF6E9C1}"/>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0D1D15B5-4218-9436-E1BA-234D1513C32A}"/>
              </a:ext>
            </a:extLst>
          </p:cNvPr>
          <p:cNvSpPr txBox="1"/>
          <p:nvPr/>
        </p:nvSpPr>
        <p:spPr>
          <a:xfrm>
            <a:off x="3286539" y="487017"/>
            <a:ext cx="12755880" cy="1200329"/>
          </a:xfrm>
          <a:prstGeom prst="rect">
            <a:avLst/>
          </a:prstGeom>
          <a:noFill/>
        </p:spPr>
        <p:txBody>
          <a:bodyPr wrap="square" lIns="91440" tIns="45720" rIns="91440" bIns="45720" rtlCol="0" anchor="t">
            <a:spAutoFit/>
          </a:bodyPr>
          <a:lstStyle/>
          <a:p>
            <a:pPr algn="ctr"/>
            <a:r>
              <a:rPr lang="en-US" sz="7200" b="1">
                <a:latin typeface="Avenir Book"/>
              </a:rPr>
              <a:t>Research and Learnings</a:t>
            </a:r>
            <a:endParaRPr lang="en-US"/>
          </a:p>
        </p:txBody>
      </p:sp>
      <p:pic>
        <p:nvPicPr>
          <p:cNvPr id="32" name="Picture 31" descr="A diagram of a diagram&#10;&#10;Description automatically generated with medium confidence">
            <a:extLst>
              <a:ext uri="{FF2B5EF4-FFF2-40B4-BE49-F238E27FC236}">
                <a16:creationId xmlns:a16="http://schemas.microsoft.com/office/drawing/2014/main" id="{4381A373-14B0-CC8B-60D3-5A4D14C63B42}"/>
              </a:ext>
            </a:extLst>
          </p:cNvPr>
          <p:cNvPicPr>
            <a:picLocks noChangeAspect="1"/>
          </p:cNvPicPr>
          <p:nvPr/>
        </p:nvPicPr>
        <p:blipFill>
          <a:blip r:embed="rId3">
            <a:extLst>
              <a:ext uri="{28A0092B-C50C-407E-A947-70E740481C1C}">
                <a14:useLocalDpi xmlns:a14="http://schemas.microsoft.com/office/drawing/2010/main" val="0"/>
              </a:ext>
            </a:extLst>
          </a:blip>
          <a:srcRect t="16399" b="11106"/>
          <a:stretch/>
        </p:blipFill>
        <p:spPr>
          <a:xfrm>
            <a:off x="2286" y="2343328"/>
            <a:ext cx="18285714" cy="7456655"/>
          </a:xfrm>
          <a:prstGeom prst="rect">
            <a:avLst/>
          </a:prstGeom>
        </p:spPr>
      </p:pic>
    </p:spTree>
    <p:extLst>
      <p:ext uri="{BB962C8B-B14F-4D97-AF65-F5344CB8AC3E}">
        <p14:creationId xmlns:p14="http://schemas.microsoft.com/office/powerpoint/2010/main" val="1087801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TextBox 345">
            <a:extLst>
              <a:ext uri="{FF2B5EF4-FFF2-40B4-BE49-F238E27FC236}">
                <a16:creationId xmlns:a16="http://schemas.microsoft.com/office/drawing/2014/main" id="{EB11514B-C766-3210-9816-75A3056AEEFC}"/>
              </a:ext>
            </a:extLst>
          </p:cNvPr>
          <p:cNvSpPr txBox="1"/>
          <p:nvPr/>
        </p:nvSpPr>
        <p:spPr>
          <a:xfrm>
            <a:off x="747666" y="3753974"/>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rgbClr val="FF0000"/>
                </a:solidFill>
                <a:latin typeface="Avenir Book"/>
                <a:ea typeface="Calibri"/>
                <a:cs typeface="Calibri"/>
              </a:rPr>
              <a:t>User Prompt:</a:t>
            </a:r>
            <a:endParaRPr lang="en-US" sz="2800" b="1">
              <a:solidFill>
                <a:srgbClr val="FF0000"/>
              </a:solidFill>
              <a:latin typeface="Avenir Book"/>
            </a:endParaRPr>
          </a:p>
        </p:txBody>
      </p:sp>
      <p:pic>
        <p:nvPicPr>
          <p:cNvPr id="5" name="Google Shape;1231;p67" descr="A screenshot of a computer program&#10;&#10;Description automatically generated">
            <a:extLst>
              <a:ext uri="{FF2B5EF4-FFF2-40B4-BE49-F238E27FC236}">
                <a16:creationId xmlns:a16="http://schemas.microsoft.com/office/drawing/2014/main" id="{0AB4184A-976A-E486-1802-0CD62B09C48E}"/>
              </a:ext>
            </a:extLst>
          </p:cNvPr>
          <p:cNvPicPr preferRelativeResize="0"/>
          <p:nvPr/>
        </p:nvPicPr>
        <p:blipFill>
          <a:blip r:embed="rId3"/>
          <a:stretch>
            <a:fillRect/>
          </a:stretch>
        </p:blipFill>
        <p:spPr>
          <a:xfrm>
            <a:off x="742474" y="4208921"/>
            <a:ext cx="11677113" cy="5925167"/>
          </a:xfrm>
          <a:prstGeom prst="rect">
            <a:avLst/>
          </a:prstGeom>
          <a:noFill/>
        </p:spPr>
      </p:pic>
      <p:sp>
        <p:nvSpPr>
          <p:cNvPr id="8" name="TextBox 7">
            <a:extLst>
              <a:ext uri="{FF2B5EF4-FFF2-40B4-BE49-F238E27FC236}">
                <a16:creationId xmlns:a16="http://schemas.microsoft.com/office/drawing/2014/main" id="{42B7E02E-80A2-2FEA-8A2F-403C8DEC0D07}"/>
              </a:ext>
            </a:extLst>
          </p:cNvPr>
          <p:cNvSpPr txBox="1"/>
          <p:nvPr/>
        </p:nvSpPr>
        <p:spPr>
          <a:xfrm>
            <a:off x="14234305" y="3745094"/>
            <a:ext cx="287958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rgbClr val="FF0000"/>
                </a:solidFill>
                <a:latin typeface="Avenir Book"/>
                <a:ea typeface="Calibri"/>
                <a:cs typeface="Calibri"/>
              </a:rPr>
              <a:t>System Prompt:</a:t>
            </a:r>
            <a:endParaRPr lang="en-US" sz="2800" b="1">
              <a:solidFill>
                <a:srgbClr val="FF0000"/>
              </a:solidFill>
              <a:latin typeface="Avenir Book"/>
            </a:endParaRPr>
          </a:p>
        </p:txBody>
      </p:sp>
      <p:sp>
        <p:nvSpPr>
          <p:cNvPr id="9" name="TextBox 8">
            <a:extLst>
              <a:ext uri="{FF2B5EF4-FFF2-40B4-BE49-F238E27FC236}">
                <a16:creationId xmlns:a16="http://schemas.microsoft.com/office/drawing/2014/main" id="{C258A40D-7AAF-CD2E-A973-1C47447BBE43}"/>
              </a:ext>
            </a:extLst>
          </p:cNvPr>
          <p:cNvSpPr txBox="1"/>
          <p:nvPr/>
        </p:nvSpPr>
        <p:spPr>
          <a:xfrm>
            <a:off x="13390903" y="4633273"/>
            <a:ext cx="4551938" cy="341632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cs typeface="Segoe UI"/>
              </a:rPr>
              <a:t>You are an advanced document information extraction model specializing in extracting structured information from invoices. ​Your goal is to extract specific given fields from an invoice image with its bounding boxes. Bounding boxes must be normalized from 0 to 1.</a:t>
            </a:r>
            <a:endParaRPr lang="en-US" sz="2400"/>
          </a:p>
        </p:txBody>
      </p:sp>
      <p:sp>
        <p:nvSpPr>
          <p:cNvPr id="12" name="TextBox 11">
            <a:extLst>
              <a:ext uri="{FF2B5EF4-FFF2-40B4-BE49-F238E27FC236}">
                <a16:creationId xmlns:a16="http://schemas.microsoft.com/office/drawing/2014/main" id="{EBA5AE7A-56E2-BBF0-FA6B-A5CEF7C39918}"/>
              </a:ext>
            </a:extLst>
          </p:cNvPr>
          <p:cNvSpPr txBox="1"/>
          <p:nvPr/>
        </p:nvSpPr>
        <p:spPr>
          <a:xfrm>
            <a:off x="744371" y="931255"/>
            <a:ext cx="332768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rgbClr val="FF0000"/>
                </a:solidFill>
                <a:latin typeface="Avenir Book"/>
                <a:ea typeface="Calibri"/>
                <a:cs typeface="Calibri"/>
              </a:rPr>
              <a:t>Complete Prompt:</a:t>
            </a:r>
            <a:endParaRPr lang="en-US" sz="2800" b="1">
              <a:solidFill>
                <a:srgbClr val="FF0000"/>
              </a:solidFill>
              <a:latin typeface="Avenir Book"/>
            </a:endParaRPr>
          </a:p>
        </p:txBody>
      </p:sp>
      <p:pic>
        <p:nvPicPr>
          <p:cNvPr id="13" name="Google Shape;1231;p67" descr="A screen shot of a computer program&#10;&#10;Description automatically generated">
            <a:extLst>
              <a:ext uri="{FF2B5EF4-FFF2-40B4-BE49-F238E27FC236}">
                <a16:creationId xmlns:a16="http://schemas.microsoft.com/office/drawing/2014/main" id="{A451FE4F-7985-1434-28EC-DE9D99BE4353}"/>
              </a:ext>
            </a:extLst>
          </p:cNvPr>
          <p:cNvPicPr preferRelativeResize="0"/>
          <p:nvPr/>
        </p:nvPicPr>
        <p:blipFill>
          <a:blip r:embed="rId4"/>
          <a:stretch>
            <a:fillRect/>
          </a:stretch>
        </p:blipFill>
        <p:spPr>
          <a:xfrm>
            <a:off x="743964" y="1444426"/>
            <a:ext cx="11687920" cy="2303589"/>
          </a:xfrm>
          <a:prstGeom prst="rect">
            <a:avLst/>
          </a:prstGeom>
          <a:noFill/>
        </p:spPr>
      </p:pic>
      <p:sp>
        <p:nvSpPr>
          <p:cNvPr id="14" name="TextBox 13">
            <a:extLst>
              <a:ext uri="{FF2B5EF4-FFF2-40B4-BE49-F238E27FC236}">
                <a16:creationId xmlns:a16="http://schemas.microsoft.com/office/drawing/2014/main" id="{8E713739-2383-BEA0-45AC-3A00054247D3}"/>
              </a:ext>
            </a:extLst>
          </p:cNvPr>
          <p:cNvSpPr txBox="1"/>
          <p:nvPr/>
        </p:nvSpPr>
        <p:spPr>
          <a:xfrm>
            <a:off x="4167322" y="13644"/>
            <a:ext cx="9097843"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800" b="1" dirty="0">
                <a:latin typeface="Avenir Book"/>
              </a:rPr>
              <a:t>Prompt</a:t>
            </a:r>
          </a:p>
        </p:txBody>
      </p:sp>
    </p:spTree>
    <p:extLst>
      <p:ext uri="{BB962C8B-B14F-4D97-AF65-F5344CB8AC3E}">
        <p14:creationId xmlns:p14="http://schemas.microsoft.com/office/powerpoint/2010/main" val="1211751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EF4CDB1-327C-1EFF-C955-0C950186CDB5}"/>
            </a:ext>
          </a:extLst>
        </p:cNvPr>
        <p:cNvGrpSpPr/>
        <p:nvPr/>
      </p:nvGrpSpPr>
      <p:grpSpPr>
        <a:xfrm>
          <a:off x="0" y="0"/>
          <a:ext cx="0" cy="0"/>
          <a:chOff x="0" y="0"/>
          <a:chExt cx="0" cy="0"/>
        </a:xfrm>
      </p:grpSpPr>
      <p:sp>
        <p:nvSpPr>
          <p:cNvPr id="36" name="TextBox 36">
            <a:extLst>
              <a:ext uri="{FF2B5EF4-FFF2-40B4-BE49-F238E27FC236}">
                <a16:creationId xmlns:a16="http://schemas.microsoft.com/office/drawing/2014/main" id="{B2104BAC-94F9-8390-0BED-33F4D74E7E45}"/>
              </a:ext>
            </a:extLst>
          </p:cNvPr>
          <p:cNvSpPr txBox="1"/>
          <p:nvPr/>
        </p:nvSpPr>
        <p:spPr>
          <a:xfrm>
            <a:off x="1842952" y="-89872"/>
            <a:ext cx="14602096" cy="1237262"/>
          </a:xfrm>
          <a:prstGeom prst="rect">
            <a:avLst/>
          </a:prstGeom>
        </p:spPr>
        <p:txBody>
          <a:bodyPr wrap="square" lIns="0" tIns="0" rIns="0" bIns="0" rtlCol="0" anchor="ctr">
            <a:spAutoFit/>
          </a:bodyPr>
          <a:lstStyle/>
          <a:p>
            <a:pPr algn="ctr">
              <a:lnSpc>
                <a:spcPts val="10359"/>
              </a:lnSpc>
            </a:pPr>
            <a:r>
              <a:rPr lang="en-US" sz="7200" b="1">
                <a:solidFill>
                  <a:srgbClr val="191919"/>
                </a:solidFill>
                <a:latin typeface="Avenir Book"/>
                <a:ea typeface="Gotham Bold"/>
                <a:cs typeface="Gotham Bold"/>
                <a:sym typeface="Gotham Bold"/>
              </a:rPr>
              <a:t>JSON Structure – List of Dictionaries</a:t>
            </a:r>
            <a:endParaRPr lang="en-US" sz="7200" b="1">
              <a:solidFill>
                <a:srgbClr val="191919"/>
              </a:solidFill>
              <a:latin typeface="Avenir Book"/>
              <a:ea typeface="Gotham Bold"/>
              <a:cs typeface="Gotham Bold"/>
            </a:endParaRPr>
          </a:p>
        </p:txBody>
      </p:sp>
      <p:sp>
        <p:nvSpPr>
          <p:cNvPr id="38" name="TextBox 38">
            <a:extLst>
              <a:ext uri="{FF2B5EF4-FFF2-40B4-BE49-F238E27FC236}">
                <a16:creationId xmlns:a16="http://schemas.microsoft.com/office/drawing/2014/main" id="{5E91BD2E-DE33-8595-B8C5-77979EB48F8A}"/>
              </a:ext>
            </a:extLst>
          </p:cNvPr>
          <p:cNvSpPr txBox="1"/>
          <p:nvPr/>
        </p:nvSpPr>
        <p:spPr>
          <a:xfrm>
            <a:off x="2454644" y="4518226"/>
            <a:ext cx="11168283" cy="985398"/>
          </a:xfrm>
          <a:prstGeom prst="rect">
            <a:avLst/>
          </a:prstGeom>
        </p:spPr>
        <p:txBody>
          <a:bodyPr wrap="square" lIns="0" tIns="0" rIns="0" bIns="0" rtlCol="0" anchor="t">
            <a:spAutoFit/>
          </a:bodyPr>
          <a:lstStyle/>
          <a:p>
            <a:pPr algn="l">
              <a:lnSpc>
                <a:spcPts val="3990"/>
              </a:lnSpc>
            </a:pPr>
            <a:endParaRPr lang="en-US" sz="2850">
              <a:solidFill>
                <a:srgbClr val="191919"/>
              </a:solidFill>
              <a:latin typeface="Gotham"/>
              <a:ea typeface="Gotham"/>
              <a:cs typeface="Gotham"/>
              <a:sym typeface="Gotham"/>
            </a:endParaRPr>
          </a:p>
          <a:p>
            <a:pPr algn="l">
              <a:lnSpc>
                <a:spcPts val="3990"/>
              </a:lnSpc>
            </a:pPr>
            <a:endParaRPr lang="en-US" sz="2850">
              <a:solidFill>
                <a:srgbClr val="191919"/>
              </a:solidFill>
              <a:latin typeface="Gotham"/>
              <a:ea typeface="Gotham"/>
              <a:cs typeface="Gotham"/>
              <a:sym typeface="Gotham"/>
            </a:endParaRPr>
          </a:p>
        </p:txBody>
      </p:sp>
      <p:pic>
        <p:nvPicPr>
          <p:cNvPr id="35" name="Picture 34">
            <a:extLst>
              <a:ext uri="{FF2B5EF4-FFF2-40B4-BE49-F238E27FC236}">
                <a16:creationId xmlns:a16="http://schemas.microsoft.com/office/drawing/2014/main" id="{C29BB1CB-DE80-D069-F930-6896687B6888}"/>
              </a:ext>
            </a:extLst>
          </p:cNvPr>
          <p:cNvPicPr>
            <a:picLocks noChangeAspect="1"/>
          </p:cNvPicPr>
          <p:nvPr/>
        </p:nvPicPr>
        <p:blipFill>
          <a:blip r:embed="rId3"/>
          <a:srcRect t="1185"/>
          <a:stretch/>
        </p:blipFill>
        <p:spPr>
          <a:xfrm>
            <a:off x="11209853" y="1665582"/>
            <a:ext cx="5050223" cy="8471403"/>
          </a:xfrm>
          <a:prstGeom prst="rect">
            <a:avLst/>
          </a:prstGeom>
          <a:ln>
            <a:solidFill>
              <a:schemeClr val="bg1">
                <a:lumMod val="50000"/>
              </a:schemeClr>
            </a:solidFill>
          </a:ln>
        </p:spPr>
      </p:pic>
      <p:pic>
        <p:nvPicPr>
          <p:cNvPr id="39" name="Picture 38">
            <a:extLst>
              <a:ext uri="{FF2B5EF4-FFF2-40B4-BE49-F238E27FC236}">
                <a16:creationId xmlns:a16="http://schemas.microsoft.com/office/drawing/2014/main" id="{EB18654B-171C-2E0E-FB46-D5CD351AE93A}"/>
              </a:ext>
            </a:extLst>
          </p:cNvPr>
          <p:cNvPicPr>
            <a:picLocks noChangeAspect="1"/>
          </p:cNvPicPr>
          <p:nvPr/>
        </p:nvPicPr>
        <p:blipFill>
          <a:blip r:embed="rId4"/>
          <a:stretch>
            <a:fillRect/>
          </a:stretch>
        </p:blipFill>
        <p:spPr>
          <a:xfrm>
            <a:off x="991077" y="2384844"/>
            <a:ext cx="7810227" cy="7441654"/>
          </a:xfrm>
          <a:prstGeom prst="rect">
            <a:avLst/>
          </a:prstGeom>
          <a:ln>
            <a:solidFill>
              <a:schemeClr val="bg1">
                <a:lumMod val="50000"/>
              </a:schemeClr>
            </a:solidFill>
          </a:ln>
        </p:spPr>
      </p:pic>
      <p:sp>
        <p:nvSpPr>
          <p:cNvPr id="40" name="TextBox 39">
            <a:extLst>
              <a:ext uri="{FF2B5EF4-FFF2-40B4-BE49-F238E27FC236}">
                <a16:creationId xmlns:a16="http://schemas.microsoft.com/office/drawing/2014/main" id="{950E3404-93EA-B777-075F-1C44DAFC283C}"/>
              </a:ext>
            </a:extLst>
          </p:cNvPr>
          <p:cNvSpPr txBox="1"/>
          <p:nvPr/>
        </p:nvSpPr>
        <p:spPr>
          <a:xfrm>
            <a:off x="2275124" y="1633148"/>
            <a:ext cx="5763661" cy="584775"/>
          </a:xfrm>
          <a:prstGeom prst="rect">
            <a:avLst/>
          </a:prstGeom>
          <a:noFill/>
        </p:spPr>
        <p:txBody>
          <a:bodyPr wrap="square" rtlCol="0">
            <a:spAutoFit/>
          </a:bodyPr>
          <a:lstStyle/>
          <a:p>
            <a:r>
              <a:rPr lang="en-US" sz="3200" b="1">
                <a:solidFill>
                  <a:srgbClr val="E84B2C"/>
                </a:solidFill>
                <a:latin typeface="Avenir Book"/>
              </a:rPr>
              <a:t>Articles of Incorporation</a:t>
            </a:r>
          </a:p>
        </p:txBody>
      </p:sp>
      <p:sp>
        <p:nvSpPr>
          <p:cNvPr id="50" name="TextBox 49">
            <a:extLst>
              <a:ext uri="{FF2B5EF4-FFF2-40B4-BE49-F238E27FC236}">
                <a16:creationId xmlns:a16="http://schemas.microsoft.com/office/drawing/2014/main" id="{191093FE-5D60-6698-B3D8-509BCDD3139D}"/>
              </a:ext>
            </a:extLst>
          </p:cNvPr>
          <p:cNvSpPr txBox="1"/>
          <p:nvPr/>
        </p:nvSpPr>
        <p:spPr>
          <a:xfrm>
            <a:off x="12879950" y="1080807"/>
            <a:ext cx="5408050" cy="584775"/>
          </a:xfrm>
          <a:prstGeom prst="rect">
            <a:avLst/>
          </a:prstGeom>
          <a:noFill/>
        </p:spPr>
        <p:txBody>
          <a:bodyPr wrap="square" rtlCol="0">
            <a:spAutoFit/>
          </a:bodyPr>
          <a:lstStyle/>
          <a:p>
            <a:r>
              <a:rPr lang="en-US" sz="3200" b="1">
                <a:solidFill>
                  <a:srgbClr val="E84B2C"/>
                </a:solidFill>
                <a:latin typeface="Avenir Book"/>
              </a:rPr>
              <a:t>Invoice</a:t>
            </a:r>
          </a:p>
        </p:txBody>
      </p:sp>
    </p:spTree>
    <p:extLst>
      <p:ext uri="{BB962C8B-B14F-4D97-AF65-F5344CB8AC3E}">
        <p14:creationId xmlns:p14="http://schemas.microsoft.com/office/powerpoint/2010/main" val="3026434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37" name="Group 37"/>
          <p:cNvGrpSpPr/>
          <p:nvPr/>
        </p:nvGrpSpPr>
        <p:grpSpPr>
          <a:xfrm>
            <a:off x="12796966" y="5828758"/>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15204">
                  <a:alpha val="11765"/>
                </a:srgbClr>
              </a:solidFill>
              <a:prstDash val="solid"/>
              <a:miter/>
            </a:ln>
          </p:spPr>
          <p:txBody>
            <a:bodyPr/>
            <a:lstStyle/>
            <a:p>
              <a:endParaRPr lang="en-US"/>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0" name="TextBox 40"/>
          <p:cNvSpPr txBox="1"/>
          <p:nvPr/>
        </p:nvSpPr>
        <p:spPr>
          <a:xfrm>
            <a:off x="1323704" y="4478657"/>
            <a:ext cx="7824944" cy="1346522"/>
          </a:xfrm>
          <a:prstGeom prst="rect">
            <a:avLst/>
          </a:prstGeom>
        </p:spPr>
        <p:txBody>
          <a:bodyPr lIns="0" tIns="0" rIns="0" bIns="0" rtlCol="0" anchor="t">
            <a:spAutoFit/>
          </a:bodyPr>
          <a:lstStyle/>
          <a:p>
            <a:pPr algn="just">
              <a:lnSpc>
                <a:spcPts val="10500"/>
              </a:lnSpc>
              <a:spcBef>
                <a:spcPct val="0"/>
              </a:spcBef>
            </a:pPr>
            <a:r>
              <a:rPr lang="en-US" sz="9600" b="1">
                <a:solidFill>
                  <a:srgbClr val="191919"/>
                </a:solidFill>
                <a:latin typeface="Avenir Book"/>
                <a:ea typeface="Gotham Bold"/>
                <a:cs typeface="Gotham Bold"/>
                <a:sym typeface="Gotham Bold"/>
              </a:rPr>
              <a:t>Act II : The Fall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439BCA50-5C8B-4034-853C-B29176644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a:extLst>
              <a:ext uri="{FF2B5EF4-FFF2-40B4-BE49-F238E27FC236}">
                <a16:creationId xmlns:a16="http://schemas.microsoft.com/office/drawing/2014/main" id="{CB018903-3549-4A3B-A9DF-B26757CAA9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8288000" cy="10287000"/>
            <a:chOff x="0" y="0"/>
            <a:chExt cx="12192000" cy="6858000"/>
          </a:xfrm>
        </p:grpSpPr>
        <p:sp>
          <p:nvSpPr>
            <p:cNvPr id="55" name="Rectangle 54">
              <a:extLst>
                <a:ext uri="{FF2B5EF4-FFF2-40B4-BE49-F238E27FC236}">
                  <a16:creationId xmlns:a16="http://schemas.microsoft.com/office/drawing/2014/main" id="{9E5D3F77-D07F-4F7D-97A2-E366830206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DC6F5A2D-56A0-4ED7-A3E2-3CF67608FC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F3BCF16D-642F-13B7-01DE-04CB23BC4484}"/>
              </a:ext>
            </a:extLst>
          </p:cNvPr>
          <p:cNvSpPr txBox="1"/>
          <p:nvPr/>
        </p:nvSpPr>
        <p:spPr>
          <a:xfrm>
            <a:off x="823915" y="758486"/>
            <a:ext cx="6046661" cy="1017899"/>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300" b="1" kern="1200">
                <a:latin typeface="+mj-lt"/>
                <a:ea typeface="+mj-ea"/>
                <a:cs typeface="+mj-cs"/>
              </a:rPr>
              <a:t>THE BOTTLE NECK</a:t>
            </a:r>
            <a:r>
              <a:rPr lang="en-US" sz="3300" b="1">
                <a:latin typeface="+mj-lt"/>
                <a:ea typeface="+mj-ea"/>
                <a:cs typeface="+mj-cs"/>
              </a:rPr>
              <a:t>........................</a:t>
            </a:r>
            <a:endParaRPr lang="en-US" sz="3300" b="1" i="1" kern="1200">
              <a:latin typeface="+mj-lt"/>
              <a:ea typeface="Calibri"/>
              <a:cs typeface="Calibri"/>
            </a:endParaRPr>
          </a:p>
        </p:txBody>
      </p:sp>
      <p:pic>
        <p:nvPicPr>
          <p:cNvPr id="2" name="Picture 1" descr="A document with numbers and text&#10;&#10;Description automatically generated">
            <a:extLst>
              <a:ext uri="{FF2B5EF4-FFF2-40B4-BE49-F238E27FC236}">
                <a16:creationId xmlns:a16="http://schemas.microsoft.com/office/drawing/2014/main" id="{F26D8D37-695A-7812-F1EC-A4D5C749F3D3}"/>
              </a:ext>
            </a:extLst>
          </p:cNvPr>
          <p:cNvPicPr>
            <a:picLocks noChangeAspect="1"/>
          </p:cNvPicPr>
          <p:nvPr/>
        </p:nvPicPr>
        <p:blipFill>
          <a:blip r:embed="rId3"/>
          <a:srcRect t="6343"/>
          <a:stretch/>
        </p:blipFill>
        <p:spPr>
          <a:xfrm>
            <a:off x="12078164" y="2336008"/>
            <a:ext cx="5384625" cy="7128000"/>
          </a:xfrm>
          <a:prstGeom prst="rect">
            <a:avLst/>
          </a:prstGeom>
          <a:effectLst>
            <a:outerShdw blurRad="508000" dist="101600" dir="5400000" algn="tl" rotWithShape="0">
              <a:prstClr val="black">
                <a:alpha val="10000"/>
              </a:prstClr>
            </a:outerShdw>
          </a:effectLst>
        </p:spPr>
      </p:pic>
      <p:pic>
        <p:nvPicPr>
          <p:cNvPr id="4" name="Picture 3" descr="A document with numbers and text&#10;&#10;Description automatically generated">
            <a:extLst>
              <a:ext uri="{FF2B5EF4-FFF2-40B4-BE49-F238E27FC236}">
                <a16:creationId xmlns:a16="http://schemas.microsoft.com/office/drawing/2014/main" id="{264B128D-9756-4382-AE11-B12D9E3F6478}"/>
              </a:ext>
            </a:extLst>
          </p:cNvPr>
          <p:cNvPicPr>
            <a:picLocks noChangeAspect="1"/>
          </p:cNvPicPr>
          <p:nvPr/>
        </p:nvPicPr>
        <p:blipFill>
          <a:blip r:embed="rId4"/>
          <a:srcRect t="5769"/>
          <a:stretch/>
        </p:blipFill>
        <p:spPr>
          <a:xfrm>
            <a:off x="6483297" y="2336008"/>
            <a:ext cx="5351826" cy="7128000"/>
          </a:xfrm>
          <a:prstGeom prst="rect">
            <a:avLst/>
          </a:prstGeom>
          <a:effectLst>
            <a:outerShdw blurRad="508000" dist="101600" dir="5400000" algn="tl" rotWithShape="0">
              <a:prstClr val="black">
                <a:alpha val="10000"/>
              </a:prstClr>
            </a:outerShdw>
          </a:effectLst>
        </p:spPr>
      </p:pic>
      <p:pic>
        <p:nvPicPr>
          <p:cNvPr id="3" name="Picture 2" descr="A document with text and numbers&#10;&#10;Description automatically generated">
            <a:extLst>
              <a:ext uri="{FF2B5EF4-FFF2-40B4-BE49-F238E27FC236}">
                <a16:creationId xmlns:a16="http://schemas.microsoft.com/office/drawing/2014/main" id="{66404F13-89D8-A45F-BCCA-07C5F1E445F4}"/>
              </a:ext>
            </a:extLst>
          </p:cNvPr>
          <p:cNvPicPr>
            <a:picLocks noChangeAspect="1"/>
          </p:cNvPicPr>
          <p:nvPr/>
        </p:nvPicPr>
        <p:blipFill>
          <a:blip r:embed="rId5"/>
          <a:srcRect t="3794" r="2" b="1971"/>
          <a:stretch/>
        </p:blipFill>
        <p:spPr>
          <a:xfrm>
            <a:off x="823564" y="2336008"/>
            <a:ext cx="5351400" cy="7128000"/>
          </a:xfrm>
          <a:prstGeom prst="rect">
            <a:avLst/>
          </a:prstGeom>
          <a:effectLst>
            <a:outerShdw blurRad="508000" dist="101600" dir="5400000" algn="tl" rotWithShape="0">
              <a:prstClr val="black">
                <a:alpha val="10000"/>
              </a:prstClr>
            </a:outerShdw>
          </a:effectLst>
        </p:spPr>
      </p:pic>
      <p:sp>
        <p:nvSpPr>
          <p:cNvPr id="5" name="TextBox 4">
            <a:extLst>
              <a:ext uri="{FF2B5EF4-FFF2-40B4-BE49-F238E27FC236}">
                <a16:creationId xmlns:a16="http://schemas.microsoft.com/office/drawing/2014/main" id="{028A9755-1B04-4B80-9647-22CEF0D15FB0}"/>
              </a:ext>
            </a:extLst>
          </p:cNvPr>
          <p:cNvSpPr txBox="1"/>
          <p:nvPr/>
        </p:nvSpPr>
        <p:spPr>
          <a:xfrm>
            <a:off x="12493224" y="3088800"/>
            <a:ext cx="4969671" cy="567452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endParaRPr lang="en-US" sz="3000" b="1">
              <a:solidFill>
                <a:srgbClr val="000000">
                  <a:alpha val="60000"/>
                </a:srgbClr>
              </a:solidFill>
              <a:ea typeface="Calibri"/>
              <a:cs typeface="Calibri"/>
            </a:endParaRPr>
          </a:p>
          <a:p>
            <a:pPr indent="-228600">
              <a:lnSpc>
                <a:spcPct val="90000"/>
              </a:lnSpc>
              <a:spcAft>
                <a:spcPts val="600"/>
              </a:spcAft>
              <a:buFont typeface="Arial" panose="020B0604020202020204" pitchFamily="34" charset="0"/>
              <a:buChar char="•"/>
            </a:pPr>
            <a:endParaRPr lang="en-US" sz="3000" b="1">
              <a:solidFill>
                <a:schemeClr val="tx1">
                  <a:alpha val="60000"/>
                </a:schemeClr>
              </a:solidFill>
            </a:endParaRPr>
          </a:p>
          <a:p>
            <a:pPr>
              <a:lnSpc>
                <a:spcPct val="90000"/>
              </a:lnSpc>
              <a:spcAft>
                <a:spcPts val="600"/>
              </a:spcAft>
            </a:pPr>
            <a:r>
              <a:rPr lang="en-US" sz="4800"/>
              <a:t> </a:t>
            </a:r>
            <a:endParaRPr lang="en-US" sz="4800">
              <a:ea typeface="Calibri"/>
              <a:cs typeface="Calibri"/>
            </a:endParaRPr>
          </a:p>
          <a:p>
            <a:pPr indent="-228600">
              <a:lnSpc>
                <a:spcPct val="90000"/>
              </a:lnSpc>
              <a:spcAft>
                <a:spcPts val="600"/>
              </a:spcAft>
              <a:buFont typeface="Arial" panose="020B0604020202020204" pitchFamily="34" charset="0"/>
              <a:buChar char="•"/>
            </a:pPr>
            <a:endParaRPr lang="en-US" sz="3000" b="1">
              <a:solidFill>
                <a:schemeClr val="tx1">
                  <a:alpha val="60000"/>
                </a:schemeClr>
              </a:solidFill>
            </a:endParaRPr>
          </a:p>
        </p:txBody>
      </p:sp>
      <p:sp>
        <p:nvSpPr>
          <p:cNvPr id="7" name="TextBox 6">
            <a:extLst>
              <a:ext uri="{FF2B5EF4-FFF2-40B4-BE49-F238E27FC236}">
                <a16:creationId xmlns:a16="http://schemas.microsoft.com/office/drawing/2014/main" id="{D3ADE16A-8E8F-1324-904A-3C09C0944D28}"/>
              </a:ext>
            </a:extLst>
          </p:cNvPr>
          <p:cNvSpPr txBox="1"/>
          <p:nvPr/>
        </p:nvSpPr>
        <p:spPr>
          <a:xfrm>
            <a:off x="6691543" y="965446"/>
            <a:ext cx="4552025"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300" b="1" i="1">
                <a:solidFill>
                  <a:schemeClr val="tx2">
                    <a:lumMod val="60000"/>
                    <a:lumOff val="40000"/>
                  </a:schemeClr>
                </a:solidFill>
                <a:ea typeface="Calibri"/>
                <a:cs typeface="Calibri"/>
              </a:rPr>
              <a:t>INCONSISTENT RESULTS!</a:t>
            </a:r>
            <a:endParaRPr lang="en-US">
              <a:solidFill>
                <a:schemeClr val="tx2">
                  <a:lumMod val="60000"/>
                  <a:lumOff val="40000"/>
                </a:schemeClr>
              </a:solidFill>
            </a:endParaRPr>
          </a:p>
        </p:txBody>
      </p:sp>
      <p:sp>
        <p:nvSpPr>
          <p:cNvPr id="8" name="TextBox 7">
            <a:extLst>
              <a:ext uri="{FF2B5EF4-FFF2-40B4-BE49-F238E27FC236}">
                <a16:creationId xmlns:a16="http://schemas.microsoft.com/office/drawing/2014/main" id="{DBE42185-59B4-7E05-7D15-EAF03AB8CC6F}"/>
              </a:ext>
            </a:extLst>
          </p:cNvPr>
          <p:cNvSpPr txBox="1"/>
          <p:nvPr/>
        </p:nvSpPr>
        <p:spPr>
          <a:xfrm>
            <a:off x="1683488" y="9649046"/>
            <a:ext cx="332799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solidFill>
                  <a:srgbClr val="FF0000"/>
                </a:solidFill>
                <a:latin typeface="Avenir Book"/>
                <a:ea typeface="+mn-lt"/>
                <a:cs typeface="+mn-lt"/>
              </a:rPr>
              <a:t>x_min</a:t>
            </a:r>
            <a:r>
              <a:rPr lang="en-US">
                <a:solidFill>
                  <a:srgbClr val="FF0000"/>
                </a:solidFill>
                <a:latin typeface="Avenir Book"/>
                <a:ea typeface="+mn-lt"/>
                <a:cs typeface="+mn-lt"/>
              </a:rPr>
              <a:t> , </a:t>
            </a:r>
            <a:r>
              <a:rPr lang="en-US" err="1">
                <a:solidFill>
                  <a:srgbClr val="FF0000"/>
                </a:solidFill>
                <a:latin typeface="Avenir Book"/>
                <a:ea typeface="+mn-lt"/>
                <a:cs typeface="+mn-lt"/>
              </a:rPr>
              <a:t>y_min</a:t>
            </a:r>
            <a:r>
              <a:rPr lang="en-US">
                <a:solidFill>
                  <a:srgbClr val="FF0000"/>
                </a:solidFill>
                <a:latin typeface="Avenir Book"/>
                <a:ea typeface="+mn-lt"/>
                <a:cs typeface="+mn-lt"/>
              </a:rPr>
              <a:t> , </a:t>
            </a:r>
            <a:r>
              <a:rPr lang="en-US" err="1">
                <a:solidFill>
                  <a:srgbClr val="FF0000"/>
                </a:solidFill>
                <a:latin typeface="Avenir Book"/>
                <a:ea typeface="+mn-lt"/>
                <a:cs typeface="+mn-lt"/>
              </a:rPr>
              <a:t>x_max</a:t>
            </a:r>
            <a:r>
              <a:rPr lang="en-US">
                <a:solidFill>
                  <a:srgbClr val="FF0000"/>
                </a:solidFill>
                <a:latin typeface="Avenir Book"/>
                <a:ea typeface="+mn-lt"/>
                <a:cs typeface="+mn-lt"/>
              </a:rPr>
              <a:t>, </a:t>
            </a:r>
            <a:r>
              <a:rPr lang="en-US" err="1">
                <a:solidFill>
                  <a:srgbClr val="FF0000"/>
                </a:solidFill>
                <a:latin typeface="Avenir Book"/>
                <a:ea typeface="+mn-lt"/>
                <a:cs typeface="+mn-lt"/>
              </a:rPr>
              <a:t>y_max</a:t>
            </a:r>
            <a:endParaRPr lang="en-US">
              <a:solidFill>
                <a:srgbClr val="FF0000"/>
              </a:solidFill>
              <a:latin typeface="Avenir Book"/>
              <a:ea typeface="Calibri"/>
              <a:cs typeface="Calibri"/>
            </a:endParaRPr>
          </a:p>
        </p:txBody>
      </p:sp>
      <p:sp>
        <p:nvSpPr>
          <p:cNvPr id="9" name="TextBox 8">
            <a:extLst>
              <a:ext uri="{FF2B5EF4-FFF2-40B4-BE49-F238E27FC236}">
                <a16:creationId xmlns:a16="http://schemas.microsoft.com/office/drawing/2014/main" id="{82780D4D-E891-BA24-246D-EA039B285810}"/>
              </a:ext>
            </a:extLst>
          </p:cNvPr>
          <p:cNvSpPr txBox="1"/>
          <p:nvPr/>
        </p:nvSpPr>
        <p:spPr>
          <a:xfrm>
            <a:off x="13140069" y="9649046"/>
            <a:ext cx="36735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solidFill>
                  <a:srgbClr val="FF0000"/>
                </a:solidFill>
                <a:latin typeface="Avenir Book"/>
                <a:ea typeface="+mn-lt"/>
                <a:cs typeface="+mn-lt"/>
              </a:rPr>
              <a:t>normalised</a:t>
            </a:r>
            <a:r>
              <a:rPr lang="en-US">
                <a:solidFill>
                  <a:srgbClr val="FF0000"/>
                </a:solidFill>
                <a:latin typeface="Avenir Book"/>
                <a:ea typeface="+mn-lt"/>
                <a:cs typeface="+mn-lt"/>
              </a:rPr>
              <a:t> left, top, bottom, right</a:t>
            </a:r>
            <a:endParaRPr lang="en-US">
              <a:latin typeface="Avenir Book"/>
            </a:endParaRPr>
          </a:p>
        </p:txBody>
      </p:sp>
      <p:sp>
        <p:nvSpPr>
          <p:cNvPr id="10" name="TextBox 9">
            <a:extLst>
              <a:ext uri="{FF2B5EF4-FFF2-40B4-BE49-F238E27FC236}">
                <a16:creationId xmlns:a16="http://schemas.microsoft.com/office/drawing/2014/main" id="{1B045177-14B6-A2BE-C6E3-4C31FFD36591}"/>
              </a:ext>
            </a:extLst>
          </p:cNvPr>
          <p:cNvSpPr txBox="1"/>
          <p:nvPr/>
        </p:nvSpPr>
        <p:spPr>
          <a:xfrm>
            <a:off x="7301023" y="9649045"/>
            <a:ext cx="332799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latin typeface="Avenir Book"/>
                <a:ea typeface="+mn-lt"/>
                <a:cs typeface="+mn-lt"/>
              </a:rPr>
              <a:t>Left, top, bottom, right</a:t>
            </a:r>
            <a:endParaRPr lang="en-US">
              <a:latin typeface="Avenir Book"/>
            </a:endParaRPr>
          </a:p>
        </p:txBody>
      </p:sp>
    </p:spTree>
    <p:extLst>
      <p:ext uri="{BB962C8B-B14F-4D97-AF65-F5344CB8AC3E}">
        <p14:creationId xmlns:p14="http://schemas.microsoft.com/office/powerpoint/2010/main" val="1587311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5" name="TextBox 35"/>
          <p:cNvSpPr txBox="1"/>
          <p:nvPr/>
        </p:nvSpPr>
        <p:spPr>
          <a:xfrm>
            <a:off x="1635416" y="4415860"/>
            <a:ext cx="17196400" cy="1474763"/>
          </a:xfrm>
          <a:prstGeom prst="rect">
            <a:avLst/>
          </a:prstGeom>
        </p:spPr>
        <p:txBody>
          <a:bodyPr wrap="square" lIns="0" tIns="0" rIns="0" bIns="0" rtlCol="0" anchor="t">
            <a:spAutoFit/>
          </a:bodyPr>
          <a:lstStyle/>
          <a:p>
            <a:pPr algn="l">
              <a:lnSpc>
                <a:spcPts val="11540"/>
              </a:lnSpc>
              <a:spcBef>
                <a:spcPct val="0"/>
              </a:spcBef>
            </a:pPr>
            <a:r>
              <a:rPr lang="en-US" sz="9600" b="1">
                <a:solidFill>
                  <a:srgbClr val="191919"/>
                </a:solidFill>
                <a:latin typeface="Avenir Book"/>
                <a:ea typeface="Gotham Bold"/>
                <a:cs typeface="Gotham Bold"/>
                <a:sym typeface="Gotham Bold"/>
              </a:rPr>
              <a:t>Act III : The Resurrection</a:t>
            </a:r>
            <a:endParaRPr lang="en-US" sz="9600" b="1">
              <a:solidFill>
                <a:srgbClr val="191919"/>
              </a:solidFill>
              <a:latin typeface="Avenir Book"/>
              <a:ea typeface="Gotham Bold"/>
              <a:cs typeface="Gotham Bold"/>
            </a:endParaRPr>
          </a:p>
        </p:txBody>
      </p:sp>
      <p:grpSp>
        <p:nvGrpSpPr>
          <p:cNvPr id="43" name="Group 43"/>
          <p:cNvGrpSpPr/>
          <p:nvPr/>
        </p:nvGrpSpPr>
        <p:grpSpPr>
          <a:xfrm>
            <a:off x="12796966" y="5442609"/>
            <a:ext cx="10994424" cy="10994424"/>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15204">
                  <a:alpha val="11765"/>
                </a:srgbClr>
              </a:solidFill>
              <a:prstDash val="solid"/>
              <a:miter/>
            </a:ln>
          </p:spPr>
          <p:txBody>
            <a:bodyPr/>
            <a:lstStyle/>
            <a:p>
              <a:endParaRPr lang="en-US"/>
            </a:p>
          </p:txBody>
        </p:sp>
        <p:sp>
          <p:nvSpPr>
            <p:cNvPr id="45" name="TextBox 45"/>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F358EB3-D50D-755D-5B15-2F0BA4DAB52B}"/>
            </a:ext>
          </a:extLst>
        </p:cNvPr>
        <p:cNvGrpSpPr/>
        <p:nvPr/>
      </p:nvGrpSpPr>
      <p:grpSpPr>
        <a:xfrm>
          <a:off x="0" y="0"/>
          <a:ext cx="0" cy="0"/>
          <a:chOff x="0" y="0"/>
          <a:chExt cx="0" cy="0"/>
        </a:xfrm>
      </p:grpSpPr>
      <p:sp>
        <p:nvSpPr>
          <p:cNvPr id="36" name="TextBox 36">
            <a:extLst>
              <a:ext uri="{FF2B5EF4-FFF2-40B4-BE49-F238E27FC236}">
                <a16:creationId xmlns:a16="http://schemas.microsoft.com/office/drawing/2014/main" id="{D6C68EA8-D0A2-D3C2-EE9F-CB9AE3ABE42E}"/>
              </a:ext>
            </a:extLst>
          </p:cNvPr>
          <p:cNvSpPr txBox="1"/>
          <p:nvPr/>
        </p:nvSpPr>
        <p:spPr>
          <a:xfrm>
            <a:off x="5645663" y="489214"/>
            <a:ext cx="6989101" cy="1269365"/>
          </a:xfrm>
          <a:prstGeom prst="rect">
            <a:avLst/>
          </a:prstGeom>
        </p:spPr>
        <p:txBody>
          <a:bodyPr lIns="0" tIns="0" rIns="0" bIns="0" rtlCol="0" anchor="t">
            <a:spAutoFit/>
          </a:bodyPr>
          <a:lstStyle/>
          <a:p>
            <a:pPr algn="ctr">
              <a:lnSpc>
                <a:spcPts val="10359"/>
              </a:lnSpc>
            </a:pPr>
            <a:r>
              <a:rPr lang="en-US" sz="7200" b="1">
                <a:solidFill>
                  <a:srgbClr val="191919"/>
                </a:solidFill>
                <a:latin typeface="Avenir Book"/>
                <a:ea typeface="Gotham Bold"/>
                <a:cs typeface="Gotham Bold"/>
                <a:sym typeface="Gotham Bold"/>
              </a:rPr>
              <a:t>Workflow</a:t>
            </a:r>
            <a:endParaRPr lang="zh-TW" altLang="en-US" sz="7200">
              <a:latin typeface="Avenir Book"/>
              <a:ea typeface="新細明體"/>
            </a:endParaRPr>
          </a:p>
        </p:txBody>
      </p:sp>
      <p:sp>
        <p:nvSpPr>
          <p:cNvPr id="38" name="TextBox 38">
            <a:extLst>
              <a:ext uri="{FF2B5EF4-FFF2-40B4-BE49-F238E27FC236}">
                <a16:creationId xmlns:a16="http://schemas.microsoft.com/office/drawing/2014/main" id="{8A7E2953-3C16-9CFE-BA3E-7FEABADD9A66}"/>
              </a:ext>
            </a:extLst>
          </p:cNvPr>
          <p:cNvSpPr txBox="1"/>
          <p:nvPr/>
        </p:nvSpPr>
        <p:spPr>
          <a:xfrm>
            <a:off x="2454644" y="4518226"/>
            <a:ext cx="11168283" cy="985398"/>
          </a:xfrm>
          <a:prstGeom prst="rect">
            <a:avLst/>
          </a:prstGeom>
        </p:spPr>
        <p:txBody>
          <a:bodyPr wrap="square" lIns="0" tIns="0" rIns="0" bIns="0" rtlCol="0" anchor="t">
            <a:spAutoFit/>
          </a:bodyPr>
          <a:lstStyle/>
          <a:p>
            <a:pPr algn="l">
              <a:lnSpc>
                <a:spcPts val="3990"/>
              </a:lnSpc>
            </a:pPr>
            <a:endParaRPr lang="en-US" sz="2850">
              <a:solidFill>
                <a:srgbClr val="191919"/>
              </a:solidFill>
              <a:latin typeface="Gotham"/>
              <a:ea typeface="Gotham"/>
              <a:cs typeface="Gotham"/>
              <a:sym typeface="Gotham"/>
            </a:endParaRPr>
          </a:p>
          <a:p>
            <a:pPr algn="l">
              <a:lnSpc>
                <a:spcPts val="3990"/>
              </a:lnSpc>
            </a:pPr>
            <a:endParaRPr lang="en-US" sz="2850">
              <a:solidFill>
                <a:srgbClr val="191919"/>
              </a:solidFill>
              <a:latin typeface="Gotham"/>
              <a:ea typeface="Gotham"/>
              <a:cs typeface="Gotham"/>
              <a:sym typeface="Gotham"/>
            </a:endParaRPr>
          </a:p>
        </p:txBody>
      </p:sp>
      <p:pic>
        <p:nvPicPr>
          <p:cNvPr id="2" name="Picture 2" descr="A diagram of a model&#10;&#10;Description automatically generated">
            <a:extLst>
              <a:ext uri="{FF2B5EF4-FFF2-40B4-BE49-F238E27FC236}">
                <a16:creationId xmlns:a16="http://schemas.microsoft.com/office/drawing/2014/main" id="{12A8CA26-A71E-45A8-E255-0D405B1ACAC8}"/>
              </a:ext>
            </a:extLst>
          </p:cNvPr>
          <p:cNvPicPr>
            <a:picLocks noChangeAspect="1" noChangeArrowheads="1"/>
          </p:cNvPicPr>
          <p:nvPr/>
        </p:nvPicPr>
        <p:blipFill>
          <a:blip r:embed="rId3"/>
          <a:srcRect l="3811" r="-54"/>
          <a:stretch/>
        </p:blipFill>
        <p:spPr bwMode="auto">
          <a:xfrm>
            <a:off x="0" y="2016452"/>
            <a:ext cx="18076463" cy="8270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4639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ocument with numbers and text&#10;&#10;Description automatically generated">
            <a:extLst>
              <a:ext uri="{FF2B5EF4-FFF2-40B4-BE49-F238E27FC236}">
                <a16:creationId xmlns:a16="http://schemas.microsoft.com/office/drawing/2014/main" id="{082223CF-3DCF-C145-3CC4-D723F75FAE35}"/>
              </a:ext>
            </a:extLst>
          </p:cNvPr>
          <p:cNvPicPr>
            <a:picLocks noChangeAspect="1"/>
          </p:cNvPicPr>
          <p:nvPr/>
        </p:nvPicPr>
        <p:blipFill>
          <a:blip r:embed="rId2"/>
          <a:srcRect t="6343"/>
          <a:stretch/>
        </p:blipFill>
        <p:spPr>
          <a:xfrm>
            <a:off x="1120841" y="1678977"/>
            <a:ext cx="5868719" cy="7712946"/>
          </a:xfrm>
          <a:prstGeom prst="rect">
            <a:avLst/>
          </a:prstGeom>
          <a:ln>
            <a:noFill/>
          </a:ln>
          <a:effectLst>
            <a:outerShdw blurRad="190500" algn="tl" rotWithShape="0">
              <a:srgbClr val="000000">
                <a:alpha val="70000"/>
              </a:srgbClr>
            </a:outerShdw>
          </a:effectLst>
        </p:spPr>
      </p:pic>
      <p:sp>
        <p:nvSpPr>
          <p:cNvPr id="22" name="Arrow: Right 21">
            <a:extLst>
              <a:ext uri="{FF2B5EF4-FFF2-40B4-BE49-F238E27FC236}">
                <a16:creationId xmlns:a16="http://schemas.microsoft.com/office/drawing/2014/main" id="{D5120370-C0AE-CA72-EC8C-BAF7EF6C8E17}"/>
              </a:ext>
            </a:extLst>
          </p:cNvPr>
          <p:cNvSpPr/>
          <p:nvPr/>
        </p:nvSpPr>
        <p:spPr>
          <a:xfrm>
            <a:off x="7541873" y="4881232"/>
            <a:ext cx="2978524" cy="1294699"/>
          </a:xfrm>
          <a:prstGeom prst="rightArrow">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ea typeface="Calibri"/>
              <a:cs typeface="Calibri"/>
            </a:endParaRPr>
          </a:p>
        </p:txBody>
      </p:sp>
      <p:pic>
        <p:nvPicPr>
          <p:cNvPr id="2" name="Picture 1" descr="A document with text and numbers&#10;&#10;Description automatically generated">
            <a:extLst>
              <a:ext uri="{FF2B5EF4-FFF2-40B4-BE49-F238E27FC236}">
                <a16:creationId xmlns:a16="http://schemas.microsoft.com/office/drawing/2014/main" id="{4EED0EAF-2739-2A49-E1A2-303159ACB0C2}"/>
              </a:ext>
            </a:extLst>
          </p:cNvPr>
          <p:cNvPicPr>
            <a:picLocks noChangeAspect="1"/>
          </p:cNvPicPr>
          <p:nvPr/>
        </p:nvPicPr>
        <p:blipFill>
          <a:blip r:embed="rId3"/>
          <a:srcRect l="1685" t="4680" r="2388"/>
          <a:stretch/>
        </p:blipFill>
        <p:spPr>
          <a:xfrm>
            <a:off x="11103877" y="1684466"/>
            <a:ext cx="5933152" cy="7699953"/>
          </a:xfrm>
          <a:prstGeom prst="rect">
            <a:avLst/>
          </a:prstGeom>
          <a:ln>
            <a:noFill/>
          </a:ln>
          <a:effectLst>
            <a:outerShdw blurRad="190500" algn="tl" rotWithShape="0">
              <a:srgbClr val="000000">
                <a:alpha val="70000"/>
              </a:srgbClr>
            </a:outerShdw>
          </a:effectLst>
        </p:spPr>
      </p:pic>
      <p:sp>
        <p:nvSpPr>
          <p:cNvPr id="4" name="TextBox 3">
            <a:extLst>
              <a:ext uri="{FF2B5EF4-FFF2-40B4-BE49-F238E27FC236}">
                <a16:creationId xmlns:a16="http://schemas.microsoft.com/office/drawing/2014/main" id="{2B94DE36-DE4C-9F49-D29D-4B1B4E1B8613}"/>
              </a:ext>
            </a:extLst>
          </p:cNvPr>
          <p:cNvSpPr txBox="1"/>
          <p:nvPr/>
        </p:nvSpPr>
        <p:spPr>
          <a:xfrm>
            <a:off x="2987714" y="291800"/>
            <a:ext cx="12855916" cy="120032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7200" b="1">
                <a:latin typeface="Avenir Book"/>
                <a:ea typeface="Calibri"/>
                <a:cs typeface="Calibri"/>
              </a:rPr>
              <a:t>Results and Statistics</a:t>
            </a:r>
            <a:endParaRPr lang="en-US" sz="7200" b="1">
              <a:latin typeface="Avenir Book"/>
            </a:endParaRPr>
          </a:p>
        </p:txBody>
      </p:sp>
    </p:spTree>
    <p:extLst>
      <p:ext uri="{BB962C8B-B14F-4D97-AF65-F5344CB8AC3E}">
        <p14:creationId xmlns:p14="http://schemas.microsoft.com/office/powerpoint/2010/main" val="3248769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5260904-9561-FD6D-C988-14D724BE6F26}"/>
              </a:ext>
            </a:extLst>
          </p:cNvPr>
          <p:cNvSpPr txBox="1"/>
          <p:nvPr/>
        </p:nvSpPr>
        <p:spPr>
          <a:xfrm>
            <a:off x="489168" y="956794"/>
            <a:ext cx="826037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solidFill>
                  <a:srgbClr val="FF0000"/>
                </a:solidFill>
                <a:latin typeface="Avenir Book"/>
                <a:ea typeface="Calibri"/>
                <a:cs typeface="Calibri"/>
              </a:rPr>
              <a:t>Invoice Per-field Statistics:</a:t>
            </a:r>
          </a:p>
        </p:txBody>
      </p:sp>
      <p:sp>
        <p:nvSpPr>
          <p:cNvPr id="21" name="TextBox 20">
            <a:extLst>
              <a:ext uri="{FF2B5EF4-FFF2-40B4-BE49-F238E27FC236}">
                <a16:creationId xmlns:a16="http://schemas.microsoft.com/office/drawing/2014/main" id="{5A2808CB-33A6-F687-FAD7-E719704312E9}"/>
              </a:ext>
            </a:extLst>
          </p:cNvPr>
          <p:cNvSpPr txBox="1"/>
          <p:nvPr/>
        </p:nvSpPr>
        <p:spPr>
          <a:xfrm>
            <a:off x="10918902" y="2751949"/>
            <a:ext cx="7115106" cy="83407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FF0000"/>
                </a:solidFill>
                <a:latin typeface="Avenir Book"/>
                <a:cs typeface="Segoe UI"/>
              </a:rPr>
              <a:t>CONCLUSION:​</a:t>
            </a:r>
          </a:p>
          <a:p>
            <a:pPr algn="just"/>
            <a:endParaRPr lang="en-US" sz="2400">
              <a:solidFill>
                <a:srgbClr val="FF0000"/>
              </a:solidFill>
              <a:latin typeface="Avenir Book"/>
              <a:cs typeface="Segoe UI"/>
            </a:endParaRPr>
          </a:p>
          <a:p>
            <a:pPr marL="285750" indent="-285750" algn="just">
              <a:buFont typeface="Arial"/>
              <a:buChar char="•"/>
            </a:pPr>
            <a:r>
              <a:rPr lang="en-US" sz="2400">
                <a:solidFill>
                  <a:srgbClr val="272B30"/>
                </a:solidFill>
                <a:latin typeface="Avenir Book"/>
                <a:cs typeface="Arial"/>
              </a:rPr>
              <a:t>All the green highlighted fields are the fields that have higher accuracies while red highlighted fields need improvement.</a:t>
            </a:r>
          </a:p>
          <a:p>
            <a:pPr algn="just"/>
            <a:endParaRPr lang="en-US" sz="2400">
              <a:solidFill>
                <a:srgbClr val="272B30"/>
              </a:solidFill>
              <a:latin typeface="Avenir Book"/>
              <a:ea typeface="Calibri"/>
              <a:cs typeface="Arial"/>
            </a:endParaRPr>
          </a:p>
          <a:p>
            <a:pPr marL="285750" indent="-285750" algn="just">
              <a:buFont typeface="Arial"/>
              <a:buChar char="•"/>
            </a:pPr>
            <a:r>
              <a:rPr lang="en-US" sz="2400">
                <a:solidFill>
                  <a:srgbClr val="272B30"/>
                </a:solidFill>
                <a:latin typeface="Avenir Book"/>
                <a:ea typeface="Calibri"/>
                <a:cs typeface="Arial"/>
              </a:rPr>
              <a:t>Fields such as </a:t>
            </a:r>
            <a:r>
              <a:rPr lang="en-US" sz="2400" b="1" err="1">
                <a:solidFill>
                  <a:srgbClr val="272B30"/>
                </a:solidFill>
                <a:latin typeface="Avenir Book"/>
                <a:ea typeface="Calibri"/>
                <a:cs typeface="Arial"/>
              </a:rPr>
              <a:t>tax_amount</a:t>
            </a:r>
            <a:r>
              <a:rPr lang="en-US" sz="2400" b="1">
                <a:solidFill>
                  <a:srgbClr val="272B30"/>
                </a:solidFill>
                <a:latin typeface="Avenir Book"/>
                <a:ea typeface="Calibri"/>
                <a:cs typeface="Arial"/>
              </a:rPr>
              <a:t> </a:t>
            </a:r>
            <a:r>
              <a:rPr lang="en-US" sz="2400">
                <a:solidFill>
                  <a:srgbClr val="272B30"/>
                </a:solidFill>
                <a:latin typeface="Avenir Book"/>
                <a:ea typeface="Calibri"/>
                <a:cs typeface="Arial"/>
              </a:rPr>
              <a:t>and </a:t>
            </a:r>
            <a:r>
              <a:rPr lang="en-US" sz="2400" b="1" err="1">
                <a:solidFill>
                  <a:srgbClr val="272B30"/>
                </a:solidFill>
                <a:latin typeface="Avenir Book"/>
                <a:ea typeface="Calibri"/>
                <a:cs typeface="Arial"/>
              </a:rPr>
              <a:t>invoiced_to</a:t>
            </a:r>
            <a:r>
              <a:rPr lang="en-US" sz="2400" b="1">
                <a:solidFill>
                  <a:srgbClr val="272B30"/>
                </a:solidFill>
                <a:latin typeface="Avenir Book"/>
                <a:ea typeface="Calibri"/>
                <a:cs typeface="Arial"/>
              </a:rPr>
              <a:t> </a:t>
            </a:r>
            <a:r>
              <a:rPr lang="en-US" sz="2400">
                <a:solidFill>
                  <a:srgbClr val="272B30"/>
                </a:solidFill>
                <a:latin typeface="Avenir Book"/>
                <a:ea typeface="Calibri"/>
                <a:cs typeface="Arial"/>
              </a:rPr>
              <a:t>need to be improved.</a:t>
            </a:r>
          </a:p>
          <a:p>
            <a:pPr marL="285750" indent="-285750" algn="just">
              <a:buFont typeface="Arial"/>
              <a:buChar char="•"/>
            </a:pPr>
            <a:endParaRPr lang="en-US" sz="2400">
              <a:solidFill>
                <a:srgbClr val="272B30"/>
              </a:solidFill>
              <a:latin typeface="Avenir Book"/>
              <a:ea typeface="+mn-lt"/>
              <a:cs typeface="Arial"/>
            </a:endParaRPr>
          </a:p>
          <a:p>
            <a:pPr marL="285750" indent="-285750" algn="just">
              <a:buFont typeface="Arial"/>
              <a:buChar char="•"/>
            </a:pPr>
            <a:r>
              <a:rPr lang="en-US" sz="2400">
                <a:solidFill>
                  <a:srgbClr val="272B30"/>
                </a:solidFill>
                <a:latin typeface="Avenir Book"/>
                <a:ea typeface="+mn-lt"/>
                <a:cs typeface="+mn-lt"/>
              </a:rPr>
              <a:t>The model demonstrates strong performance with an </a:t>
            </a:r>
            <a:r>
              <a:rPr lang="en-US" sz="2400" b="1">
                <a:solidFill>
                  <a:srgbClr val="272B30"/>
                </a:solidFill>
                <a:latin typeface="Avenir Book"/>
                <a:ea typeface="+mn-lt"/>
                <a:cs typeface="+mn-lt"/>
              </a:rPr>
              <a:t>F1 score of 0.80</a:t>
            </a:r>
            <a:r>
              <a:rPr lang="en-US" sz="2400">
                <a:solidFill>
                  <a:srgbClr val="272B30"/>
                </a:solidFill>
                <a:latin typeface="Avenir Book"/>
                <a:ea typeface="+mn-lt"/>
                <a:cs typeface="+mn-lt"/>
              </a:rPr>
              <a:t>, balancing </a:t>
            </a:r>
            <a:r>
              <a:rPr lang="en-US" sz="2400" b="1">
                <a:solidFill>
                  <a:srgbClr val="272B30"/>
                </a:solidFill>
                <a:latin typeface="Avenir Book"/>
                <a:ea typeface="+mn-lt"/>
                <a:cs typeface="+mn-lt"/>
              </a:rPr>
              <a:t>high precision (0.81)</a:t>
            </a:r>
            <a:r>
              <a:rPr lang="en-US" sz="2400">
                <a:solidFill>
                  <a:srgbClr val="272B30"/>
                </a:solidFill>
                <a:latin typeface="Avenir Book"/>
                <a:ea typeface="+mn-lt"/>
                <a:cs typeface="+mn-lt"/>
              </a:rPr>
              <a:t> and </a:t>
            </a:r>
            <a:r>
              <a:rPr lang="en-US" sz="2400" b="1">
                <a:solidFill>
                  <a:srgbClr val="272B30"/>
                </a:solidFill>
                <a:latin typeface="Avenir Book"/>
                <a:ea typeface="+mn-lt"/>
                <a:cs typeface="+mn-lt"/>
              </a:rPr>
              <a:t>solid recall (0.79)</a:t>
            </a:r>
            <a:r>
              <a:rPr lang="en-US" sz="2400">
                <a:solidFill>
                  <a:srgbClr val="272B30"/>
                </a:solidFill>
                <a:latin typeface="Avenir Book"/>
                <a:ea typeface="+mn-lt"/>
                <a:cs typeface="+mn-lt"/>
              </a:rPr>
              <a:t> in extracting structured information from invoices across 370 ground truth relationships. While reliable, the slight gap between precision and recall suggests opportunities to improve detection of subtle or missed relationships.</a:t>
            </a:r>
          </a:p>
          <a:p>
            <a:pPr marL="285750" indent="-285750">
              <a:buFont typeface="Arial"/>
              <a:buChar char="•"/>
            </a:pPr>
            <a:endParaRPr lang="en-US" sz="2400">
              <a:solidFill>
                <a:srgbClr val="272B30"/>
              </a:solidFill>
              <a:latin typeface="Avenir Book"/>
              <a:ea typeface="Calibri"/>
              <a:cs typeface="Arial"/>
            </a:endParaRPr>
          </a:p>
          <a:p>
            <a:pPr marL="285750" indent="-285750">
              <a:buFont typeface="Arial"/>
              <a:buChar char="•"/>
            </a:pPr>
            <a:endParaRPr lang="en-US" sz="2400">
              <a:solidFill>
                <a:srgbClr val="272B30"/>
              </a:solidFill>
              <a:latin typeface="Avenir Book"/>
              <a:ea typeface="Calibri"/>
              <a:cs typeface="Arial"/>
            </a:endParaRPr>
          </a:p>
          <a:p>
            <a:pPr marL="285750" indent="-285750">
              <a:buFont typeface="Arial"/>
              <a:buChar char="•"/>
            </a:pPr>
            <a:endParaRPr lang="en-US" sz="2400">
              <a:solidFill>
                <a:srgbClr val="272B30"/>
              </a:solidFill>
              <a:latin typeface="Consolas"/>
              <a:ea typeface="Calibri"/>
              <a:cs typeface="Arial"/>
            </a:endParaRPr>
          </a:p>
          <a:p>
            <a:endParaRPr lang="en-US" sz="2400">
              <a:solidFill>
                <a:srgbClr val="000000"/>
              </a:solidFill>
              <a:latin typeface="Avenir Book"/>
              <a:ea typeface="Calibri"/>
              <a:cs typeface="Arial"/>
            </a:endParaRPr>
          </a:p>
          <a:p>
            <a:endParaRPr lang="en-US" sz="2400">
              <a:solidFill>
                <a:srgbClr val="000000"/>
              </a:solidFill>
              <a:latin typeface="Avenir Book"/>
              <a:ea typeface="Calibri"/>
              <a:cs typeface="Arial"/>
            </a:endParaRPr>
          </a:p>
          <a:p>
            <a:pPr marL="285750" indent="-285750">
              <a:buFont typeface="Arial,Sans-Serif"/>
              <a:buChar char="•"/>
            </a:pPr>
            <a:endParaRPr lang="en-US" sz="2400">
              <a:solidFill>
                <a:srgbClr val="272B30"/>
              </a:solidFill>
              <a:latin typeface="Avenir Book"/>
              <a:cs typeface="Arial"/>
            </a:endParaRPr>
          </a:p>
        </p:txBody>
      </p:sp>
      <p:graphicFrame>
        <p:nvGraphicFramePr>
          <p:cNvPr id="15" name="Table 14">
            <a:extLst>
              <a:ext uri="{FF2B5EF4-FFF2-40B4-BE49-F238E27FC236}">
                <a16:creationId xmlns:a16="http://schemas.microsoft.com/office/drawing/2014/main" id="{9667335D-3952-7A37-910D-5764E6F6E0A8}"/>
              </a:ext>
            </a:extLst>
          </p:cNvPr>
          <p:cNvGraphicFramePr>
            <a:graphicFrameLocks noGrp="1"/>
          </p:cNvGraphicFramePr>
          <p:nvPr>
            <p:extLst>
              <p:ext uri="{D42A27DB-BD31-4B8C-83A1-F6EECF244321}">
                <p14:modId xmlns:p14="http://schemas.microsoft.com/office/powerpoint/2010/main" val="3151829952"/>
              </p:ext>
            </p:extLst>
          </p:nvPr>
        </p:nvGraphicFramePr>
        <p:xfrm>
          <a:off x="449420" y="1797651"/>
          <a:ext cx="10266603" cy="5572676"/>
        </p:xfrm>
        <a:graphic>
          <a:graphicData uri="http://schemas.openxmlformats.org/drawingml/2006/table">
            <a:tbl>
              <a:tblPr bandRow="1">
                <a:tableStyleId>{5C22544A-7EE6-4342-B048-85BDC9FD1C3A}</a:tableStyleId>
              </a:tblPr>
              <a:tblGrid>
                <a:gridCol w="2490864">
                  <a:extLst>
                    <a:ext uri="{9D8B030D-6E8A-4147-A177-3AD203B41FA5}">
                      <a16:colId xmlns:a16="http://schemas.microsoft.com/office/drawing/2014/main" val="2474689025"/>
                    </a:ext>
                  </a:extLst>
                </a:gridCol>
                <a:gridCol w="1980716">
                  <a:extLst>
                    <a:ext uri="{9D8B030D-6E8A-4147-A177-3AD203B41FA5}">
                      <a16:colId xmlns:a16="http://schemas.microsoft.com/office/drawing/2014/main" val="3488375454"/>
                    </a:ext>
                  </a:extLst>
                </a:gridCol>
                <a:gridCol w="2243574">
                  <a:extLst>
                    <a:ext uri="{9D8B030D-6E8A-4147-A177-3AD203B41FA5}">
                      <a16:colId xmlns:a16="http://schemas.microsoft.com/office/drawing/2014/main" val="105084348"/>
                    </a:ext>
                  </a:extLst>
                </a:gridCol>
                <a:gridCol w="1597828">
                  <a:extLst>
                    <a:ext uri="{9D8B030D-6E8A-4147-A177-3AD203B41FA5}">
                      <a16:colId xmlns:a16="http://schemas.microsoft.com/office/drawing/2014/main" val="1291715816"/>
                    </a:ext>
                  </a:extLst>
                </a:gridCol>
                <a:gridCol w="1953621">
                  <a:extLst>
                    <a:ext uri="{9D8B030D-6E8A-4147-A177-3AD203B41FA5}">
                      <a16:colId xmlns:a16="http://schemas.microsoft.com/office/drawing/2014/main" val="1328283961"/>
                    </a:ext>
                  </a:extLst>
                </a:gridCol>
              </a:tblGrid>
              <a:tr h="495299">
                <a:tc>
                  <a:txBody>
                    <a:bodyPr/>
                    <a:lstStyle/>
                    <a:p>
                      <a:pPr algn="ctr" fontAlgn="ctr"/>
                      <a:r>
                        <a:rPr lang="en-US" sz="2000" b="1" i="0" u="none" strike="noStrike">
                          <a:solidFill>
                            <a:srgbClr val="FFFFFF"/>
                          </a:solidFill>
                          <a:effectLst/>
                          <a:latin typeface="Avenir Book"/>
                        </a:rPr>
                        <a:t>FIELD</a:t>
                      </a:r>
                    </a:p>
                  </a:txBody>
                  <a:tcPr marL="9525" marR="9525" marT="9525" marB="0" anchor="ctr">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F6331E"/>
                    </a:solidFill>
                  </a:tcPr>
                </a:tc>
                <a:tc>
                  <a:txBody>
                    <a:bodyPr/>
                    <a:lstStyle/>
                    <a:p>
                      <a:pPr algn="ctr" fontAlgn="ctr"/>
                      <a:r>
                        <a:rPr lang="en-US" sz="2000" b="1" i="0" u="none" strike="noStrike">
                          <a:solidFill>
                            <a:srgbClr val="FFFFFF"/>
                          </a:solidFill>
                          <a:effectLst/>
                          <a:latin typeface="Avenir Book"/>
                        </a:rPr>
                        <a:t>PRECISION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F6331E"/>
                    </a:solidFill>
                  </a:tcPr>
                </a:tc>
                <a:tc>
                  <a:txBody>
                    <a:bodyPr/>
                    <a:lstStyle/>
                    <a:p>
                      <a:pPr algn="ctr" fontAlgn="ctr"/>
                      <a:r>
                        <a:rPr lang="en-US" sz="2000" b="1" i="0" u="none" strike="noStrike">
                          <a:solidFill>
                            <a:srgbClr val="FFFFFF"/>
                          </a:solidFill>
                          <a:effectLst/>
                          <a:latin typeface="Avenir Book"/>
                        </a:rPr>
                        <a:t>RECALL</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F6331E"/>
                    </a:solidFill>
                  </a:tcPr>
                </a:tc>
                <a:tc>
                  <a:txBody>
                    <a:bodyPr/>
                    <a:lstStyle/>
                    <a:p>
                      <a:pPr algn="ctr" fontAlgn="ctr"/>
                      <a:r>
                        <a:rPr lang="en-US" sz="2000" b="1" i="0" u="none" strike="noStrike">
                          <a:solidFill>
                            <a:srgbClr val="FFFFFF"/>
                          </a:solidFill>
                          <a:effectLst/>
                          <a:latin typeface="Avenir Book"/>
                        </a:rPr>
                        <a:t>F1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F6331E"/>
                    </a:solidFill>
                  </a:tcPr>
                </a:tc>
                <a:tc>
                  <a:txBody>
                    <a:bodyPr/>
                    <a:lstStyle/>
                    <a:p>
                      <a:pPr algn="ctr" fontAlgn="ctr"/>
                      <a:r>
                        <a:rPr lang="en-US" sz="2000" b="1" i="0" u="none" strike="noStrike">
                          <a:solidFill>
                            <a:srgbClr val="FFFFFF"/>
                          </a:solidFill>
                          <a:effectLst/>
                          <a:latin typeface="Avenir Book"/>
                        </a:rPr>
                        <a:t># of samples</a:t>
                      </a:r>
                    </a:p>
                  </a:txBody>
                  <a:tcPr marL="9525" marR="9525" marT="9525"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F6331E"/>
                    </a:solidFill>
                  </a:tcPr>
                </a:tc>
                <a:extLst>
                  <a:ext uri="{0D108BD9-81ED-4DB2-BD59-A6C34878D82A}">
                    <a16:rowId xmlns:a16="http://schemas.microsoft.com/office/drawing/2014/main" val="3326065025"/>
                  </a:ext>
                </a:extLst>
              </a:tr>
              <a:tr h="564153">
                <a:tc>
                  <a:txBody>
                    <a:bodyPr/>
                    <a:lstStyle/>
                    <a:p>
                      <a:pPr algn="ctr" fontAlgn="ctr"/>
                      <a:r>
                        <a:rPr lang="en-US" sz="2000" b="0" i="0" u="none" strike="noStrike">
                          <a:solidFill>
                            <a:srgbClr val="000000"/>
                          </a:solidFill>
                          <a:effectLst/>
                          <a:latin typeface="Avenir Book"/>
                        </a:rPr>
                        <a:t>invoice_date</a:t>
                      </a:r>
                      <a:endParaRPr lang="en-US" sz="2000" b="0" i="0" u="none" strike="noStrike" err="1">
                        <a:solidFill>
                          <a:srgbClr val="000000"/>
                        </a:solidFill>
                        <a:effectLst/>
                        <a:latin typeface="Avenir Book"/>
                      </a:endParaRP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B050"/>
                          </a:solidFill>
                          <a:effectLst/>
                          <a:latin typeface="Avenir Book"/>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49</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extLst>
                  <a:ext uri="{0D108BD9-81ED-4DB2-BD59-A6C34878D82A}">
                    <a16:rowId xmlns:a16="http://schemas.microsoft.com/office/drawing/2014/main" val="2800042859"/>
                  </a:ext>
                </a:extLst>
              </a:tr>
              <a:tr h="564153">
                <a:tc>
                  <a:txBody>
                    <a:bodyPr/>
                    <a:lstStyle/>
                    <a:p>
                      <a:pPr algn="ctr" fontAlgn="ctr"/>
                      <a:r>
                        <a:rPr lang="en-US" sz="2000" b="0" i="0" u="none" strike="noStrike">
                          <a:solidFill>
                            <a:srgbClr val="000000"/>
                          </a:solidFill>
                          <a:effectLst/>
                          <a:latin typeface="Avenir Book"/>
                        </a:rPr>
                        <a:t>price_per_item</a:t>
                      </a:r>
                      <a:endParaRPr lang="en-US" sz="2000" b="0" i="0" u="none" strike="noStrike" err="1">
                        <a:solidFill>
                          <a:srgbClr val="000000"/>
                        </a:solidFill>
                        <a:effectLst/>
                        <a:latin typeface="Avenir Book"/>
                      </a:endParaRP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90%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B050"/>
                          </a:solidFill>
                          <a:effectLst/>
                          <a:latin typeface="Avenir Book"/>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140</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extLst>
                  <a:ext uri="{0D108BD9-81ED-4DB2-BD59-A6C34878D82A}">
                    <a16:rowId xmlns:a16="http://schemas.microsoft.com/office/drawing/2014/main" val="1581755153"/>
                  </a:ext>
                </a:extLst>
              </a:tr>
              <a:tr h="564153">
                <a:tc>
                  <a:txBody>
                    <a:bodyPr/>
                    <a:lstStyle/>
                    <a:p>
                      <a:pPr algn="ctr" fontAlgn="ctr"/>
                      <a:r>
                        <a:rPr lang="en-US" sz="2000" b="0" i="0" u="none" strike="noStrike">
                          <a:solidFill>
                            <a:srgbClr val="000000"/>
                          </a:solidFill>
                          <a:effectLst/>
                          <a:latin typeface="Avenir Book"/>
                        </a:rPr>
                        <a:t>quantity_per_item</a:t>
                      </a:r>
                      <a:endParaRPr lang="en-US" sz="2000" b="0" i="0" u="none" strike="noStrike" err="1">
                        <a:solidFill>
                          <a:srgbClr val="000000"/>
                        </a:solidFill>
                        <a:effectLst/>
                        <a:latin typeface="Avenir Book"/>
                      </a:endParaRP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B050"/>
                          </a:solidFill>
                          <a:effectLst/>
                          <a:latin typeface="Avenir Book"/>
                        </a:rPr>
                        <a:t>90%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145</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extLst>
                  <a:ext uri="{0D108BD9-81ED-4DB2-BD59-A6C34878D82A}">
                    <a16:rowId xmlns:a16="http://schemas.microsoft.com/office/drawing/2014/main" val="3368002"/>
                  </a:ext>
                </a:extLst>
              </a:tr>
              <a:tr h="564153">
                <a:tc>
                  <a:txBody>
                    <a:bodyPr/>
                    <a:lstStyle/>
                    <a:p>
                      <a:pPr algn="ctr" fontAlgn="ctr"/>
                      <a:r>
                        <a:rPr lang="en-US" sz="2000" b="0" i="0" u="none" strike="noStrike">
                          <a:solidFill>
                            <a:srgbClr val="000000"/>
                          </a:solidFill>
                          <a:effectLst/>
                          <a:latin typeface="Avenir Book"/>
                        </a:rPr>
                        <a:t>invoice_number</a:t>
                      </a:r>
                      <a:endParaRPr lang="en-US" sz="2000" b="0" i="0" u="none" strike="noStrike" err="1">
                        <a:solidFill>
                          <a:srgbClr val="000000"/>
                        </a:solidFill>
                        <a:effectLst/>
                        <a:latin typeface="Avenir Book"/>
                      </a:endParaRP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82%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B050"/>
                          </a:solidFill>
                          <a:effectLst/>
                          <a:latin typeface="Avenir Book"/>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44</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extLst>
                  <a:ext uri="{0D108BD9-81ED-4DB2-BD59-A6C34878D82A}">
                    <a16:rowId xmlns:a16="http://schemas.microsoft.com/office/drawing/2014/main" val="3802346109"/>
                  </a:ext>
                </a:extLst>
              </a:tr>
              <a:tr h="564153">
                <a:tc>
                  <a:txBody>
                    <a:bodyPr/>
                    <a:lstStyle/>
                    <a:p>
                      <a:pPr algn="ctr" fontAlgn="ctr"/>
                      <a:r>
                        <a:rPr lang="en-US" sz="2000" b="0" i="0" u="none" strike="noStrike">
                          <a:solidFill>
                            <a:srgbClr val="000000"/>
                          </a:solidFill>
                          <a:effectLst/>
                          <a:latin typeface="Avenir Book"/>
                        </a:rPr>
                        <a:t>total_per_item</a:t>
                      </a:r>
                      <a:endParaRPr lang="en-US" sz="2000" b="0" i="0" u="none" strike="noStrike" err="1">
                        <a:solidFill>
                          <a:srgbClr val="000000"/>
                        </a:solidFill>
                        <a:effectLst/>
                        <a:latin typeface="Avenir Book"/>
                      </a:endParaRP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78%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82%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B050"/>
                          </a:solidFill>
                          <a:effectLst/>
                          <a:latin typeface="Avenir Book"/>
                        </a:rPr>
                        <a:t>80%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130</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extLst>
                  <a:ext uri="{0D108BD9-81ED-4DB2-BD59-A6C34878D82A}">
                    <a16:rowId xmlns:a16="http://schemas.microsoft.com/office/drawing/2014/main" val="429350626"/>
                  </a:ext>
                </a:extLst>
              </a:tr>
              <a:tr h="564153">
                <a:tc>
                  <a:txBody>
                    <a:bodyPr/>
                    <a:lstStyle/>
                    <a:p>
                      <a:pPr algn="ctr" fontAlgn="ctr"/>
                      <a:r>
                        <a:rPr lang="en-US" sz="2000" b="0" i="0" u="none" strike="noStrike">
                          <a:solidFill>
                            <a:srgbClr val="000000"/>
                          </a:solidFill>
                          <a:effectLst/>
                          <a:latin typeface="Avenir Book"/>
                        </a:rPr>
                        <a:t>grand_total</a:t>
                      </a:r>
                      <a:endParaRPr lang="en-US" sz="2000" b="0" i="0" u="none" strike="noStrike" err="1">
                        <a:solidFill>
                          <a:srgbClr val="000000"/>
                        </a:solidFill>
                        <a:effectLst/>
                        <a:latin typeface="Avenir Book"/>
                      </a:endParaRP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69%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67%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B050"/>
                          </a:solidFill>
                          <a:effectLst/>
                          <a:latin typeface="Avenir Book"/>
                        </a:rPr>
                        <a:t>68%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48</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extLst>
                  <a:ext uri="{0D108BD9-81ED-4DB2-BD59-A6C34878D82A}">
                    <a16:rowId xmlns:a16="http://schemas.microsoft.com/office/drawing/2014/main" val="2115022648"/>
                  </a:ext>
                </a:extLst>
              </a:tr>
              <a:tr h="564153">
                <a:tc>
                  <a:txBody>
                    <a:bodyPr/>
                    <a:lstStyle/>
                    <a:p>
                      <a:pPr algn="ctr" fontAlgn="ctr"/>
                      <a:r>
                        <a:rPr lang="en-US" sz="2000" b="0" i="0" u="none" strike="noStrike">
                          <a:solidFill>
                            <a:srgbClr val="000000"/>
                          </a:solidFill>
                          <a:effectLst/>
                          <a:latin typeface="Avenir Book"/>
                        </a:rPr>
                        <a:t>tax_amount</a:t>
                      </a:r>
                      <a:endParaRPr lang="en-US" sz="2000" b="0" i="0" u="none" strike="noStrike" err="1">
                        <a:solidFill>
                          <a:srgbClr val="000000"/>
                        </a:solidFill>
                        <a:effectLst/>
                        <a:latin typeface="Avenir Book"/>
                      </a:endParaRP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60%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54%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B050"/>
                          </a:solidFill>
                          <a:effectLst/>
                          <a:latin typeface="Avenir Book"/>
                        </a:rPr>
                        <a:t>57%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28</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extLst>
                  <a:ext uri="{0D108BD9-81ED-4DB2-BD59-A6C34878D82A}">
                    <a16:rowId xmlns:a16="http://schemas.microsoft.com/office/drawing/2014/main" val="4143612189"/>
                  </a:ext>
                </a:extLst>
              </a:tr>
              <a:tr h="564153">
                <a:tc>
                  <a:txBody>
                    <a:bodyPr/>
                    <a:lstStyle/>
                    <a:p>
                      <a:pPr algn="ctr" fontAlgn="ctr"/>
                      <a:r>
                        <a:rPr lang="en-US" sz="2000" b="0" i="0" u="none" strike="noStrike">
                          <a:solidFill>
                            <a:srgbClr val="000000"/>
                          </a:solidFill>
                          <a:effectLst/>
                          <a:latin typeface="Avenir Book"/>
                        </a:rPr>
                        <a:t>invoiced_to</a:t>
                      </a:r>
                      <a:endParaRPr lang="en-US" sz="2000" b="0" i="0" u="none" strike="noStrike" err="1">
                        <a:solidFill>
                          <a:srgbClr val="000000"/>
                        </a:solidFill>
                        <a:effectLst/>
                        <a:latin typeface="Avenir Book"/>
                      </a:endParaRP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45%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43%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FF0000"/>
                          </a:solidFill>
                          <a:effectLst/>
                          <a:latin typeface="Avenir Book"/>
                        </a:rPr>
                        <a:t>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47</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extLst>
                  <a:ext uri="{0D108BD9-81ED-4DB2-BD59-A6C34878D82A}">
                    <a16:rowId xmlns:a16="http://schemas.microsoft.com/office/drawing/2014/main" val="932132719"/>
                  </a:ext>
                </a:extLst>
              </a:tr>
              <a:tr h="564153">
                <a:tc>
                  <a:txBody>
                    <a:bodyPr/>
                    <a:lstStyle/>
                    <a:p>
                      <a:pPr algn="ctr" fontAlgn="ctr"/>
                      <a:r>
                        <a:rPr lang="en-US" sz="2000" b="0" i="0" u="none" strike="noStrike">
                          <a:solidFill>
                            <a:srgbClr val="000000"/>
                          </a:solidFill>
                          <a:effectLst/>
                          <a:latin typeface="Avenir Book"/>
                        </a:rPr>
                        <a:t>AVERAGE</a:t>
                      </a: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chemeClr val="bg1">
                        <a:lumMod val="85000"/>
                      </a:schemeClr>
                    </a:solidFill>
                  </a:tcPr>
                </a:tc>
                <a:tc>
                  <a:txBody>
                    <a:bodyPr/>
                    <a:lstStyle/>
                    <a:p>
                      <a:pPr algn="ctr" fontAlgn="ctr"/>
                      <a:r>
                        <a:rPr lang="en-US" sz="2000" b="0" i="0" u="none" strike="noStrike">
                          <a:solidFill>
                            <a:srgbClr val="000000"/>
                          </a:solidFill>
                          <a:effectLst/>
                          <a:latin typeface="Avenir Book"/>
                        </a:rPr>
                        <a:t>77%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chemeClr val="bg1">
                        <a:lumMod val="85000"/>
                      </a:schemeClr>
                    </a:solidFill>
                  </a:tcPr>
                </a:tc>
                <a:tc>
                  <a:txBody>
                    <a:bodyPr/>
                    <a:lstStyle/>
                    <a:p>
                      <a:pPr algn="ctr" fontAlgn="ctr"/>
                      <a:r>
                        <a:rPr lang="en-US" sz="2000" b="0" i="0" u="none" strike="noStrike">
                          <a:solidFill>
                            <a:srgbClr val="000000"/>
                          </a:solidFill>
                          <a:effectLst/>
                          <a:latin typeface="Avenir Book"/>
                        </a:rPr>
                        <a:t>76%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chemeClr val="bg1">
                        <a:lumMod val="85000"/>
                      </a:schemeClr>
                    </a:solidFill>
                  </a:tcPr>
                </a:tc>
                <a:tc>
                  <a:txBody>
                    <a:bodyPr/>
                    <a:lstStyle/>
                    <a:p>
                      <a:pPr algn="ctr" fontAlgn="ctr"/>
                      <a:r>
                        <a:rPr lang="en-US" sz="2000" b="0" i="0" u="none" strike="noStrike">
                          <a:solidFill>
                            <a:srgbClr val="000000"/>
                          </a:solidFill>
                          <a:effectLst/>
                          <a:latin typeface="Avenir Book"/>
                        </a:rPr>
                        <a:t>76%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chemeClr val="bg1">
                        <a:lumMod val="85000"/>
                      </a:schemeClr>
                    </a:solidFill>
                  </a:tcPr>
                </a:tc>
                <a:tc>
                  <a:txBody>
                    <a:bodyPr/>
                    <a:lstStyle/>
                    <a:p>
                      <a:pPr algn="ctr" fontAlgn="ctr"/>
                      <a:endParaRPr lang="en-US" sz="2000" b="0" i="0" u="none" strike="noStrike">
                        <a:solidFill>
                          <a:srgbClr val="000000"/>
                        </a:solidFill>
                        <a:effectLst/>
                        <a:latin typeface="Avenir Book"/>
                      </a:endParaRP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137141951"/>
                  </a:ext>
                </a:extLst>
              </a:tr>
            </a:tbl>
          </a:graphicData>
        </a:graphic>
      </p:graphicFrame>
      <p:grpSp>
        <p:nvGrpSpPr>
          <p:cNvPr id="20" name="Group 35">
            <a:extLst>
              <a:ext uri="{FF2B5EF4-FFF2-40B4-BE49-F238E27FC236}">
                <a16:creationId xmlns:a16="http://schemas.microsoft.com/office/drawing/2014/main" id="{5DC845EF-B4F7-8C23-528A-51A6C33172AE}"/>
              </a:ext>
            </a:extLst>
          </p:cNvPr>
          <p:cNvGrpSpPr/>
          <p:nvPr/>
        </p:nvGrpSpPr>
        <p:grpSpPr>
          <a:xfrm>
            <a:off x="14478499" y="-5909596"/>
            <a:ext cx="9990438" cy="9465276"/>
            <a:chOff x="0" y="0"/>
            <a:chExt cx="812800" cy="812800"/>
          </a:xfrm>
        </p:grpSpPr>
        <p:sp>
          <p:nvSpPr>
            <p:cNvPr id="18" name="Freeform 36">
              <a:extLst>
                <a:ext uri="{FF2B5EF4-FFF2-40B4-BE49-F238E27FC236}">
                  <a16:creationId xmlns:a16="http://schemas.microsoft.com/office/drawing/2014/main" id="{6A2B840F-54D5-0B9D-80CE-9BE81843FE6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15204">
                  <a:alpha val="11765"/>
                </a:srgbClr>
              </a:solidFill>
              <a:prstDash val="solid"/>
              <a:miter/>
            </a:ln>
          </p:spPr>
          <p:txBody>
            <a:bodyPr/>
            <a:lstStyle/>
            <a:p>
              <a:endParaRPr lang="en-US"/>
            </a:p>
          </p:txBody>
        </p:sp>
        <p:sp>
          <p:nvSpPr>
            <p:cNvPr id="19" name="TextBox 37">
              <a:extLst>
                <a:ext uri="{FF2B5EF4-FFF2-40B4-BE49-F238E27FC236}">
                  <a16:creationId xmlns:a16="http://schemas.microsoft.com/office/drawing/2014/main" id="{BFEDEEB6-E051-A8D1-AC78-D201FAD81065}"/>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aphicFrame>
        <p:nvGraphicFramePr>
          <p:cNvPr id="3" name="表格 16">
            <a:extLst>
              <a:ext uri="{FF2B5EF4-FFF2-40B4-BE49-F238E27FC236}">
                <a16:creationId xmlns:a16="http://schemas.microsoft.com/office/drawing/2014/main" id="{8571844B-95BA-68FD-2BBE-907CA1AEC3A5}"/>
              </a:ext>
            </a:extLst>
          </p:cNvPr>
          <p:cNvGraphicFramePr>
            <a:graphicFrameLocks noGrp="1"/>
          </p:cNvGraphicFramePr>
          <p:nvPr>
            <p:extLst>
              <p:ext uri="{D42A27DB-BD31-4B8C-83A1-F6EECF244321}">
                <p14:modId xmlns:p14="http://schemas.microsoft.com/office/powerpoint/2010/main" val="2460181267"/>
              </p:ext>
            </p:extLst>
          </p:nvPr>
        </p:nvGraphicFramePr>
        <p:xfrm>
          <a:off x="452774" y="8669011"/>
          <a:ext cx="10332513" cy="1142999"/>
        </p:xfrm>
        <a:graphic>
          <a:graphicData uri="http://schemas.openxmlformats.org/drawingml/2006/table">
            <a:tbl>
              <a:tblPr bandRow="1">
                <a:tableStyleId>{5C22544A-7EE6-4342-B048-85BDC9FD1C3A}</a:tableStyleId>
              </a:tblPr>
              <a:tblGrid>
                <a:gridCol w="2427185">
                  <a:extLst>
                    <a:ext uri="{9D8B030D-6E8A-4147-A177-3AD203B41FA5}">
                      <a16:colId xmlns:a16="http://schemas.microsoft.com/office/drawing/2014/main" val="2459942924"/>
                    </a:ext>
                  </a:extLst>
                </a:gridCol>
                <a:gridCol w="2221132">
                  <a:extLst>
                    <a:ext uri="{9D8B030D-6E8A-4147-A177-3AD203B41FA5}">
                      <a16:colId xmlns:a16="http://schemas.microsoft.com/office/drawing/2014/main" val="3640752407"/>
                    </a:ext>
                  </a:extLst>
                </a:gridCol>
                <a:gridCol w="2101724">
                  <a:extLst>
                    <a:ext uri="{9D8B030D-6E8A-4147-A177-3AD203B41FA5}">
                      <a16:colId xmlns:a16="http://schemas.microsoft.com/office/drawing/2014/main" val="2712099197"/>
                    </a:ext>
                  </a:extLst>
                </a:gridCol>
                <a:gridCol w="1576288">
                  <a:extLst>
                    <a:ext uri="{9D8B030D-6E8A-4147-A177-3AD203B41FA5}">
                      <a16:colId xmlns:a16="http://schemas.microsoft.com/office/drawing/2014/main" val="3437685523"/>
                    </a:ext>
                  </a:extLst>
                </a:gridCol>
                <a:gridCol w="2006184">
                  <a:extLst>
                    <a:ext uri="{9D8B030D-6E8A-4147-A177-3AD203B41FA5}">
                      <a16:colId xmlns:a16="http://schemas.microsoft.com/office/drawing/2014/main" val="3591512663"/>
                    </a:ext>
                  </a:extLst>
                </a:gridCol>
              </a:tblGrid>
              <a:tr h="489857">
                <a:tc>
                  <a:txBody>
                    <a:bodyPr/>
                    <a:lstStyle/>
                    <a:p>
                      <a:pPr algn="ctr" rtl="0" fontAlgn="base">
                        <a:lnSpc>
                          <a:spcPts val="1200"/>
                        </a:lnSpc>
                      </a:pPr>
                      <a:r>
                        <a:rPr lang="en-US" sz="2000" b="1">
                          <a:solidFill>
                            <a:srgbClr val="FFFFFF"/>
                          </a:solidFill>
                          <a:effectLst/>
                          <a:latin typeface="Avenir Book"/>
                        </a:rPr>
                        <a:t>Doc Type</a:t>
                      </a:r>
                    </a:p>
                  </a:txBody>
                  <a:tcPr marL="4763" marR="4763" marT="4763" anchor="ctr">
                    <a:lnL w="1270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331E"/>
                    </a:solidFill>
                  </a:tcPr>
                </a:tc>
                <a:tc>
                  <a:txBody>
                    <a:bodyPr/>
                    <a:lstStyle/>
                    <a:p>
                      <a:pPr lvl="0" algn="ctr">
                        <a:lnSpc>
                          <a:spcPts val="1200"/>
                        </a:lnSpc>
                        <a:buNone/>
                      </a:pPr>
                      <a:r>
                        <a:rPr lang="en-US" sz="2000" b="1">
                          <a:solidFill>
                            <a:srgbClr val="FFFFFF"/>
                          </a:solidFill>
                          <a:effectLst/>
                          <a:latin typeface="Avenir Book"/>
                        </a:rPr>
                        <a:t>PRECISION</a:t>
                      </a:r>
                      <a:endParaRPr lang="zh-TW" altLang="en-US"/>
                    </a:p>
                  </a:txBody>
                  <a:tcPr marL="4763" marR="4763" marT="476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331E"/>
                    </a:solidFill>
                  </a:tcPr>
                </a:tc>
                <a:tc>
                  <a:txBody>
                    <a:bodyPr/>
                    <a:lstStyle/>
                    <a:p>
                      <a:pPr lvl="0" algn="ctr">
                        <a:lnSpc>
                          <a:spcPts val="1200"/>
                        </a:lnSpc>
                        <a:buNone/>
                      </a:pPr>
                      <a:r>
                        <a:rPr lang="en-US" sz="2000" b="1">
                          <a:solidFill>
                            <a:srgbClr val="FFFFFF"/>
                          </a:solidFill>
                          <a:effectLst/>
                          <a:latin typeface="Avenir Book"/>
                        </a:rPr>
                        <a:t>RECALL</a:t>
                      </a:r>
                      <a:endParaRPr lang="zh-TW" altLang="en-US"/>
                    </a:p>
                  </a:txBody>
                  <a:tcPr marL="4763" marR="4763" marT="476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331E"/>
                    </a:solidFill>
                  </a:tcPr>
                </a:tc>
                <a:tc>
                  <a:txBody>
                    <a:bodyPr/>
                    <a:lstStyle/>
                    <a:p>
                      <a:pPr lvl="0" algn="ctr">
                        <a:lnSpc>
                          <a:spcPts val="1200"/>
                        </a:lnSpc>
                        <a:buNone/>
                      </a:pPr>
                      <a:r>
                        <a:rPr lang="en-US" sz="2000" b="1">
                          <a:solidFill>
                            <a:srgbClr val="FFFFFF"/>
                          </a:solidFill>
                          <a:effectLst/>
                          <a:latin typeface="Avenir Book"/>
                        </a:rPr>
                        <a:t>F1</a:t>
                      </a:r>
                      <a:endParaRPr lang="zh-TW" altLang="en-US"/>
                    </a:p>
                  </a:txBody>
                  <a:tcPr marL="4763" marR="4763" marT="476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331E"/>
                    </a:solidFill>
                  </a:tcPr>
                </a:tc>
                <a:tc>
                  <a:txBody>
                    <a:bodyPr/>
                    <a:lstStyle/>
                    <a:p>
                      <a:pPr lvl="0" algn="ctr">
                        <a:lnSpc>
                          <a:spcPts val="1200"/>
                        </a:lnSpc>
                        <a:buNone/>
                      </a:pPr>
                      <a:r>
                        <a:rPr lang="en-US" altLang="zh-TW" sz="2000" b="1">
                          <a:solidFill>
                            <a:srgbClr val="FFFFFF"/>
                          </a:solidFill>
                          <a:effectLst/>
                          <a:latin typeface="Avenir Book"/>
                        </a:rPr>
                        <a:t>Support</a:t>
                      </a:r>
                    </a:p>
                  </a:txBody>
                  <a:tcPr marL="4763" marR="4763" marT="4763" anchor="ctr">
                    <a:lnL w="952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331E"/>
                    </a:solidFill>
                  </a:tcPr>
                </a:tc>
                <a:extLst>
                  <a:ext uri="{0D108BD9-81ED-4DB2-BD59-A6C34878D82A}">
                    <a16:rowId xmlns:a16="http://schemas.microsoft.com/office/drawing/2014/main" val="3480206888"/>
                  </a:ext>
                </a:extLst>
              </a:tr>
              <a:tr h="653142">
                <a:tc>
                  <a:txBody>
                    <a:bodyPr/>
                    <a:lstStyle/>
                    <a:p>
                      <a:pPr algn="ctr" rtl="0" fontAlgn="base">
                        <a:lnSpc>
                          <a:spcPts val="1200"/>
                        </a:lnSpc>
                      </a:pPr>
                      <a:r>
                        <a:rPr lang="en-US" sz="2000">
                          <a:effectLst/>
                          <a:latin typeface="Avenir Book"/>
                        </a:rPr>
                        <a:t>Invoice</a:t>
                      </a:r>
                      <a:endParaRPr lang="en-US">
                        <a:effectLst/>
                      </a:endParaRPr>
                    </a:p>
                  </a:txBody>
                  <a:tcPr marL="4763" marR="4763" marT="4763" anchor="ctr">
                    <a:lnL w="1270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9E7"/>
                    </a:solidFill>
                  </a:tcPr>
                </a:tc>
                <a:tc>
                  <a:txBody>
                    <a:bodyPr/>
                    <a:lstStyle/>
                    <a:p>
                      <a:pPr algn="ctr" rtl="0" fontAlgn="base">
                        <a:lnSpc>
                          <a:spcPts val="1200"/>
                        </a:lnSpc>
                      </a:pPr>
                      <a:r>
                        <a:rPr lang="en-US" sz="2000">
                          <a:effectLst/>
                          <a:latin typeface="Avenir Book"/>
                        </a:rPr>
                        <a:t>81%</a:t>
                      </a:r>
                    </a:p>
                  </a:txBody>
                  <a:tcPr marL="4763" marR="4763" marT="476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9E7"/>
                    </a:solidFill>
                  </a:tcPr>
                </a:tc>
                <a:tc>
                  <a:txBody>
                    <a:bodyPr/>
                    <a:lstStyle/>
                    <a:p>
                      <a:pPr algn="ctr" rtl="0" fontAlgn="base">
                        <a:lnSpc>
                          <a:spcPts val="1200"/>
                        </a:lnSpc>
                      </a:pPr>
                      <a:r>
                        <a:rPr lang="en-US" sz="2000">
                          <a:effectLst/>
                          <a:latin typeface="Avenir Book"/>
                        </a:rPr>
                        <a:t>79%</a:t>
                      </a:r>
                    </a:p>
                  </a:txBody>
                  <a:tcPr marL="4763" marR="4763" marT="476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9E7"/>
                    </a:solidFill>
                  </a:tcPr>
                </a:tc>
                <a:tc>
                  <a:txBody>
                    <a:bodyPr/>
                    <a:lstStyle/>
                    <a:p>
                      <a:pPr algn="ctr" rtl="0" fontAlgn="base">
                        <a:lnSpc>
                          <a:spcPts val="1200"/>
                        </a:lnSpc>
                      </a:pPr>
                      <a:r>
                        <a:rPr lang="en-US" sz="2000">
                          <a:solidFill>
                            <a:schemeClr val="tx1"/>
                          </a:solidFill>
                          <a:effectLst/>
                          <a:latin typeface="Avenir Book"/>
                        </a:rPr>
                        <a:t>80%</a:t>
                      </a:r>
                      <a:endParaRPr lang="en-US">
                        <a:solidFill>
                          <a:schemeClr val="tx1"/>
                        </a:solidFill>
                        <a:effectLst/>
                      </a:endParaRPr>
                    </a:p>
                  </a:txBody>
                  <a:tcPr marL="4763" marR="4763" marT="476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9E7"/>
                    </a:solidFill>
                  </a:tcPr>
                </a:tc>
                <a:tc>
                  <a:txBody>
                    <a:bodyPr/>
                    <a:lstStyle/>
                    <a:p>
                      <a:pPr algn="ctr" rtl="0" fontAlgn="base">
                        <a:lnSpc>
                          <a:spcPts val="1200"/>
                        </a:lnSpc>
                      </a:pPr>
                      <a:r>
                        <a:rPr lang="en-US" sz="2000">
                          <a:effectLst/>
                          <a:latin typeface="Avenir Book"/>
                        </a:rPr>
                        <a:t>370</a:t>
                      </a:r>
                    </a:p>
                  </a:txBody>
                  <a:tcPr marL="4763" marR="4763" marT="4763" anchor="ctr">
                    <a:lnL w="952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9E7"/>
                    </a:solidFill>
                  </a:tcPr>
                </a:tc>
                <a:extLst>
                  <a:ext uri="{0D108BD9-81ED-4DB2-BD59-A6C34878D82A}">
                    <a16:rowId xmlns:a16="http://schemas.microsoft.com/office/drawing/2014/main" val="4056139418"/>
                  </a:ext>
                </a:extLst>
              </a:tr>
            </a:tbl>
          </a:graphicData>
        </a:graphic>
      </p:graphicFrame>
      <p:sp>
        <p:nvSpPr>
          <p:cNvPr id="4" name="TextBox 3">
            <a:extLst>
              <a:ext uri="{FF2B5EF4-FFF2-40B4-BE49-F238E27FC236}">
                <a16:creationId xmlns:a16="http://schemas.microsoft.com/office/drawing/2014/main" id="{733731B4-50DE-BC4C-C084-F8C391063100}"/>
              </a:ext>
            </a:extLst>
          </p:cNvPr>
          <p:cNvSpPr txBox="1"/>
          <p:nvPr/>
        </p:nvSpPr>
        <p:spPr>
          <a:xfrm>
            <a:off x="456719" y="7813121"/>
            <a:ext cx="663236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solidFill>
                  <a:srgbClr val="FF0000"/>
                </a:solidFill>
                <a:latin typeface="Avenir Book"/>
              </a:rPr>
              <a:t>Invoice Relational Statistics:</a:t>
            </a:r>
            <a:r>
              <a:rPr lang="en-US" sz="4000">
                <a:latin typeface="Avenir Book"/>
              </a:rPr>
              <a:t>​</a:t>
            </a:r>
            <a:endParaRPr lang="en-US"/>
          </a:p>
        </p:txBody>
      </p:sp>
    </p:spTree>
    <p:extLst>
      <p:ext uri="{BB962C8B-B14F-4D97-AF65-F5344CB8AC3E}">
        <p14:creationId xmlns:p14="http://schemas.microsoft.com/office/powerpoint/2010/main" val="3381124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56E2D5F-0F80-A6B3-E804-BA01FC2FA712}"/>
              </a:ext>
            </a:extLst>
          </p:cNvPr>
          <p:cNvGraphicFramePr>
            <a:graphicFrameLocks noGrp="1"/>
          </p:cNvGraphicFramePr>
          <p:nvPr>
            <p:extLst>
              <p:ext uri="{D42A27DB-BD31-4B8C-83A1-F6EECF244321}">
                <p14:modId xmlns:p14="http://schemas.microsoft.com/office/powerpoint/2010/main" val="2790357396"/>
              </p:ext>
            </p:extLst>
          </p:nvPr>
        </p:nvGraphicFramePr>
        <p:xfrm>
          <a:off x="593766" y="1766454"/>
          <a:ext cx="10035643" cy="5357112"/>
        </p:xfrm>
        <a:graphic>
          <a:graphicData uri="http://schemas.openxmlformats.org/drawingml/2006/table">
            <a:tbl>
              <a:tblPr bandRow="1">
                <a:tableStyleId>{5C22544A-7EE6-4342-B048-85BDC9FD1C3A}</a:tableStyleId>
              </a:tblPr>
              <a:tblGrid>
                <a:gridCol w="2357447">
                  <a:extLst>
                    <a:ext uri="{9D8B030D-6E8A-4147-A177-3AD203B41FA5}">
                      <a16:colId xmlns:a16="http://schemas.microsoft.com/office/drawing/2014/main" val="1420109044"/>
                    </a:ext>
                  </a:extLst>
                </a:gridCol>
                <a:gridCol w="2157317">
                  <a:extLst>
                    <a:ext uri="{9D8B030D-6E8A-4147-A177-3AD203B41FA5}">
                      <a16:colId xmlns:a16="http://schemas.microsoft.com/office/drawing/2014/main" val="1780133338"/>
                    </a:ext>
                  </a:extLst>
                </a:gridCol>
                <a:gridCol w="2041333">
                  <a:extLst>
                    <a:ext uri="{9D8B030D-6E8A-4147-A177-3AD203B41FA5}">
                      <a16:colId xmlns:a16="http://schemas.microsoft.com/office/drawing/2014/main" val="145072698"/>
                    </a:ext>
                  </a:extLst>
                </a:gridCol>
                <a:gridCol w="1531001">
                  <a:extLst>
                    <a:ext uri="{9D8B030D-6E8A-4147-A177-3AD203B41FA5}">
                      <a16:colId xmlns:a16="http://schemas.microsoft.com/office/drawing/2014/main" val="2801537446"/>
                    </a:ext>
                  </a:extLst>
                </a:gridCol>
                <a:gridCol w="1948545">
                  <a:extLst>
                    <a:ext uri="{9D8B030D-6E8A-4147-A177-3AD203B41FA5}">
                      <a16:colId xmlns:a16="http://schemas.microsoft.com/office/drawing/2014/main" val="2006494499"/>
                    </a:ext>
                  </a:extLst>
                </a:gridCol>
              </a:tblGrid>
              <a:tr h="451617">
                <a:tc>
                  <a:txBody>
                    <a:bodyPr/>
                    <a:lstStyle/>
                    <a:p>
                      <a:pPr algn="ctr" fontAlgn="ctr"/>
                      <a:r>
                        <a:rPr lang="en-US" sz="2000" b="1" i="0" u="none" strike="noStrike">
                          <a:solidFill>
                            <a:srgbClr val="FFFFFF"/>
                          </a:solidFill>
                          <a:effectLst/>
                          <a:latin typeface="Avenir Book"/>
                        </a:rPr>
                        <a:t>FIELD</a:t>
                      </a:r>
                    </a:p>
                  </a:txBody>
                  <a:tcPr marL="9525" marR="9525" marT="9525" marB="0" anchor="ctr">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F6331E"/>
                    </a:solidFill>
                  </a:tcPr>
                </a:tc>
                <a:tc>
                  <a:txBody>
                    <a:bodyPr/>
                    <a:lstStyle/>
                    <a:p>
                      <a:pPr algn="ctr" fontAlgn="b"/>
                      <a:r>
                        <a:rPr lang="en-US" sz="2000" b="1" i="0" u="none" strike="noStrike">
                          <a:solidFill>
                            <a:srgbClr val="FFFFFF"/>
                          </a:solidFill>
                          <a:effectLst/>
                          <a:latin typeface="Avenir Book"/>
                        </a:rPr>
                        <a:t>Baseline F1(A)</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F6331E"/>
                    </a:solidFill>
                  </a:tcPr>
                </a:tc>
                <a:tc>
                  <a:txBody>
                    <a:bodyPr/>
                    <a:lstStyle/>
                    <a:p>
                      <a:pPr algn="ctr" fontAlgn="ctr"/>
                      <a:r>
                        <a:rPr lang="en-US" sz="2000" b="1" i="0" u="none" strike="noStrike">
                          <a:solidFill>
                            <a:srgbClr val="FFFFFF"/>
                          </a:solidFill>
                          <a:effectLst/>
                          <a:latin typeface="Avenir Book"/>
                        </a:rPr>
                        <a:t>Current F1(B)</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F6331E"/>
                    </a:solidFill>
                  </a:tcPr>
                </a:tc>
                <a:tc>
                  <a:txBody>
                    <a:bodyPr/>
                    <a:lstStyle/>
                    <a:p>
                      <a:pPr algn="ctr" fontAlgn="ctr"/>
                      <a:r>
                        <a:rPr lang="en-US" sz="2000" b="1" i="0" u="none" strike="noStrike">
                          <a:solidFill>
                            <a:srgbClr val="FFFFFF"/>
                          </a:solidFill>
                          <a:effectLst/>
                          <a:latin typeface="Avenir Book"/>
                        </a:rPr>
                        <a:t>B-A</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F6331E"/>
                    </a:solidFill>
                  </a:tcPr>
                </a:tc>
                <a:tc>
                  <a:txBody>
                    <a:bodyPr/>
                    <a:lstStyle/>
                    <a:p>
                      <a:pPr algn="ctr" fontAlgn="ctr"/>
                      <a:r>
                        <a:rPr lang="en-US" sz="2000" b="1" i="0" u="none" strike="noStrike">
                          <a:solidFill>
                            <a:srgbClr val="FFFFFF"/>
                          </a:solidFill>
                          <a:effectLst/>
                          <a:latin typeface="Avenir Book"/>
                        </a:rPr>
                        <a:t># of samples</a:t>
                      </a:r>
                    </a:p>
                  </a:txBody>
                  <a:tcPr marL="9525" marR="9525" marT="9525"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F6331E"/>
                    </a:solidFill>
                  </a:tcPr>
                </a:tc>
                <a:extLst>
                  <a:ext uri="{0D108BD9-81ED-4DB2-BD59-A6C34878D82A}">
                    <a16:rowId xmlns:a16="http://schemas.microsoft.com/office/drawing/2014/main" val="3520794190"/>
                  </a:ext>
                </a:extLst>
              </a:tr>
              <a:tr h="545055">
                <a:tc>
                  <a:txBody>
                    <a:bodyPr/>
                    <a:lstStyle/>
                    <a:p>
                      <a:pPr algn="ctr" fontAlgn="ctr"/>
                      <a:r>
                        <a:rPr lang="en-US" sz="2000" b="1" i="0" u="none" strike="noStrike" err="1">
                          <a:solidFill>
                            <a:srgbClr val="000000"/>
                          </a:solidFill>
                          <a:effectLst/>
                          <a:latin typeface="Avenir Book"/>
                        </a:rPr>
                        <a:t>grand_total</a:t>
                      </a: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b"/>
                      <a:r>
                        <a:rPr lang="en-US" sz="2000" b="0" i="0" u="none" strike="noStrike">
                          <a:solidFill>
                            <a:srgbClr val="000000"/>
                          </a:solidFill>
                          <a:effectLst/>
                          <a:latin typeface="Avenir Book"/>
                        </a:rPr>
                        <a:t>43%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68%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B050"/>
                          </a:solidFill>
                          <a:effectLst/>
                          <a:latin typeface="Avenir Book"/>
                        </a:rPr>
                        <a:t>+25%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48</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extLst>
                  <a:ext uri="{0D108BD9-81ED-4DB2-BD59-A6C34878D82A}">
                    <a16:rowId xmlns:a16="http://schemas.microsoft.com/office/drawing/2014/main" val="4187555926"/>
                  </a:ext>
                </a:extLst>
              </a:tr>
              <a:tr h="545055">
                <a:tc>
                  <a:txBody>
                    <a:bodyPr/>
                    <a:lstStyle/>
                    <a:p>
                      <a:pPr algn="ctr" fontAlgn="ctr"/>
                      <a:r>
                        <a:rPr lang="en-US" sz="2000" b="1" i="0" u="none" strike="noStrike" err="1">
                          <a:solidFill>
                            <a:srgbClr val="000000"/>
                          </a:solidFill>
                          <a:effectLst/>
                          <a:latin typeface="Avenir Book"/>
                        </a:rPr>
                        <a:t>price_per_item</a:t>
                      </a: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b"/>
                      <a:r>
                        <a:rPr lang="en-US" sz="2000" b="0" i="0" u="none" strike="noStrike">
                          <a:solidFill>
                            <a:srgbClr val="000000"/>
                          </a:solidFill>
                          <a:effectLst/>
                          <a:latin typeface="Avenir Book"/>
                        </a:rPr>
                        <a:t>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B050"/>
                          </a:solidFill>
                          <a:effectLst/>
                          <a:latin typeface="Avenir Book"/>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140</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extLst>
                  <a:ext uri="{0D108BD9-81ED-4DB2-BD59-A6C34878D82A}">
                    <a16:rowId xmlns:a16="http://schemas.microsoft.com/office/drawing/2014/main" val="3027749671"/>
                  </a:ext>
                </a:extLst>
              </a:tr>
              <a:tr h="545055">
                <a:tc>
                  <a:txBody>
                    <a:bodyPr/>
                    <a:lstStyle/>
                    <a:p>
                      <a:pPr algn="ctr" fontAlgn="ctr"/>
                      <a:r>
                        <a:rPr lang="en-US" sz="2000" b="1" i="0" u="none" strike="noStrike" err="1">
                          <a:solidFill>
                            <a:srgbClr val="000000"/>
                          </a:solidFill>
                          <a:effectLst/>
                          <a:latin typeface="Avenir Book"/>
                        </a:rPr>
                        <a:t>invoice_number</a:t>
                      </a: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b"/>
                      <a:r>
                        <a:rPr lang="en-US" sz="2000" b="0" i="0" u="none" strike="noStrike">
                          <a:solidFill>
                            <a:srgbClr val="000000"/>
                          </a:solidFill>
                          <a:effectLst/>
                          <a:latin typeface="Avenir Book"/>
                        </a:rPr>
                        <a:t>77%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B050"/>
                          </a:solidFill>
                          <a:effectLst/>
                          <a:latin typeface="Avenir Book"/>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44</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extLst>
                  <a:ext uri="{0D108BD9-81ED-4DB2-BD59-A6C34878D82A}">
                    <a16:rowId xmlns:a16="http://schemas.microsoft.com/office/drawing/2014/main" val="4195032815"/>
                  </a:ext>
                </a:extLst>
              </a:tr>
              <a:tr h="545055">
                <a:tc>
                  <a:txBody>
                    <a:bodyPr/>
                    <a:lstStyle/>
                    <a:p>
                      <a:pPr algn="ctr" fontAlgn="ctr"/>
                      <a:r>
                        <a:rPr lang="en-US" sz="2000" b="1" i="0" u="none" strike="noStrike" err="1">
                          <a:solidFill>
                            <a:srgbClr val="000000"/>
                          </a:solidFill>
                          <a:effectLst/>
                          <a:latin typeface="Avenir Book"/>
                        </a:rPr>
                        <a:t>tax_amount</a:t>
                      </a: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b"/>
                      <a:r>
                        <a:rPr lang="en-US" sz="2000" b="0" i="0" u="none" strike="noStrike">
                          <a:solidFill>
                            <a:srgbClr val="000000"/>
                          </a:solidFill>
                          <a:effectLst/>
                          <a:latin typeface="Avenir Book"/>
                        </a:rPr>
                        <a:t>49%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57%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B050"/>
                          </a:solidFill>
                          <a:effectLst/>
                          <a:latin typeface="Avenir Book"/>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28</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extLst>
                  <a:ext uri="{0D108BD9-81ED-4DB2-BD59-A6C34878D82A}">
                    <a16:rowId xmlns:a16="http://schemas.microsoft.com/office/drawing/2014/main" val="679038622"/>
                  </a:ext>
                </a:extLst>
              </a:tr>
              <a:tr h="545055">
                <a:tc>
                  <a:txBody>
                    <a:bodyPr/>
                    <a:lstStyle/>
                    <a:p>
                      <a:pPr algn="ctr" fontAlgn="ctr"/>
                      <a:r>
                        <a:rPr lang="en-US" sz="2000" b="1" i="0" u="none" strike="noStrike" err="1">
                          <a:solidFill>
                            <a:srgbClr val="000000"/>
                          </a:solidFill>
                          <a:effectLst/>
                          <a:latin typeface="Avenir Book"/>
                        </a:rPr>
                        <a:t>quantity_per_item</a:t>
                      </a: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b"/>
                      <a:r>
                        <a:rPr lang="en-US" sz="2000" b="0" i="0" u="none" strike="noStrike">
                          <a:solidFill>
                            <a:srgbClr val="000000"/>
                          </a:solidFill>
                          <a:effectLst/>
                          <a:latin typeface="Avenir Book"/>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90%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B050"/>
                          </a:solidFill>
                          <a:effectLst/>
                          <a:latin typeface="Avenir Book"/>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145</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extLst>
                  <a:ext uri="{0D108BD9-81ED-4DB2-BD59-A6C34878D82A}">
                    <a16:rowId xmlns:a16="http://schemas.microsoft.com/office/drawing/2014/main" val="2102371665"/>
                  </a:ext>
                </a:extLst>
              </a:tr>
              <a:tr h="545055">
                <a:tc>
                  <a:txBody>
                    <a:bodyPr/>
                    <a:lstStyle/>
                    <a:p>
                      <a:pPr algn="ctr" fontAlgn="ctr"/>
                      <a:r>
                        <a:rPr lang="en-US" sz="2000" b="1" i="0" u="none" strike="noStrike" err="1">
                          <a:solidFill>
                            <a:srgbClr val="000000"/>
                          </a:solidFill>
                          <a:effectLst/>
                          <a:latin typeface="Avenir Book"/>
                        </a:rPr>
                        <a:t>invoice_date</a:t>
                      </a: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b"/>
                      <a:r>
                        <a:rPr lang="en-US" sz="2000" b="0" i="0" u="none" strike="noStrike">
                          <a:solidFill>
                            <a:srgbClr val="000000"/>
                          </a:solidFill>
                          <a:effectLst/>
                          <a:latin typeface="Avenir Book"/>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B050"/>
                          </a:solidFill>
                          <a:effectLst/>
                          <a:latin typeface="Avenir Book"/>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49</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extLst>
                  <a:ext uri="{0D108BD9-81ED-4DB2-BD59-A6C34878D82A}">
                    <a16:rowId xmlns:a16="http://schemas.microsoft.com/office/drawing/2014/main" val="344123800"/>
                  </a:ext>
                </a:extLst>
              </a:tr>
              <a:tr h="545055">
                <a:tc>
                  <a:txBody>
                    <a:bodyPr/>
                    <a:lstStyle/>
                    <a:p>
                      <a:pPr algn="ctr" fontAlgn="ctr"/>
                      <a:r>
                        <a:rPr lang="en-US" sz="2000" b="1" i="0" u="none" strike="noStrike" err="1">
                          <a:solidFill>
                            <a:srgbClr val="000000"/>
                          </a:solidFill>
                          <a:effectLst/>
                          <a:latin typeface="Avenir Book"/>
                        </a:rPr>
                        <a:t>total_per_item</a:t>
                      </a: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b"/>
                      <a:r>
                        <a:rPr lang="en-US" sz="2000" b="0" i="0" u="none" strike="noStrike">
                          <a:solidFill>
                            <a:srgbClr val="000000"/>
                          </a:solidFill>
                          <a:effectLst/>
                          <a:latin typeface="Avenir Book"/>
                        </a:rPr>
                        <a:t>77%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80%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B050"/>
                          </a:solidFill>
                          <a:effectLst/>
                          <a:latin typeface="Avenir Book"/>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tc>
                  <a:txBody>
                    <a:bodyPr/>
                    <a:lstStyle/>
                    <a:p>
                      <a:pPr algn="ctr" fontAlgn="ctr"/>
                      <a:r>
                        <a:rPr lang="en-US" sz="2000" b="0" i="0" u="none" strike="noStrike">
                          <a:solidFill>
                            <a:srgbClr val="000000"/>
                          </a:solidFill>
                          <a:effectLst/>
                          <a:latin typeface="Avenir Book"/>
                        </a:rPr>
                        <a:t>130</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FCC"/>
                    </a:solidFill>
                  </a:tcPr>
                </a:tc>
                <a:extLst>
                  <a:ext uri="{0D108BD9-81ED-4DB2-BD59-A6C34878D82A}">
                    <a16:rowId xmlns:a16="http://schemas.microsoft.com/office/drawing/2014/main" val="2364454464"/>
                  </a:ext>
                </a:extLst>
              </a:tr>
              <a:tr h="545055">
                <a:tc>
                  <a:txBody>
                    <a:bodyPr/>
                    <a:lstStyle/>
                    <a:p>
                      <a:pPr algn="ctr" fontAlgn="ctr"/>
                      <a:r>
                        <a:rPr lang="en-US" sz="2000" b="1" i="0" u="none" strike="noStrike" err="1">
                          <a:solidFill>
                            <a:srgbClr val="000000"/>
                          </a:solidFill>
                          <a:effectLst/>
                          <a:latin typeface="Avenir Book"/>
                        </a:rPr>
                        <a:t>invoiced_to</a:t>
                      </a: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b"/>
                      <a:r>
                        <a:rPr lang="en-US" sz="2000" b="0" i="0" u="none" strike="noStrike">
                          <a:solidFill>
                            <a:srgbClr val="000000"/>
                          </a:solidFill>
                          <a:effectLst/>
                          <a:latin typeface="Avenir Book"/>
                        </a:rPr>
                        <a:t>50%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FF0000"/>
                          </a:solidFill>
                          <a:effectLst/>
                          <a:latin typeface="Avenir Book"/>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tc>
                  <a:txBody>
                    <a:bodyPr/>
                    <a:lstStyle/>
                    <a:p>
                      <a:pPr algn="ctr" fontAlgn="ctr"/>
                      <a:r>
                        <a:rPr lang="en-US" sz="2000" b="0" i="0" u="none" strike="noStrike">
                          <a:solidFill>
                            <a:srgbClr val="000000"/>
                          </a:solidFill>
                          <a:effectLst/>
                          <a:latin typeface="Avenir Book"/>
                        </a:rPr>
                        <a:t>47</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E9E7"/>
                    </a:solidFill>
                  </a:tcPr>
                </a:tc>
                <a:extLst>
                  <a:ext uri="{0D108BD9-81ED-4DB2-BD59-A6C34878D82A}">
                    <a16:rowId xmlns:a16="http://schemas.microsoft.com/office/drawing/2014/main" val="1090553796"/>
                  </a:ext>
                </a:extLst>
              </a:tr>
              <a:tr h="545055">
                <a:tc>
                  <a:txBody>
                    <a:bodyPr/>
                    <a:lstStyle/>
                    <a:p>
                      <a:pPr algn="ctr" fontAlgn="ctr"/>
                      <a:r>
                        <a:rPr lang="en-US" sz="2000" b="0" i="0" u="none" strike="noStrike">
                          <a:solidFill>
                            <a:srgbClr val="000000"/>
                          </a:solidFill>
                          <a:effectLst/>
                          <a:latin typeface="Avenir Book"/>
                        </a:rPr>
                        <a:t>Average</a:t>
                      </a: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chemeClr val="bg1">
                        <a:lumMod val="85000"/>
                      </a:schemeClr>
                    </a:solidFill>
                  </a:tcPr>
                </a:tc>
                <a:tc>
                  <a:txBody>
                    <a:bodyPr/>
                    <a:lstStyle/>
                    <a:p>
                      <a:pPr algn="ctr" fontAlgn="b"/>
                      <a:r>
                        <a:rPr lang="en-US" sz="2000" b="0" i="0" u="none" strike="noStrike">
                          <a:solidFill>
                            <a:srgbClr val="000000"/>
                          </a:solidFill>
                          <a:effectLst/>
                          <a:latin typeface="Avenir Book"/>
                        </a:rPr>
                        <a:t>69%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chemeClr val="bg1">
                        <a:lumMod val="85000"/>
                      </a:schemeClr>
                    </a:solidFill>
                  </a:tcPr>
                </a:tc>
                <a:tc>
                  <a:txBody>
                    <a:bodyPr/>
                    <a:lstStyle/>
                    <a:p>
                      <a:pPr algn="ctr" fontAlgn="b"/>
                      <a:r>
                        <a:rPr lang="en-US" sz="2000" b="0" i="0" u="none" strike="noStrike">
                          <a:solidFill>
                            <a:srgbClr val="000000"/>
                          </a:solidFill>
                          <a:effectLst/>
                          <a:latin typeface="Avenir Book"/>
                        </a:rPr>
                        <a:t>76%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chemeClr val="bg1">
                        <a:lumMod val="85000"/>
                      </a:schemeClr>
                    </a:solidFill>
                  </a:tcPr>
                </a:tc>
                <a:tc>
                  <a:txBody>
                    <a:bodyPr/>
                    <a:lstStyle/>
                    <a:p>
                      <a:pPr algn="ctr" fontAlgn="b"/>
                      <a:r>
                        <a:rPr lang="en-US" sz="2000" b="0" i="0" u="none" strike="noStrike">
                          <a:solidFill>
                            <a:srgbClr val="00B050"/>
                          </a:solidFill>
                          <a:effectLst/>
                          <a:latin typeface="Avenir Book"/>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chemeClr val="bg1">
                        <a:lumMod val="85000"/>
                      </a:schemeClr>
                    </a:solidFill>
                  </a:tcPr>
                </a:tc>
                <a:tc>
                  <a:txBody>
                    <a:bodyPr/>
                    <a:lstStyle/>
                    <a:p>
                      <a:pPr algn="ctr" fontAlgn="ctr"/>
                      <a:endParaRPr lang="en-US" sz="2000" b="0" i="0" u="none" strike="noStrike">
                        <a:solidFill>
                          <a:srgbClr val="000000"/>
                        </a:solidFill>
                        <a:effectLst/>
                        <a:latin typeface="Avenir Book"/>
                      </a:endParaRP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2198572147"/>
                  </a:ext>
                </a:extLst>
              </a:tr>
            </a:tbl>
          </a:graphicData>
        </a:graphic>
      </p:graphicFrame>
      <p:grpSp>
        <p:nvGrpSpPr>
          <p:cNvPr id="9" name="Group 35">
            <a:extLst>
              <a:ext uri="{FF2B5EF4-FFF2-40B4-BE49-F238E27FC236}">
                <a16:creationId xmlns:a16="http://schemas.microsoft.com/office/drawing/2014/main" id="{27677923-11D8-36E2-85E6-FE0F053BB5C7}"/>
              </a:ext>
            </a:extLst>
          </p:cNvPr>
          <p:cNvGrpSpPr/>
          <p:nvPr/>
        </p:nvGrpSpPr>
        <p:grpSpPr>
          <a:xfrm>
            <a:off x="14463051" y="-6558326"/>
            <a:ext cx="12311482" cy="16512778"/>
            <a:chOff x="-173568" y="-484163"/>
            <a:chExt cx="910168" cy="1220763"/>
          </a:xfrm>
        </p:grpSpPr>
        <p:sp>
          <p:nvSpPr>
            <p:cNvPr id="7" name="Freeform 36">
              <a:extLst>
                <a:ext uri="{FF2B5EF4-FFF2-40B4-BE49-F238E27FC236}">
                  <a16:creationId xmlns:a16="http://schemas.microsoft.com/office/drawing/2014/main" id="{B9322D69-B162-2370-48F4-3FA918DC1EF7}"/>
                </a:ext>
              </a:extLst>
            </p:cNvPr>
            <p:cNvSpPr/>
            <p:nvPr/>
          </p:nvSpPr>
          <p:spPr>
            <a:xfrm>
              <a:off x="-173568" y="-484163"/>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15204">
                  <a:alpha val="11765"/>
                </a:srgbClr>
              </a:solidFill>
              <a:prstDash val="solid"/>
              <a:miter/>
            </a:ln>
          </p:spPr>
          <p:txBody>
            <a:bodyPr/>
            <a:lstStyle/>
            <a:p>
              <a:endParaRPr lang="en-US"/>
            </a:p>
          </p:txBody>
        </p:sp>
        <p:sp>
          <p:nvSpPr>
            <p:cNvPr id="8" name="TextBox 37">
              <a:extLst>
                <a:ext uri="{FF2B5EF4-FFF2-40B4-BE49-F238E27FC236}">
                  <a16:creationId xmlns:a16="http://schemas.microsoft.com/office/drawing/2014/main" id="{36420C98-EC30-2450-4246-56E81778FF49}"/>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11" name="TextBox 10">
            <a:extLst>
              <a:ext uri="{FF2B5EF4-FFF2-40B4-BE49-F238E27FC236}">
                <a16:creationId xmlns:a16="http://schemas.microsoft.com/office/drawing/2014/main" id="{2B3459BC-019F-9AC4-EBF3-29784CB9FA59}"/>
              </a:ext>
            </a:extLst>
          </p:cNvPr>
          <p:cNvSpPr txBox="1"/>
          <p:nvPr/>
        </p:nvSpPr>
        <p:spPr>
          <a:xfrm>
            <a:off x="10936222" y="2243371"/>
            <a:ext cx="5368362" cy="66171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FF0000"/>
                </a:solidFill>
                <a:latin typeface="Avenir Book"/>
                <a:cs typeface="Segoe UI"/>
              </a:rPr>
              <a:t>CONCLUSION</a:t>
            </a:r>
            <a:r>
              <a:rPr lang="en-US" sz="3200">
                <a:solidFill>
                  <a:srgbClr val="FC4710"/>
                </a:solidFill>
                <a:latin typeface="Avenir Book"/>
                <a:cs typeface="Segoe UI"/>
              </a:rPr>
              <a:t>:</a:t>
            </a:r>
            <a:endParaRPr lang="en-US" sz="3200">
              <a:solidFill>
                <a:srgbClr val="272B30"/>
              </a:solidFill>
              <a:latin typeface="Avenir Book"/>
              <a:cs typeface="Segoe UI"/>
            </a:endParaRPr>
          </a:p>
          <a:p>
            <a:endParaRPr lang="en-US" sz="3200">
              <a:solidFill>
                <a:srgbClr val="272B30"/>
              </a:solidFill>
              <a:latin typeface="Avenir Book"/>
              <a:cs typeface="Segoe UI"/>
            </a:endParaRPr>
          </a:p>
          <a:p>
            <a:pPr marL="285750" indent="-285750" algn="just">
              <a:buFont typeface="Arial"/>
              <a:buChar char="•"/>
            </a:pPr>
            <a:r>
              <a:rPr lang="en-US" sz="2400">
                <a:solidFill>
                  <a:srgbClr val="272B30"/>
                </a:solidFill>
                <a:latin typeface="Avenir Book"/>
                <a:cs typeface="Arial"/>
              </a:rPr>
              <a:t>On average there is a 7</a:t>
            </a:r>
            <a:r>
              <a:rPr lang="en-US" sz="2400" b="1">
                <a:solidFill>
                  <a:srgbClr val="272B30"/>
                </a:solidFill>
                <a:latin typeface="Avenir Book"/>
                <a:cs typeface="Arial"/>
              </a:rPr>
              <a:t>% </a:t>
            </a:r>
            <a:r>
              <a:rPr lang="en-US" sz="2400">
                <a:solidFill>
                  <a:srgbClr val="272B30"/>
                </a:solidFill>
                <a:latin typeface="Avenir Book"/>
                <a:cs typeface="Arial"/>
              </a:rPr>
              <a:t>improvement in per-field statistics for Invoice dataset.</a:t>
            </a:r>
          </a:p>
          <a:p>
            <a:pPr marL="285750" indent="-285750" algn="just">
              <a:buFont typeface="Arial"/>
              <a:buChar char="•"/>
            </a:pPr>
            <a:endParaRPr lang="en-US" sz="2400">
              <a:solidFill>
                <a:srgbClr val="272B30"/>
              </a:solidFill>
              <a:latin typeface="Avenir Book"/>
              <a:cs typeface="Arial"/>
            </a:endParaRPr>
          </a:p>
          <a:p>
            <a:pPr marL="285750" indent="-285750" algn="just">
              <a:buFont typeface="Arial"/>
              <a:buChar char="•"/>
            </a:pPr>
            <a:r>
              <a:rPr lang="en-US" sz="2400">
                <a:solidFill>
                  <a:srgbClr val="272B30"/>
                </a:solidFill>
                <a:latin typeface="Avenir Book"/>
                <a:cs typeface="Arial"/>
              </a:rPr>
              <a:t>However, field like </a:t>
            </a:r>
            <a:r>
              <a:rPr lang="en-US" sz="2400" err="1">
                <a:solidFill>
                  <a:srgbClr val="272B30"/>
                </a:solidFill>
                <a:latin typeface="Avenir Book"/>
                <a:cs typeface="Arial"/>
              </a:rPr>
              <a:t>invoiced_to</a:t>
            </a:r>
            <a:r>
              <a:rPr lang="en-US" sz="2400">
                <a:solidFill>
                  <a:srgbClr val="272B30"/>
                </a:solidFill>
                <a:latin typeface="Avenir Book"/>
                <a:cs typeface="Arial"/>
              </a:rPr>
              <a:t> has </a:t>
            </a:r>
            <a:r>
              <a:rPr lang="en-US" sz="2400">
                <a:solidFill>
                  <a:srgbClr val="000000"/>
                </a:solidFill>
                <a:latin typeface="Avenir Book"/>
                <a:cs typeface="Arial"/>
              </a:rPr>
              <a:t>a significant drop while fields such as </a:t>
            </a:r>
            <a:r>
              <a:rPr lang="en-US" sz="2400" err="1">
                <a:solidFill>
                  <a:srgbClr val="000000"/>
                </a:solidFill>
                <a:latin typeface="Avenir Book"/>
                <a:cs typeface="Arial"/>
              </a:rPr>
              <a:t>grand_total</a:t>
            </a:r>
            <a:r>
              <a:rPr lang="en-US" sz="2400">
                <a:solidFill>
                  <a:srgbClr val="000000"/>
                </a:solidFill>
                <a:latin typeface="Avenir Book"/>
                <a:cs typeface="Arial"/>
              </a:rPr>
              <a:t> has significant improvement.</a:t>
            </a:r>
            <a:endParaRPr lang="en-US" sz="2400">
              <a:solidFill>
                <a:srgbClr val="000000"/>
              </a:solidFill>
              <a:latin typeface="Avenir Book"/>
              <a:ea typeface="Calibri"/>
              <a:cs typeface="Arial"/>
            </a:endParaRPr>
          </a:p>
          <a:p>
            <a:pPr algn="just"/>
            <a:endParaRPr lang="en-US" sz="2400">
              <a:latin typeface="Avenir Book"/>
              <a:ea typeface="Calibri"/>
              <a:cs typeface="Arial"/>
            </a:endParaRPr>
          </a:p>
          <a:p>
            <a:pPr marL="285750" indent="-285750" algn="just">
              <a:buFont typeface="Arial"/>
              <a:buChar char="•"/>
            </a:pPr>
            <a:r>
              <a:rPr lang="en-US" sz="2400">
                <a:solidFill>
                  <a:srgbClr val="272B30"/>
                </a:solidFill>
                <a:latin typeface="Avenir Book"/>
                <a:cs typeface="Arial"/>
              </a:rPr>
              <a:t>These can be because of failure of reconstruction of bounding boxes due to OCR errors.</a:t>
            </a:r>
          </a:p>
          <a:p>
            <a:pPr marL="285750" indent="-285750" algn="just">
              <a:buFont typeface="Arial"/>
              <a:buChar char="•"/>
            </a:pPr>
            <a:endParaRPr lang="en-US" sz="2400">
              <a:solidFill>
                <a:srgbClr val="272B30"/>
              </a:solidFill>
              <a:latin typeface="Avenir Book"/>
              <a:cs typeface="Arial"/>
            </a:endParaRPr>
          </a:p>
          <a:p>
            <a:pPr marL="285750" indent="-285750" algn="just">
              <a:buFont typeface="Arial"/>
              <a:buChar char="•"/>
            </a:pPr>
            <a:r>
              <a:rPr lang="en-US" sz="2400">
                <a:solidFill>
                  <a:srgbClr val="272B30"/>
                </a:solidFill>
                <a:latin typeface="Avenir Book"/>
                <a:cs typeface="Arial"/>
              </a:rPr>
              <a:t>On average, there is a 3% improvement in relational statistics for Invoice dataset.</a:t>
            </a:r>
          </a:p>
        </p:txBody>
      </p:sp>
      <p:sp>
        <p:nvSpPr>
          <p:cNvPr id="13" name="TextBox 42">
            <a:extLst>
              <a:ext uri="{FF2B5EF4-FFF2-40B4-BE49-F238E27FC236}">
                <a16:creationId xmlns:a16="http://schemas.microsoft.com/office/drawing/2014/main" id="{56285A2A-E421-A0D3-7D8B-0E91DE9201B0}"/>
              </a:ext>
            </a:extLst>
          </p:cNvPr>
          <p:cNvSpPr txBox="1"/>
          <p:nvPr/>
        </p:nvSpPr>
        <p:spPr>
          <a:xfrm>
            <a:off x="636717" y="439386"/>
            <a:ext cx="12125522" cy="987963"/>
          </a:xfrm>
          <a:prstGeom prst="rect">
            <a:avLst/>
          </a:prstGeom>
        </p:spPr>
        <p:txBody>
          <a:bodyPr wrap="square" lIns="0" tIns="0" rIns="0" bIns="0" rtlCol="0" anchor="ctr">
            <a:spAutoFit/>
          </a:bodyPr>
          <a:lstStyle/>
          <a:p>
            <a:pPr>
              <a:lnSpc>
                <a:spcPts val="8902"/>
              </a:lnSpc>
              <a:spcBef>
                <a:spcPct val="0"/>
              </a:spcBef>
            </a:pPr>
            <a:r>
              <a:rPr lang="en-US" sz="3200" b="1">
                <a:solidFill>
                  <a:srgbClr val="FF0000"/>
                </a:solidFill>
                <a:latin typeface="Avenir Book"/>
                <a:ea typeface="Gotham Bold"/>
                <a:cs typeface="Gotham Bold"/>
                <a:sym typeface="Gotham Bold"/>
              </a:rPr>
              <a:t>Invoice Per-field Statistics Comparison with </a:t>
            </a:r>
            <a:r>
              <a:rPr lang="en-US" sz="3200" b="1" err="1">
                <a:solidFill>
                  <a:srgbClr val="FF0000"/>
                </a:solidFill>
                <a:latin typeface="Avenir Book"/>
                <a:ea typeface="Gotham Bold"/>
                <a:cs typeface="Gotham Bold"/>
                <a:sym typeface="Gotham Bold"/>
              </a:rPr>
              <a:t>BaseLine</a:t>
            </a:r>
            <a:r>
              <a:rPr lang="en-US" sz="3200" b="1">
                <a:solidFill>
                  <a:srgbClr val="FF0000"/>
                </a:solidFill>
                <a:latin typeface="Avenir Book"/>
                <a:ea typeface="Gotham Bold"/>
                <a:cs typeface="Gotham Bold"/>
                <a:sym typeface="Gotham Bold"/>
              </a:rPr>
              <a:t>:</a:t>
            </a:r>
            <a:endParaRPr lang="en-US" sz="3200" b="1">
              <a:solidFill>
                <a:srgbClr val="FF0000"/>
              </a:solidFill>
              <a:latin typeface="Avenir Book"/>
              <a:ea typeface="Gotham Bold"/>
              <a:cs typeface="Gotham Bold"/>
            </a:endParaRPr>
          </a:p>
        </p:txBody>
      </p:sp>
      <p:graphicFrame>
        <p:nvGraphicFramePr>
          <p:cNvPr id="4" name="表格 16">
            <a:extLst>
              <a:ext uri="{FF2B5EF4-FFF2-40B4-BE49-F238E27FC236}">
                <a16:creationId xmlns:a16="http://schemas.microsoft.com/office/drawing/2014/main" id="{7E2757FA-FD7B-4DCC-9736-3031ED827FC4}"/>
              </a:ext>
            </a:extLst>
          </p:cNvPr>
          <p:cNvGraphicFramePr>
            <a:graphicFrameLocks noGrp="1"/>
          </p:cNvGraphicFramePr>
          <p:nvPr>
            <p:extLst>
              <p:ext uri="{D42A27DB-BD31-4B8C-83A1-F6EECF244321}">
                <p14:modId xmlns:p14="http://schemas.microsoft.com/office/powerpoint/2010/main" val="1570242567"/>
              </p:ext>
            </p:extLst>
          </p:nvPr>
        </p:nvGraphicFramePr>
        <p:xfrm>
          <a:off x="638298" y="8386947"/>
          <a:ext cx="9961389" cy="940624"/>
        </p:xfrm>
        <a:graphic>
          <a:graphicData uri="http://schemas.openxmlformats.org/drawingml/2006/table">
            <a:tbl>
              <a:tblPr bandRow="1">
                <a:tableStyleId>{5C22544A-7EE6-4342-B048-85BDC9FD1C3A}</a:tableStyleId>
              </a:tblPr>
              <a:tblGrid>
                <a:gridCol w="2340005">
                  <a:extLst>
                    <a:ext uri="{9D8B030D-6E8A-4147-A177-3AD203B41FA5}">
                      <a16:colId xmlns:a16="http://schemas.microsoft.com/office/drawing/2014/main" val="2459942924"/>
                    </a:ext>
                  </a:extLst>
                </a:gridCol>
                <a:gridCol w="2141353">
                  <a:extLst>
                    <a:ext uri="{9D8B030D-6E8A-4147-A177-3AD203B41FA5}">
                      <a16:colId xmlns:a16="http://schemas.microsoft.com/office/drawing/2014/main" val="3640752407"/>
                    </a:ext>
                  </a:extLst>
                </a:gridCol>
                <a:gridCol w="2026234">
                  <a:extLst>
                    <a:ext uri="{9D8B030D-6E8A-4147-A177-3AD203B41FA5}">
                      <a16:colId xmlns:a16="http://schemas.microsoft.com/office/drawing/2014/main" val="2712099197"/>
                    </a:ext>
                  </a:extLst>
                </a:gridCol>
                <a:gridCol w="1519671">
                  <a:extLst>
                    <a:ext uri="{9D8B030D-6E8A-4147-A177-3AD203B41FA5}">
                      <a16:colId xmlns:a16="http://schemas.microsoft.com/office/drawing/2014/main" val="3437685523"/>
                    </a:ext>
                  </a:extLst>
                </a:gridCol>
                <a:gridCol w="1934126">
                  <a:extLst>
                    <a:ext uri="{9D8B030D-6E8A-4147-A177-3AD203B41FA5}">
                      <a16:colId xmlns:a16="http://schemas.microsoft.com/office/drawing/2014/main" val="3591512663"/>
                    </a:ext>
                  </a:extLst>
                </a:gridCol>
              </a:tblGrid>
              <a:tr h="445324">
                <a:tc>
                  <a:txBody>
                    <a:bodyPr/>
                    <a:lstStyle/>
                    <a:p>
                      <a:pPr algn="ctr" rtl="0" fontAlgn="base">
                        <a:lnSpc>
                          <a:spcPts val="1200"/>
                        </a:lnSpc>
                      </a:pPr>
                      <a:r>
                        <a:rPr lang="en-US" sz="2000" b="1">
                          <a:solidFill>
                            <a:srgbClr val="FFFFFF"/>
                          </a:solidFill>
                          <a:effectLst/>
                          <a:latin typeface="Avenir Book"/>
                        </a:rPr>
                        <a:t>Doc Type</a:t>
                      </a:r>
                    </a:p>
                  </a:txBody>
                  <a:tcPr marL="4763" marR="4763" marT="4763" anchor="ctr">
                    <a:lnL w="1270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331E"/>
                    </a:solidFill>
                  </a:tcPr>
                </a:tc>
                <a:tc>
                  <a:txBody>
                    <a:bodyPr/>
                    <a:lstStyle/>
                    <a:p>
                      <a:pPr lvl="0" algn="ctr">
                        <a:lnSpc>
                          <a:spcPts val="1200"/>
                        </a:lnSpc>
                        <a:buNone/>
                      </a:pPr>
                      <a:r>
                        <a:rPr lang="en-US" sz="2000" b="1">
                          <a:solidFill>
                            <a:srgbClr val="FFFFFF"/>
                          </a:solidFill>
                          <a:effectLst/>
                          <a:latin typeface="Avenir Book"/>
                        </a:rPr>
                        <a:t>Baseline F1(A)</a:t>
                      </a:r>
                      <a:endParaRPr lang="zh-TW" altLang="en-US"/>
                    </a:p>
                  </a:txBody>
                  <a:tcPr marL="4763" marR="4763" marT="476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331E"/>
                    </a:solidFill>
                  </a:tcPr>
                </a:tc>
                <a:tc>
                  <a:txBody>
                    <a:bodyPr/>
                    <a:lstStyle/>
                    <a:p>
                      <a:pPr lvl="0" algn="ctr">
                        <a:lnSpc>
                          <a:spcPts val="1200"/>
                        </a:lnSpc>
                        <a:buNone/>
                      </a:pPr>
                      <a:r>
                        <a:rPr lang="en-US" sz="2000" b="1">
                          <a:solidFill>
                            <a:srgbClr val="FFFFFF"/>
                          </a:solidFill>
                          <a:effectLst/>
                          <a:latin typeface="Avenir Book"/>
                        </a:rPr>
                        <a:t>Current F1(B)</a:t>
                      </a:r>
                      <a:endParaRPr lang="en-US" altLang="zh-TW"/>
                    </a:p>
                  </a:txBody>
                  <a:tcPr marL="4763" marR="4763" marT="476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331E"/>
                    </a:solidFill>
                  </a:tcPr>
                </a:tc>
                <a:tc>
                  <a:txBody>
                    <a:bodyPr/>
                    <a:lstStyle/>
                    <a:p>
                      <a:pPr lvl="0" algn="ctr">
                        <a:lnSpc>
                          <a:spcPts val="1200"/>
                        </a:lnSpc>
                        <a:buNone/>
                      </a:pPr>
                      <a:r>
                        <a:rPr lang="en-US" sz="2000" b="1">
                          <a:solidFill>
                            <a:srgbClr val="FFFFFF"/>
                          </a:solidFill>
                          <a:effectLst/>
                          <a:latin typeface="Avenir Book"/>
                        </a:rPr>
                        <a:t>B-A</a:t>
                      </a:r>
                      <a:endParaRPr lang="en-US" altLang="zh-TW"/>
                    </a:p>
                  </a:txBody>
                  <a:tcPr marL="4763" marR="4763" marT="476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331E"/>
                    </a:solidFill>
                  </a:tcPr>
                </a:tc>
                <a:tc>
                  <a:txBody>
                    <a:bodyPr/>
                    <a:lstStyle/>
                    <a:p>
                      <a:pPr lvl="0" algn="ctr">
                        <a:lnSpc>
                          <a:spcPts val="1200"/>
                        </a:lnSpc>
                        <a:buNone/>
                      </a:pPr>
                      <a:r>
                        <a:rPr lang="en-US" altLang="zh-TW" sz="2000" b="1">
                          <a:solidFill>
                            <a:srgbClr val="FFFFFF"/>
                          </a:solidFill>
                          <a:effectLst/>
                          <a:latin typeface="Avenir Book"/>
                        </a:rPr>
                        <a:t>Support</a:t>
                      </a:r>
                    </a:p>
                  </a:txBody>
                  <a:tcPr marL="4763" marR="4763" marT="4763" anchor="ctr">
                    <a:lnL w="952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331E"/>
                    </a:solidFill>
                  </a:tcPr>
                </a:tc>
                <a:extLst>
                  <a:ext uri="{0D108BD9-81ED-4DB2-BD59-A6C34878D82A}">
                    <a16:rowId xmlns:a16="http://schemas.microsoft.com/office/drawing/2014/main" val="3480206888"/>
                  </a:ext>
                </a:extLst>
              </a:tr>
              <a:tr h="495300">
                <a:tc>
                  <a:txBody>
                    <a:bodyPr/>
                    <a:lstStyle/>
                    <a:p>
                      <a:pPr algn="ctr" rtl="0" fontAlgn="base">
                        <a:lnSpc>
                          <a:spcPts val="1200"/>
                        </a:lnSpc>
                      </a:pPr>
                      <a:r>
                        <a:rPr lang="en-US" sz="2000">
                          <a:effectLst/>
                          <a:latin typeface="Avenir Book"/>
                        </a:rPr>
                        <a:t>Invoice</a:t>
                      </a:r>
                      <a:endParaRPr lang="en-US">
                        <a:effectLst/>
                      </a:endParaRPr>
                    </a:p>
                  </a:txBody>
                  <a:tcPr marL="4763" marR="4763" marT="4763" anchor="ctr">
                    <a:lnL w="12700"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9E7"/>
                    </a:solidFill>
                  </a:tcPr>
                </a:tc>
                <a:tc>
                  <a:txBody>
                    <a:bodyPr/>
                    <a:lstStyle/>
                    <a:p>
                      <a:pPr algn="ctr" rtl="0" fontAlgn="base">
                        <a:lnSpc>
                          <a:spcPts val="1200"/>
                        </a:lnSpc>
                      </a:pPr>
                      <a:r>
                        <a:rPr lang="en-US" sz="2000">
                          <a:effectLst/>
                          <a:latin typeface="Avenir Book"/>
                        </a:rPr>
                        <a:t>77%</a:t>
                      </a:r>
                    </a:p>
                  </a:txBody>
                  <a:tcPr marL="4763" marR="4763" marT="476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9E7"/>
                    </a:solidFill>
                  </a:tcPr>
                </a:tc>
                <a:tc>
                  <a:txBody>
                    <a:bodyPr/>
                    <a:lstStyle/>
                    <a:p>
                      <a:pPr algn="ctr" rtl="0" fontAlgn="base">
                        <a:lnSpc>
                          <a:spcPts val="1200"/>
                        </a:lnSpc>
                      </a:pPr>
                      <a:r>
                        <a:rPr lang="en-US" sz="2000">
                          <a:effectLst/>
                          <a:latin typeface="Avenir Book"/>
                        </a:rPr>
                        <a:t>80%</a:t>
                      </a:r>
                    </a:p>
                  </a:txBody>
                  <a:tcPr marL="4763" marR="4763" marT="476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9E7"/>
                    </a:solidFill>
                  </a:tcPr>
                </a:tc>
                <a:tc>
                  <a:txBody>
                    <a:bodyPr/>
                    <a:lstStyle/>
                    <a:p>
                      <a:pPr algn="ctr" rtl="0" fontAlgn="base">
                        <a:lnSpc>
                          <a:spcPts val="1200"/>
                        </a:lnSpc>
                      </a:pPr>
                      <a:r>
                        <a:rPr lang="en-US" sz="2000">
                          <a:solidFill>
                            <a:srgbClr val="00B050"/>
                          </a:solidFill>
                          <a:effectLst/>
                          <a:latin typeface="Avenir Book"/>
                        </a:rPr>
                        <a:t>+3%</a:t>
                      </a:r>
                      <a:endParaRPr lang="en-US">
                        <a:solidFill>
                          <a:srgbClr val="00B050"/>
                        </a:solidFill>
                        <a:effectLst/>
                      </a:endParaRPr>
                    </a:p>
                  </a:txBody>
                  <a:tcPr marL="4763" marR="4763" marT="476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9E7"/>
                    </a:solidFill>
                  </a:tcPr>
                </a:tc>
                <a:tc>
                  <a:txBody>
                    <a:bodyPr/>
                    <a:lstStyle/>
                    <a:p>
                      <a:pPr algn="ctr" rtl="0" fontAlgn="base">
                        <a:lnSpc>
                          <a:spcPts val="1200"/>
                        </a:lnSpc>
                      </a:pPr>
                      <a:r>
                        <a:rPr lang="en-US" sz="2000">
                          <a:effectLst/>
                          <a:latin typeface="Avenir Book"/>
                        </a:rPr>
                        <a:t>370</a:t>
                      </a:r>
                    </a:p>
                  </a:txBody>
                  <a:tcPr marL="4763" marR="4763" marT="4763" anchor="ctr">
                    <a:lnL w="952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9E7"/>
                    </a:solidFill>
                  </a:tcPr>
                </a:tc>
                <a:extLst>
                  <a:ext uri="{0D108BD9-81ED-4DB2-BD59-A6C34878D82A}">
                    <a16:rowId xmlns:a16="http://schemas.microsoft.com/office/drawing/2014/main" val="4056139418"/>
                  </a:ext>
                </a:extLst>
              </a:tr>
            </a:tbl>
          </a:graphicData>
        </a:graphic>
      </p:graphicFrame>
      <p:sp>
        <p:nvSpPr>
          <p:cNvPr id="10" name="TextBox 9">
            <a:extLst>
              <a:ext uri="{FF2B5EF4-FFF2-40B4-BE49-F238E27FC236}">
                <a16:creationId xmlns:a16="http://schemas.microsoft.com/office/drawing/2014/main" id="{B36EB602-D529-4C29-6B35-36C13262711D}"/>
              </a:ext>
            </a:extLst>
          </p:cNvPr>
          <p:cNvSpPr txBox="1"/>
          <p:nvPr/>
        </p:nvSpPr>
        <p:spPr>
          <a:xfrm>
            <a:off x="587830" y="7423562"/>
            <a:ext cx="1274815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FF0000"/>
                </a:solidFill>
                <a:latin typeface="Avenir Book"/>
              </a:rPr>
              <a:t>Invoice Relational Statistics Comparison with </a:t>
            </a:r>
            <a:r>
              <a:rPr lang="en-US" sz="3200" b="1" err="1">
                <a:solidFill>
                  <a:srgbClr val="FF0000"/>
                </a:solidFill>
                <a:latin typeface="Avenir Book"/>
              </a:rPr>
              <a:t>BaseLine</a:t>
            </a:r>
            <a:r>
              <a:rPr lang="en-US" sz="3200" b="1">
                <a:solidFill>
                  <a:srgbClr val="FF0000"/>
                </a:solidFill>
                <a:latin typeface="Avenir Book"/>
              </a:rPr>
              <a:t>:</a:t>
            </a:r>
            <a:r>
              <a:rPr lang="en-US" sz="3200" b="1">
                <a:latin typeface="Avenir Book"/>
              </a:rPr>
              <a:t>​</a:t>
            </a:r>
          </a:p>
        </p:txBody>
      </p:sp>
    </p:spTree>
    <p:extLst>
      <p:ext uri="{BB962C8B-B14F-4D97-AF65-F5344CB8AC3E}">
        <p14:creationId xmlns:p14="http://schemas.microsoft.com/office/powerpoint/2010/main" val="2177609554"/>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35" name="Group 35"/>
          <p:cNvGrpSpPr/>
          <p:nvPr/>
        </p:nvGrpSpPr>
        <p:grpSpPr>
          <a:xfrm>
            <a:off x="16810837" y="-9245"/>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15204">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4" name="TextBox 42">
            <a:extLst>
              <a:ext uri="{FF2B5EF4-FFF2-40B4-BE49-F238E27FC236}">
                <a16:creationId xmlns:a16="http://schemas.microsoft.com/office/drawing/2014/main" id="{03AFAE7C-56D9-1D72-41AA-8BC34AE187D6}"/>
              </a:ext>
            </a:extLst>
          </p:cNvPr>
          <p:cNvSpPr txBox="1"/>
          <p:nvPr/>
        </p:nvSpPr>
        <p:spPr>
          <a:xfrm>
            <a:off x="610328" y="384957"/>
            <a:ext cx="17052385" cy="987963"/>
          </a:xfrm>
          <a:prstGeom prst="rect">
            <a:avLst/>
          </a:prstGeom>
        </p:spPr>
        <p:txBody>
          <a:bodyPr wrap="square" lIns="0" tIns="0" rIns="0" bIns="0" rtlCol="0" anchor="ctr">
            <a:spAutoFit/>
          </a:bodyPr>
          <a:lstStyle/>
          <a:p>
            <a:pPr>
              <a:lnSpc>
                <a:spcPts val="8902"/>
              </a:lnSpc>
              <a:spcBef>
                <a:spcPct val="0"/>
              </a:spcBef>
            </a:pPr>
            <a:r>
              <a:rPr lang="en-US" sz="4000" b="1">
                <a:solidFill>
                  <a:srgbClr val="FF0000"/>
                </a:solidFill>
                <a:latin typeface="Avenir Book"/>
                <a:ea typeface="Gotham Bold"/>
                <a:cs typeface="Gotham Bold"/>
                <a:sym typeface="Gotham Bold"/>
              </a:rPr>
              <a:t>Articles of Incorporation (AOI) Per-field Statistics:</a:t>
            </a:r>
            <a:endParaRPr lang="en-US" sz="4000" b="1">
              <a:solidFill>
                <a:srgbClr val="FF0000"/>
              </a:solidFill>
              <a:latin typeface="Avenir Book"/>
              <a:ea typeface="Gotham Bold"/>
              <a:cs typeface="Gotham Bold"/>
            </a:endParaRPr>
          </a:p>
        </p:txBody>
      </p:sp>
      <p:graphicFrame>
        <p:nvGraphicFramePr>
          <p:cNvPr id="3" name="Table 2">
            <a:extLst>
              <a:ext uri="{FF2B5EF4-FFF2-40B4-BE49-F238E27FC236}">
                <a16:creationId xmlns:a16="http://schemas.microsoft.com/office/drawing/2014/main" id="{0D2602D2-EF56-81CD-3B42-A5C478384C1D}"/>
              </a:ext>
            </a:extLst>
          </p:cNvPr>
          <p:cNvGraphicFramePr>
            <a:graphicFrameLocks noGrp="1"/>
          </p:cNvGraphicFramePr>
          <p:nvPr>
            <p:extLst>
              <p:ext uri="{D42A27DB-BD31-4B8C-83A1-F6EECF244321}">
                <p14:modId xmlns:p14="http://schemas.microsoft.com/office/powerpoint/2010/main" val="3520264472"/>
              </p:ext>
            </p:extLst>
          </p:nvPr>
        </p:nvGraphicFramePr>
        <p:xfrm>
          <a:off x="534151" y="1767122"/>
          <a:ext cx="10908205" cy="7623834"/>
        </p:xfrm>
        <a:graphic>
          <a:graphicData uri="http://schemas.openxmlformats.org/drawingml/2006/table">
            <a:tbl>
              <a:tblPr bandRow="1">
                <a:tableStyleId>{5C22544A-7EE6-4342-B048-85BDC9FD1C3A}</a:tableStyleId>
              </a:tblPr>
              <a:tblGrid>
                <a:gridCol w="3920434">
                  <a:extLst>
                    <a:ext uri="{9D8B030D-6E8A-4147-A177-3AD203B41FA5}">
                      <a16:colId xmlns:a16="http://schemas.microsoft.com/office/drawing/2014/main" val="726862531"/>
                    </a:ext>
                  </a:extLst>
                </a:gridCol>
                <a:gridCol w="1790700">
                  <a:extLst>
                    <a:ext uri="{9D8B030D-6E8A-4147-A177-3AD203B41FA5}">
                      <a16:colId xmlns:a16="http://schemas.microsoft.com/office/drawing/2014/main" val="1029074764"/>
                    </a:ext>
                  </a:extLst>
                </a:gridCol>
                <a:gridCol w="1692509">
                  <a:extLst>
                    <a:ext uri="{9D8B030D-6E8A-4147-A177-3AD203B41FA5}">
                      <a16:colId xmlns:a16="http://schemas.microsoft.com/office/drawing/2014/main" val="1965502615"/>
                    </a:ext>
                  </a:extLst>
                </a:gridCol>
                <a:gridCol w="1575017">
                  <a:extLst>
                    <a:ext uri="{9D8B030D-6E8A-4147-A177-3AD203B41FA5}">
                      <a16:colId xmlns:a16="http://schemas.microsoft.com/office/drawing/2014/main" val="1226742"/>
                    </a:ext>
                  </a:extLst>
                </a:gridCol>
                <a:gridCol w="1929545">
                  <a:extLst>
                    <a:ext uri="{9D8B030D-6E8A-4147-A177-3AD203B41FA5}">
                      <a16:colId xmlns:a16="http://schemas.microsoft.com/office/drawing/2014/main" val="2962532712"/>
                    </a:ext>
                  </a:extLst>
                </a:gridCol>
              </a:tblGrid>
              <a:tr h="708096">
                <a:tc>
                  <a:txBody>
                    <a:bodyPr/>
                    <a:lstStyle/>
                    <a:p>
                      <a:pPr algn="ctr" rtl="0" fontAlgn="base">
                        <a:lnSpc>
                          <a:spcPct val="100000"/>
                        </a:lnSpc>
                      </a:pPr>
                      <a:r>
                        <a:rPr lang="en-US" sz="2000" b="1">
                          <a:solidFill>
                            <a:srgbClr val="FFFFFF"/>
                          </a:solidFill>
                          <a:effectLst/>
                          <a:latin typeface="Avenir Book"/>
                        </a:rPr>
                        <a:t>FIELDS</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41910" cap="flat" cmpd="sng" algn="ctr">
                      <a:solidFill>
                        <a:srgbClr val="FFFFFF"/>
                      </a:solidFill>
                      <a:prstDash val="solid"/>
                      <a:round/>
                      <a:headEnd type="none" w="med" len="med"/>
                      <a:tailEnd type="none" w="med" len="med"/>
                    </a:lnB>
                    <a:solidFill>
                      <a:srgbClr val="FC4710"/>
                    </a:solidFill>
                  </a:tcPr>
                </a:tc>
                <a:tc>
                  <a:txBody>
                    <a:bodyPr/>
                    <a:lstStyle/>
                    <a:p>
                      <a:pPr algn="ctr" rtl="0" fontAlgn="base">
                        <a:lnSpc>
                          <a:spcPct val="100000"/>
                        </a:lnSpc>
                      </a:pPr>
                      <a:r>
                        <a:rPr lang="en-US" sz="2000" b="1">
                          <a:solidFill>
                            <a:srgbClr val="FFFFFF"/>
                          </a:solidFill>
                          <a:effectLst/>
                          <a:latin typeface="Avenir Book"/>
                        </a:rPr>
                        <a:t>PRECISION</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41910" cap="flat" cmpd="sng" algn="ctr">
                      <a:solidFill>
                        <a:srgbClr val="FFFFFF"/>
                      </a:solidFill>
                      <a:prstDash val="solid"/>
                      <a:round/>
                      <a:headEnd type="none" w="med" len="med"/>
                      <a:tailEnd type="none" w="med" len="med"/>
                    </a:lnB>
                    <a:solidFill>
                      <a:srgbClr val="FC4710"/>
                    </a:solidFill>
                  </a:tcPr>
                </a:tc>
                <a:tc>
                  <a:txBody>
                    <a:bodyPr/>
                    <a:lstStyle/>
                    <a:p>
                      <a:pPr algn="ctr" rtl="0" fontAlgn="base">
                        <a:lnSpc>
                          <a:spcPct val="100000"/>
                        </a:lnSpc>
                      </a:pPr>
                      <a:r>
                        <a:rPr lang="en-US" sz="2000" b="1">
                          <a:solidFill>
                            <a:srgbClr val="FFFFFF"/>
                          </a:solidFill>
                          <a:effectLst/>
                          <a:latin typeface="Avenir Book"/>
                        </a:rPr>
                        <a:t>RECALL</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41910" cap="flat" cmpd="sng" algn="ctr">
                      <a:solidFill>
                        <a:srgbClr val="FFFFFF"/>
                      </a:solidFill>
                      <a:prstDash val="solid"/>
                      <a:round/>
                      <a:headEnd type="none" w="med" len="med"/>
                      <a:tailEnd type="none" w="med" len="med"/>
                    </a:lnB>
                    <a:solidFill>
                      <a:srgbClr val="FC4710"/>
                    </a:solidFill>
                  </a:tcPr>
                </a:tc>
                <a:tc>
                  <a:txBody>
                    <a:bodyPr/>
                    <a:lstStyle/>
                    <a:p>
                      <a:pPr algn="ctr" rtl="0" fontAlgn="base">
                        <a:lnSpc>
                          <a:spcPct val="100000"/>
                        </a:lnSpc>
                      </a:pPr>
                      <a:r>
                        <a:rPr lang="en-US" sz="2000" b="1">
                          <a:solidFill>
                            <a:srgbClr val="FFFFFF"/>
                          </a:solidFill>
                          <a:effectLst/>
                          <a:latin typeface="Avenir Book"/>
                        </a:rPr>
                        <a:t>F1</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41910" cap="flat" cmpd="sng" algn="ctr">
                      <a:solidFill>
                        <a:srgbClr val="FFFFFF"/>
                      </a:solidFill>
                      <a:prstDash val="solid"/>
                      <a:round/>
                      <a:headEnd type="none" w="med" len="med"/>
                      <a:tailEnd type="none" w="med" len="med"/>
                    </a:lnB>
                    <a:solidFill>
                      <a:srgbClr val="FC4710"/>
                    </a:solidFill>
                  </a:tcPr>
                </a:tc>
                <a:tc>
                  <a:txBody>
                    <a:bodyPr/>
                    <a:lstStyle/>
                    <a:p>
                      <a:pPr lvl="0" algn="ctr">
                        <a:lnSpc>
                          <a:spcPct val="100000"/>
                        </a:lnSpc>
                        <a:buNone/>
                      </a:pPr>
                      <a:r>
                        <a:rPr lang="en-US" sz="2000" b="1" i="0" u="none" strike="noStrike" noProof="0">
                          <a:solidFill>
                            <a:srgbClr val="FFFFFF"/>
                          </a:solidFill>
                          <a:effectLst/>
                          <a:latin typeface="Avenir Book"/>
                        </a:rPr>
                        <a:t># of samples</a:t>
                      </a:r>
                      <a:endParaRPr lang="en-US" sz="2000">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41910" cap="flat" cmpd="sng" algn="ctr">
                      <a:solidFill>
                        <a:srgbClr val="FFFFFF"/>
                      </a:solidFill>
                      <a:prstDash val="solid"/>
                      <a:round/>
                      <a:headEnd type="none" w="med" len="med"/>
                      <a:tailEnd type="none" w="med" len="med"/>
                    </a:lnB>
                    <a:solidFill>
                      <a:srgbClr val="FC4710"/>
                    </a:solidFill>
                  </a:tcPr>
                </a:tc>
                <a:extLst>
                  <a:ext uri="{0D108BD9-81ED-4DB2-BD59-A6C34878D82A}">
                    <a16:rowId xmlns:a16="http://schemas.microsoft.com/office/drawing/2014/main" val="4153232705"/>
                  </a:ext>
                </a:extLst>
              </a:tr>
              <a:tr h="590080">
                <a:tc>
                  <a:txBody>
                    <a:bodyPr/>
                    <a:lstStyle/>
                    <a:p>
                      <a:pPr lvl="0" algn="ctr">
                        <a:lnSpc>
                          <a:spcPct val="100000"/>
                        </a:lnSpc>
                        <a:buNone/>
                      </a:pPr>
                      <a:r>
                        <a:rPr lang="en-US" sz="2000" b="1" i="0" u="none" strike="noStrike" noProof="0">
                          <a:solidFill>
                            <a:srgbClr val="000000"/>
                          </a:solidFill>
                          <a:effectLst/>
                          <a:latin typeface="Avenir Book"/>
                        </a:rPr>
                        <a:t>total_number_of_shares</a:t>
                      </a:r>
                      <a:endParaRPr lang="en-US" sz="2000" err="1">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41910"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100%</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41910"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tc>
                  <a:txBody>
                    <a:bodyPr/>
                    <a:lstStyle/>
                    <a:p>
                      <a:pPr lvl="0" algn="ctr">
                        <a:lnSpc>
                          <a:spcPct val="100000"/>
                        </a:lnSpc>
                        <a:buNone/>
                      </a:pPr>
                      <a:r>
                        <a:rPr lang="en-US" sz="2000" b="0" i="0" u="none" strike="noStrike" noProof="0">
                          <a:solidFill>
                            <a:srgbClr val="000000"/>
                          </a:solidFill>
                          <a:effectLst/>
                          <a:latin typeface="Avenir Book"/>
                        </a:rPr>
                        <a:t>100%</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41910"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tc>
                  <a:txBody>
                    <a:bodyPr/>
                    <a:lstStyle/>
                    <a:p>
                      <a:pPr lvl="0" algn="ctr">
                        <a:lnSpc>
                          <a:spcPct val="100000"/>
                        </a:lnSpc>
                        <a:buNone/>
                      </a:pPr>
                      <a:r>
                        <a:rPr lang="en-US" sz="2000" b="0" i="0" u="none" strike="noStrike" noProof="0">
                          <a:solidFill>
                            <a:srgbClr val="00B050"/>
                          </a:solidFill>
                          <a:effectLst/>
                          <a:latin typeface="Avenir Book"/>
                        </a:rPr>
                        <a:t>100%</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41910"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tc>
                  <a:txBody>
                    <a:bodyPr/>
                    <a:lstStyle/>
                    <a:p>
                      <a:pPr lvl="0" algn="ctr">
                        <a:lnSpc>
                          <a:spcPct val="100000"/>
                        </a:lnSpc>
                        <a:buNone/>
                      </a:pPr>
                      <a:r>
                        <a:rPr lang="en-US" sz="2000" b="0" i="0" u="none" strike="noStrike" noProof="0">
                          <a:solidFill>
                            <a:srgbClr val="000000"/>
                          </a:solidFill>
                          <a:effectLst/>
                          <a:latin typeface="Avenir Book"/>
                        </a:rPr>
                        <a:t>5</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41910"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extLst>
                  <a:ext uri="{0D108BD9-81ED-4DB2-BD59-A6C34878D82A}">
                    <a16:rowId xmlns:a16="http://schemas.microsoft.com/office/drawing/2014/main" val="1445311773"/>
                  </a:ext>
                </a:extLst>
              </a:tr>
              <a:tr h="590080">
                <a:tc>
                  <a:txBody>
                    <a:bodyPr/>
                    <a:lstStyle/>
                    <a:p>
                      <a:pPr lvl="0" algn="ctr">
                        <a:lnSpc>
                          <a:spcPct val="100000"/>
                        </a:lnSpc>
                        <a:buNone/>
                      </a:pPr>
                      <a:r>
                        <a:rPr lang="en-US" sz="2000" b="1" i="0" u="none" strike="noStrike" noProof="0">
                          <a:solidFill>
                            <a:srgbClr val="000000"/>
                          </a:solidFill>
                          <a:effectLst/>
                          <a:latin typeface="Avenir Book"/>
                        </a:rPr>
                        <a:t>incorporator_name</a:t>
                      </a:r>
                      <a:endParaRPr lang="en-US" sz="2000" err="1">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81%</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000000"/>
                          </a:solidFill>
                          <a:effectLst/>
                          <a:latin typeface="Avenir Book"/>
                        </a:rPr>
                        <a:t>83%</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00B050"/>
                          </a:solidFill>
                          <a:effectLst/>
                          <a:latin typeface="Avenir Book"/>
                        </a:rPr>
                        <a:t>82%</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10</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780356607"/>
                  </a:ext>
                </a:extLst>
              </a:tr>
              <a:tr h="590080">
                <a:tc>
                  <a:txBody>
                    <a:bodyPr/>
                    <a:lstStyle/>
                    <a:p>
                      <a:pPr lvl="0" algn="ctr">
                        <a:lnSpc>
                          <a:spcPct val="100000"/>
                        </a:lnSpc>
                        <a:buNone/>
                      </a:pPr>
                      <a:r>
                        <a:rPr lang="en-US" sz="2000" b="1" i="0" u="none" strike="noStrike" noProof="0">
                          <a:solidFill>
                            <a:srgbClr val="000000"/>
                          </a:solidFill>
                          <a:effectLst/>
                          <a:latin typeface="Avenir Book"/>
                        </a:rPr>
                        <a:t>corporation_name</a:t>
                      </a:r>
                      <a:endParaRPr lang="en-US" sz="2000" err="1">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70%</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tc>
                  <a:txBody>
                    <a:bodyPr/>
                    <a:lstStyle/>
                    <a:p>
                      <a:pPr lvl="0" algn="ctr">
                        <a:lnSpc>
                          <a:spcPct val="100000"/>
                        </a:lnSpc>
                        <a:buNone/>
                      </a:pPr>
                      <a:r>
                        <a:rPr lang="en-US" sz="2000" b="0" i="0" u="none" strike="noStrike" noProof="0">
                          <a:solidFill>
                            <a:srgbClr val="000000"/>
                          </a:solidFill>
                          <a:effectLst/>
                          <a:latin typeface="Avenir Book"/>
                        </a:rPr>
                        <a:t>78%</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tc>
                  <a:txBody>
                    <a:bodyPr/>
                    <a:lstStyle/>
                    <a:p>
                      <a:pPr algn="ctr" rtl="0" fontAlgn="base">
                        <a:lnSpc>
                          <a:spcPct val="100000"/>
                        </a:lnSpc>
                      </a:pPr>
                      <a:r>
                        <a:rPr lang="en-US" sz="2000" b="0" i="0" u="none" strike="noStrike" noProof="0">
                          <a:solidFill>
                            <a:srgbClr val="00B050"/>
                          </a:solidFill>
                          <a:effectLst/>
                          <a:latin typeface="Avenir Book"/>
                        </a:rPr>
                        <a:t>74%</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tc>
                  <a:txBody>
                    <a:bodyPr/>
                    <a:lstStyle/>
                    <a:p>
                      <a:pPr lvl="0" algn="ctr">
                        <a:lnSpc>
                          <a:spcPct val="100000"/>
                        </a:lnSpc>
                        <a:buNone/>
                      </a:pPr>
                      <a:r>
                        <a:rPr lang="en-US" sz="2000" b="0" i="0" u="none" strike="noStrike" noProof="0">
                          <a:solidFill>
                            <a:srgbClr val="000000"/>
                          </a:solidFill>
                          <a:effectLst/>
                          <a:latin typeface="Avenir Book"/>
                        </a:rPr>
                        <a:t>9</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extLst>
                  <a:ext uri="{0D108BD9-81ED-4DB2-BD59-A6C34878D82A}">
                    <a16:rowId xmlns:a16="http://schemas.microsoft.com/office/drawing/2014/main" val="210192265"/>
                  </a:ext>
                </a:extLst>
              </a:tr>
              <a:tr h="590080">
                <a:tc>
                  <a:txBody>
                    <a:bodyPr/>
                    <a:lstStyle/>
                    <a:p>
                      <a:pPr lvl="0" algn="ctr">
                        <a:lnSpc>
                          <a:spcPct val="100000"/>
                        </a:lnSpc>
                        <a:buNone/>
                      </a:pPr>
                      <a:r>
                        <a:rPr lang="en-US" sz="2000" b="1" i="0" u="none" strike="noStrike" noProof="0">
                          <a:solidFill>
                            <a:srgbClr val="000000"/>
                          </a:solidFill>
                          <a:effectLst/>
                          <a:latin typeface="Avenir Book"/>
                        </a:rPr>
                        <a:t>corporation_agent</a:t>
                      </a:r>
                      <a:endParaRPr lang="en-US" sz="2000" err="1">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66%</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000000"/>
                          </a:solidFill>
                          <a:effectLst/>
                          <a:latin typeface="Avenir Book"/>
                        </a:rPr>
                        <a:t>70%</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tc>
                  <a:txBody>
                    <a:bodyPr/>
                    <a:lstStyle/>
                    <a:p>
                      <a:pPr algn="ctr" rtl="0" fontAlgn="base">
                        <a:lnSpc>
                          <a:spcPct val="100000"/>
                        </a:lnSpc>
                      </a:pPr>
                      <a:r>
                        <a:rPr lang="en-US" sz="2000" b="0" i="0" u="none" strike="noStrike" noProof="0">
                          <a:solidFill>
                            <a:srgbClr val="00B050"/>
                          </a:solidFill>
                          <a:effectLst/>
                          <a:latin typeface="Avenir Book"/>
                        </a:rPr>
                        <a:t>68%</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10</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4135669509"/>
                  </a:ext>
                </a:extLst>
              </a:tr>
              <a:tr h="590080">
                <a:tc>
                  <a:txBody>
                    <a:bodyPr/>
                    <a:lstStyle/>
                    <a:p>
                      <a:pPr lvl="0" algn="ctr">
                        <a:lnSpc>
                          <a:spcPct val="100000"/>
                        </a:lnSpc>
                        <a:buNone/>
                      </a:pPr>
                      <a:r>
                        <a:rPr lang="en-US" sz="2000" b="1" i="0" u="none" strike="noStrike" noProof="0">
                          <a:solidFill>
                            <a:srgbClr val="000000"/>
                          </a:solidFill>
                          <a:effectLst/>
                          <a:latin typeface="Avenir Book"/>
                        </a:rPr>
                        <a:t>date_of_signature</a:t>
                      </a:r>
                      <a:endParaRPr lang="en-US" sz="2000" err="1">
                        <a:latin typeface="Avenir Book"/>
                      </a:endParaRPr>
                    </a:p>
                  </a:txBody>
                  <a:tcPr marL="100584" marR="100584" marT="50292" marB="50292" anchor="ctr">
                    <a:lnL w="13963">
                      <a:solidFill>
                        <a:srgbClr val="FFFFFF"/>
                      </a:solidFill>
                    </a:lnL>
                    <a:lnR w="13963">
                      <a:solidFill>
                        <a:srgbClr val="FFFFFF"/>
                      </a:solidFill>
                    </a:lnR>
                    <a:lnT w="13964" cap="flat" cmpd="sng" algn="ctr">
                      <a:solidFill>
                        <a:srgbClr val="FFFFFF"/>
                      </a:solidFill>
                      <a:prstDash val="solid"/>
                      <a:round/>
                      <a:headEnd type="none" w="med" len="med"/>
                      <a:tailEnd type="none" w="med" len="med"/>
                    </a:lnT>
                    <a:lnB w="13963"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65%</a:t>
                      </a:r>
                    </a:p>
                  </a:txBody>
                  <a:tcPr marL="100584" marR="100584" marT="50292" marB="50292" anchor="ctr">
                    <a:lnL w="13963">
                      <a:solidFill>
                        <a:srgbClr val="FFFFFF"/>
                      </a:solidFill>
                    </a:lnL>
                    <a:lnR w="13963">
                      <a:solidFill>
                        <a:srgbClr val="FFFFFF"/>
                      </a:solidFill>
                    </a:lnR>
                    <a:lnT w="13964" cap="flat" cmpd="sng" algn="ctr">
                      <a:solidFill>
                        <a:srgbClr val="FFFFFF"/>
                      </a:solidFill>
                      <a:prstDash val="solid"/>
                      <a:round/>
                      <a:headEnd type="none" w="med" len="med"/>
                      <a:tailEnd type="none" w="med" len="med"/>
                    </a:lnT>
                    <a:lnB w="13963"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buNone/>
                      </a:pPr>
                      <a:r>
                        <a:rPr lang="en-US" sz="2000" b="0" i="0" u="none" strike="noStrike" noProof="0">
                          <a:solidFill>
                            <a:srgbClr val="000000"/>
                          </a:solidFill>
                          <a:effectLst/>
                          <a:latin typeface="Avenir Book"/>
                        </a:rPr>
                        <a:t>60%</a:t>
                      </a:r>
                    </a:p>
                  </a:txBody>
                  <a:tcPr marL="100584" marR="100584" marT="50292" marB="50292" anchor="ctr">
                    <a:lnL w="13963">
                      <a:solidFill>
                        <a:srgbClr val="FFFFFF"/>
                      </a:solidFill>
                    </a:lnL>
                    <a:lnR w="13963">
                      <a:solidFill>
                        <a:srgbClr val="FFFFFF"/>
                      </a:solidFill>
                    </a:lnR>
                    <a:lnT w="13964" cap="flat" cmpd="sng" algn="ctr">
                      <a:solidFill>
                        <a:srgbClr val="FFFFFF"/>
                      </a:solidFill>
                      <a:prstDash val="solid"/>
                      <a:round/>
                      <a:headEnd type="none" w="med" len="med"/>
                      <a:tailEnd type="none" w="med" len="med"/>
                    </a:lnT>
                    <a:lnB w="13963"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buNone/>
                      </a:pPr>
                      <a:r>
                        <a:rPr lang="en-US" sz="2000" b="0" i="0" u="none" strike="noStrike" noProof="0">
                          <a:solidFill>
                            <a:srgbClr val="00B050"/>
                          </a:solidFill>
                          <a:effectLst/>
                          <a:latin typeface="Avenir Book"/>
                        </a:rPr>
                        <a:t>62%</a:t>
                      </a:r>
                    </a:p>
                  </a:txBody>
                  <a:tcPr marL="100584" marR="100584" marT="50292" marB="50292" anchor="ctr">
                    <a:lnL w="13963">
                      <a:solidFill>
                        <a:srgbClr val="FFFFFF"/>
                      </a:solidFill>
                    </a:lnL>
                    <a:lnR w="13963">
                      <a:solidFill>
                        <a:srgbClr val="FFFFFF"/>
                      </a:solidFill>
                    </a:lnR>
                    <a:lnT w="13964" cap="flat" cmpd="sng" algn="ctr">
                      <a:solidFill>
                        <a:srgbClr val="FFFFFF"/>
                      </a:solidFill>
                      <a:prstDash val="solid"/>
                      <a:round/>
                      <a:headEnd type="none" w="med" len="med"/>
                      <a:tailEnd type="none" w="med" len="med"/>
                    </a:lnT>
                    <a:lnB w="13963"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5</a:t>
                      </a:r>
                    </a:p>
                  </a:txBody>
                  <a:tcPr marL="100584" marR="100584" marT="50292" marB="50292" anchor="ctr">
                    <a:lnL w="13963">
                      <a:solidFill>
                        <a:srgbClr val="FFFFFF"/>
                      </a:solidFill>
                    </a:lnL>
                    <a:lnR w="13963">
                      <a:solidFill>
                        <a:srgbClr val="FFFFFF"/>
                      </a:solidFill>
                    </a:lnR>
                    <a:lnT w="13964" cap="flat" cmpd="sng" algn="ctr">
                      <a:solidFill>
                        <a:srgbClr val="FFFFFF"/>
                      </a:solidFill>
                      <a:prstDash val="solid"/>
                      <a:round/>
                      <a:headEnd type="none" w="med" len="med"/>
                      <a:tailEnd type="none" w="med" len="med"/>
                    </a:lnT>
                    <a:lnB w="13963" cap="flat" cmpd="sng" algn="ctr">
                      <a:solidFill>
                        <a:srgbClr val="FFFFFF"/>
                      </a:solidFill>
                      <a:prstDash val="solid"/>
                      <a:round/>
                      <a:headEnd type="none" w="med" len="med"/>
                      <a:tailEnd type="none" w="med" len="med"/>
                    </a:lnB>
                    <a:solidFill>
                      <a:srgbClr val="FFCFCC"/>
                    </a:solidFill>
                  </a:tcPr>
                </a:tc>
                <a:extLst>
                  <a:ext uri="{0D108BD9-81ED-4DB2-BD59-A6C34878D82A}">
                    <a16:rowId xmlns:a16="http://schemas.microsoft.com/office/drawing/2014/main" val="3471305921"/>
                  </a:ext>
                </a:extLst>
              </a:tr>
              <a:tr h="590080">
                <a:tc>
                  <a:txBody>
                    <a:bodyPr/>
                    <a:lstStyle/>
                    <a:p>
                      <a:pPr lvl="0" algn="ctr">
                        <a:lnSpc>
                          <a:spcPct val="100000"/>
                        </a:lnSpc>
                        <a:buNone/>
                      </a:pPr>
                      <a:r>
                        <a:rPr lang="en-US" sz="2000" b="1" i="0" u="none" strike="noStrike" noProof="0">
                          <a:solidFill>
                            <a:srgbClr val="000000"/>
                          </a:solidFill>
                          <a:effectLst/>
                          <a:latin typeface="Avenir Book"/>
                        </a:rPr>
                        <a:t>shareholder_names</a:t>
                      </a:r>
                      <a:endParaRPr lang="en-US" sz="2000" err="1">
                        <a:latin typeface="Avenir Book"/>
                      </a:endParaRPr>
                    </a:p>
                  </a:txBody>
                  <a:tcPr marL="100584" marR="100584" marT="50292" marB="50292" anchor="ctr">
                    <a:lnL w="13962">
                      <a:solidFill>
                        <a:srgbClr val="FFFFFF"/>
                      </a:solidFill>
                    </a:lnL>
                    <a:lnR w="13962">
                      <a:solidFill>
                        <a:srgbClr val="FFFFFF"/>
                      </a:solidFill>
                    </a:lnR>
                    <a:lnT w="13963" cap="flat" cmpd="sng" algn="ctr">
                      <a:solidFill>
                        <a:srgbClr val="FFFFFF"/>
                      </a:solidFill>
                      <a:prstDash val="solid"/>
                      <a:round/>
                      <a:headEnd type="none" w="med" len="med"/>
                      <a:tailEnd type="none" w="med" len="med"/>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58%</a:t>
                      </a:r>
                    </a:p>
                  </a:txBody>
                  <a:tcPr marL="100584" marR="100584" marT="50292" marB="50292" anchor="ctr">
                    <a:lnL w="13962">
                      <a:solidFill>
                        <a:srgbClr val="FFFFFF"/>
                      </a:solidFill>
                    </a:lnL>
                    <a:lnR w="13962">
                      <a:solidFill>
                        <a:srgbClr val="FFFFFF"/>
                      </a:solidFill>
                    </a:lnR>
                    <a:lnT w="13963" cap="flat" cmpd="sng" algn="ctr">
                      <a:solidFill>
                        <a:srgbClr val="FFFFFF"/>
                      </a:solidFill>
                      <a:prstDash val="solid"/>
                      <a:round/>
                      <a:headEnd type="none" w="med" len="med"/>
                      <a:tailEnd type="none" w="med" len="med"/>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000000"/>
                          </a:solidFill>
                          <a:effectLst/>
                          <a:latin typeface="Avenir Book"/>
                        </a:rPr>
                        <a:t>54%</a:t>
                      </a:r>
                    </a:p>
                  </a:txBody>
                  <a:tcPr marL="100584" marR="100584" marT="50292" marB="50292" anchor="ctr">
                    <a:lnL w="13962">
                      <a:solidFill>
                        <a:srgbClr val="FFFFFF"/>
                      </a:solidFill>
                    </a:lnL>
                    <a:lnR w="13962">
                      <a:solidFill>
                        <a:srgbClr val="FFFFFF"/>
                      </a:solidFill>
                    </a:lnR>
                    <a:lnT w="13963" cap="flat" cmpd="sng" algn="ctr">
                      <a:solidFill>
                        <a:srgbClr val="FFFFFF"/>
                      </a:solidFill>
                      <a:prstDash val="solid"/>
                      <a:round/>
                      <a:headEnd type="none" w="med" len="med"/>
                      <a:tailEnd type="none" w="med" len="med"/>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00B050"/>
                          </a:solidFill>
                          <a:effectLst/>
                          <a:latin typeface="Avenir Book"/>
                        </a:rPr>
                        <a:t>56%</a:t>
                      </a:r>
                    </a:p>
                  </a:txBody>
                  <a:tcPr marL="100584" marR="100584" marT="50292" marB="50292" anchor="ctr">
                    <a:lnL w="13962">
                      <a:solidFill>
                        <a:srgbClr val="FFFFFF"/>
                      </a:solidFill>
                    </a:lnL>
                    <a:lnR w="13962">
                      <a:solidFill>
                        <a:srgbClr val="FFFFFF"/>
                      </a:solidFill>
                    </a:lnR>
                    <a:lnT w="13963" cap="flat" cmpd="sng" algn="ctr">
                      <a:solidFill>
                        <a:srgbClr val="FFFFFF"/>
                      </a:solidFill>
                      <a:prstDash val="solid"/>
                      <a:round/>
                      <a:headEnd type="none" w="med" len="med"/>
                      <a:tailEnd type="none" w="med" len="med"/>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13</a:t>
                      </a:r>
                    </a:p>
                  </a:txBody>
                  <a:tcPr marL="100584" marR="100584" marT="50292" marB="50292" anchor="ctr">
                    <a:lnL w="13962">
                      <a:solidFill>
                        <a:srgbClr val="FFFFFF"/>
                      </a:solidFill>
                    </a:lnL>
                    <a:lnR w="13962">
                      <a:solidFill>
                        <a:srgbClr val="FFFFFF"/>
                      </a:solidFill>
                    </a:lnR>
                    <a:lnT w="13963" cap="flat" cmpd="sng" algn="ctr">
                      <a:solidFill>
                        <a:srgbClr val="FFFFFF"/>
                      </a:solidFill>
                      <a:prstDash val="solid"/>
                      <a:round/>
                      <a:headEnd type="none" w="med" len="med"/>
                      <a:tailEnd type="none" w="med" len="med"/>
                    </a:lnT>
                    <a:lnB w="1396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2224232378"/>
                  </a:ext>
                </a:extLst>
              </a:tr>
              <a:tr h="873319">
                <a:tc>
                  <a:txBody>
                    <a:bodyPr/>
                    <a:lstStyle/>
                    <a:p>
                      <a:pPr lvl="0" algn="ctr">
                        <a:lnSpc>
                          <a:spcPct val="100000"/>
                        </a:lnSpc>
                        <a:buNone/>
                      </a:pPr>
                      <a:r>
                        <a:rPr lang="en-US" sz="2000" b="1" i="0" u="none" strike="noStrike" noProof="0">
                          <a:solidFill>
                            <a:srgbClr val="000000"/>
                          </a:solidFill>
                          <a:effectLst/>
                          <a:latin typeface="Avenir Book"/>
                        </a:rPr>
                        <a:t>period_of_corporation_duration</a:t>
                      </a:r>
                      <a:endParaRPr lang="en-US" sz="2000" err="1">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43%</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buNone/>
                      </a:pPr>
                      <a:r>
                        <a:rPr lang="en-US" sz="2000" b="0" i="0" u="none" strike="noStrike" noProof="0">
                          <a:solidFill>
                            <a:srgbClr val="000000"/>
                          </a:solidFill>
                          <a:effectLst/>
                          <a:latin typeface="Avenir Book"/>
                        </a:rPr>
                        <a:t>67%</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buNone/>
                      </a:pPr>
                      <a:r>
                        <a:rPr lang="en-US" sz="2000" b="0" i="0" u="none" strike="noStrike" noProof="0">
                          <a:solidFill>
                            <a:srgbClr val="00B050"/>
                          </a:solidFill>
                          <a:effectLst/>
                          <a:latin typeface="Avenir Book"/>
                        </a:rPr>
                        <a:t>52%</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buNone/>
                      </a:pPr>
                      <a:r>
                        <a:rPr lang="en-US" sz="2000" b="0" i="0" u="none" strike="noStrike" noProof="0">
                          <a:solidFill>
                            <a:srgbClr val="000000"/>
                          </a:solidFill>
                          <a:effectLst/>
                          <a:latin typeface="Avenir Book"/>
                        </a:rPr>
                        <a:t>3</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extLst>
                  <a:ext uri="{0D108BD9-81ED-4DB2-BD59-A6C34878D82A}">
                    <a16:rowId xmlns:a16="http://schemas.microsoft.com/office/drawing/2014/main" val="933255839"/>
                  </a:ext>
                </a:extLst>
              </a:tr>
              <a:tr h="590080">
                <a:tc>
                  <a:txBody>
                    <a:bodyPr/>
                    <a:lstStyle/>
                    <a:p>
                      <a:pPr lvl="0" algn="ctr">
                        <a:lnSpc>
                          <a:spcPct val="100000"/>
                        </a:lnSpc>
                        <a:buNone/>
                      </a:pPr>
                      <a:r>
                        <a:rPr lang="en-US" sz="2000" b="1" i="0" u="none" strike="noStrike" noProof="0">
                          <a:solidFill>
                            <a:srgbClr val="000000"/>
                          </a:solidFill>
                          <a:effectLst/>
                          <a:latin typeface="Avenir Book"/>
                        </a:rPr>
                        <a:t>corporation_address</a:t>
                      </a:r>
                      <a:endParaRPr lang="en-US" sz="2000" err="1">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44%</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000000"/>
                          </a:solidFill>
                          <a:effectLst/>
                          <a:latin typeface="Avenir Book"/>
                        </a:rPr>
                        <a:t>53%</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C00000"/>
                          </a:solidFill>
                          <a:effectLst/>
                          <a:latin typeface="Avenir Book"/>
                        </a:rPr>
                        <a:t>48%</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5</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3942520844"/>
                  </a:ext>
                </a:extLst>
              </a:tr>
              <a:tr h="590080">
                <a:tc>
                  <a:txBody>
                    <a:bodyPr/>
                    <a:lstStyle/>
                    <a:p>
                      <a:pPr lvl="0" algn="ctr">
                        <a:lnSpc>
                          <a:spcPct val="100000"/>
                        </a:lnSpc>
                        <a:buNone/>
                      </a:pPr>
                      <a:r>
                        <a:rPr lang="en-US" sz="2000" b="1" i="0" u="none" strike="noStrike" noProof="0">
                          <a:solidFill>
                            <a:srgbClr val="000000"/>
                          </a:solidFill>
                          <a:effectLst/>
                          <a:latin typeface="Avenir Book"/>
                        </a:rPr>
                        <a:t>corporation_agent_address</a:t>
                      </a:r>
                      <a:endParaRPr lang="en-US" sz="2000" err="1">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21%</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buNone/>
                      </a:pPr>
                      <a:r>
                        <a:rPr lang="en-US" sz="2000" b="0" i="0" u="none" strike="noStrike" noProof="0">
                          <a:solidFill>
                            <a:srgbClr val="000000"/>
                          </a:solidFill>
                          <a:effectLst/>
                          <a:latin typeface="Avenir Book"/>
                        </a:rPr>
                        <a:t>33%</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buNone/>
                      </a:pPr>
                      <a:r>
                        <a:rPr lang="en-US" sz="2000" b="0" i="0" u="none" strike="noStrike" noProof="0">
                          <a:solidFill>
                            <a:srgbClr val="C00000"/>
                          </a:solidFill>
                          <a:effectLst/>
                          <a:latin typeface="Avenir Book"/>
                        </a:rPr>
                        <a:t>26%</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6</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extLst>
                  <a:ext uri="{0D108BD9-81ED-4DB2-BD59-A6C34878D82A}">
                    <a16:rowId xmlns:a16="http://schemas.microsoft.com/office/drawing/2014/main" val="4212011747"/>
                  </a:ext>
                </a:extLst>
              </a:tr>
              <a:tr h="590080">
                <a:tc>
                  <a:txBody>
                    <a:bodyPr/>
                    <a:lstStyle/>
                    <a:p>
                      <a:pPr lvl="0" algn="ctr">
                        <a:lnSpc>
                          <a:spcPct val="100000"/>
                        </a:lnSpc>
                        <a:buNone/>
                      </a:pPr>
                      <a:r>
                        <a:rPr lang="en-US" sz="2000" b="0" i="0" u="none" strike="noStrike" noProof="0">
                          <a:solidFill>
                            <a:srgbClr val="000000"/>
                          </a:solidFill>
                          <a:effectLst/>
                          <a:latin typeface="Avenir Book"/>
                        </a:rPr>
                        <a:t>incorporator_address1</a:t>
                      </a:r>
                      <a:endParaRPr lang="en-US" sz="2000">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a:effectLst/>
                          <a:latin typeface="Avenir Book"/>
                        </a:rPr>
                        <a:t>17%</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000000"/>
                          </a:solidFill>
                          <a:effectLst/>
                          <a:latin typeface="Avenir Book"/>
                        </a:rPr>
                        <a:t>25%</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C00000"/>
                          </a:solidFill>
                          <a:effectLst/>
                          <a:latin typeface="Avenir Book"/>
                        </a:rPr>
                        <a:t>20%</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000000"/>
                          </a:solidFill>
                          <a:effectLst/>
                          <a:latin typeface="Avenir Book"/>
                        </a:rPr>
                        <a:t>4</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866777086"/>
                  </a:ext>
                </a:extLst>
              </a:tr>
              <a:tr h="731699">
                <a:tc>
                  <a:txBody>
                    <a:bodyPr/>
                    <a:lstStyle/>
                    <a:p>
                      <a:pPr lvl="0" algn="ctr">
                        <a:lnSpc>
                          <a:spcPct val="100000"/>
                        </a:lnSpc>
                        <a:buNone/>
                      </a:pPr>
                      <a:r>
                        <a:rPr lang="en-US" sz="2000" b="0" i="0" u="none" strike="noStrike" noProof="0">
                          <a:solidFill>
                            <a:srgbClr val="000000"/>
                          </a:solidFill>
                          <a:effectLst/>
                          <a:latin typeface="Avenir Book"/>
                        </a:rPr>
                        <a:t>AVERAGE</a:t>
                      </a:r>
                    </a:p>
                  </a:txBody>
                  <a:tcPr marL="100584" marR="100584" marT="50292" marB="50292" anchor="ctr">
                    <a:lnL w="13962">
                      <a:solidFill>
                        <a:srgbClr val="FFFFFF"/>
                      </a:solidFill>
                    </a:lnL>
                    <a:lnR w="13962">
                      <a:solidFill>
                        <a:srgbClr val="FFFFFF"/>
                      </a:solidFill>
                    </a:lnR>
                    <a:lnT w="13962">
                      <a:solidFill>
                        <a:srgbClr val="FFFFFF"/>
                      </a:solidFill>
                    </a:lnT>
                    <a:lnB w="13962">
                      <a:solidFill>
                        <a:srgbClr val="FFFFFF"/>
                      </a:solidFill>
                    </a:lnB>
                    <a:solidFill>
                      <a:schemeClr val="bg1">
                        <a:lumMod val="85000"/>
                      </a:schemeClr>
                    </a:solidFill>
                  </a:tcPr>
                </a:tc>
                <a:tc>
                  <a:txBody>
                    <a:bodyPr/>
                    <a:lstStyle/>
                    <a:p>
                      <a:pPr lvl="0" algn="ctr">
                        <a:lnSpc>
                          <a:spcPct val="100000"/>
                        </a:lnSpc>
                        <a:buNone/>
                      </a:pPr>
                      <a:r>
                        <a:rPr lang="en-US" sz="2000">
                          <a:effectLst/>
                          <a:latin typeface="Avenir Book"/>
                        </a:rPr>
                        <a:t>59%</a:t>
                      </a:r>
                    </a:p>
                  </a:txBody>
                  <a:tcPr marL="100584" marR="100584" marT="50292" marB="50292" anchor="ctr">
                    <a:lnL w="13962">
                      <a:solidFill>
                        <a:srgbClr val="FFFFFF"/>
                      </a:solidFill>
                    </a:lnL>
                    <a:lnR w="13962">
                      <a:solidFill>
                        <a:srgbClr val="FFFFFF"/>
                      </a:solidFill>
                    </a:lnR>
                    <a:lnT w="13962">
                      <a:solidFill>
                        <a:srgbClr val="FFFFFF"/>
                      </a:solidFill>
                    </a:lnT>
                    <a:lnB w="13962">
                      <a:solidFill>
                        <a:srgbClr val="FFFFFF"/>
                      </a:solidFill>
                    </a:lnB>
                    <a:solidFill>
                      <a:schemeClr val="bg1">
                        <a:lumMod val="85000"/>
                      </a:schemeClr>
                    </a:solidFill>
                  </a:tcPr>
                </a:tc>
                <a:tc>
                  <a:txBody>
                    <a:bodyPr/>
                    <a:lstStyle/>
                    <a:p>
                      <a:pPr lvl="0" algn="ctr">
                        <a:lnSpc>
                          <a:spcPct val="100000"/>
                        </a:lnSpc>
                        <a:buNone/>
                      </a:pPr>
                      <a:r>
                        <a:rPr lang="en-US" sz="2000" b="0" i="0" u="none" strike="noStrike" noProof="0">
                          <a:solidFill>
                            <a:srgbClr val="000000"/>
                          </a:solidFill>
                          <a:effectLst/>
                          <a:latin typeface="Avenir Book"/>
                        </a:rPr>
                        <a:t>59%</a:t>
                      </a:r>
                    </a:p>
                  </a:txBody>
                  <a:tcPr marL="100584" marR="100584" marT="50292" marB="50292" anchor="ctr">
                    <a:lnL w="13962">
                      <a:solidFill>
                        <a:srgbClr val="FFFFFF"/>
                      </a:solidFill>
                    </a:lnL>
                    <a:lnR w="13962">
                      <a:solidFill>
                        <a:srgbClr val="FFFFFF"/>
                      </a:solidFill>
                    </a:lnR>
                    <a:lnT w="13962">
                      <a:solidFill>
                        <a:srgbClr val="FFFFFF"/>
                      </a:solidFill>
                    </a:lnT>
                    <a:lnB w="13962">
                      <a:solidFill>
                        <a:srgbClr val="FFFFFF"/>
                      </a:solidFill>
                    </a:lnB>
                    <a:solidFill>
                      <a:schemeClr val="bg1">
                        <a:lumMod val="85000"/>
                      </a:schemeClr>
                    </a:solidFill>
                  </a:tcPr>
                </a:tc>
                <a:tc>
                  <a:txBody>
                    <a:bodyPr/>
                    <a:lstStyle/>
                    <a:p>
                      <a:pPr lvl="0" algn="ctr">
                        <a:lnSpc>
                          <a:spcPct val="100000"/>
                        </a:lnSpc>
                        <a:buNone/>
                      </a:pPr>
                      <a:r>
                        <a:rPr lang="en-US" sz="2000" b="0" i="0" u="none" strike="noStrike" noProof="0">
                          <a:solidFill>
                            <a:srgbClr val="000000"/>
                          </a:solidFill>
                          <a:effectLst/>
                          <a:latin typeface="Avenir Book"/>
                        </a:rPr>
                        <a:t>59%</a:t>
                      </a:r>
                    </a:p>
                  </a:txBody>
                  <a:tcPr marL="100584" marR="100584" marT="50292" marB="50292" anchor="ctr">
                    <a:lnL w="13962">
                      <a:solidFill>
                        <a:srgbClr val="FFFFFF"/>
                      </a:solidFill>
                    </a:lnL>
                    <a:lnR w="13962">
                      <a:solidFill>
                        <a:srgbClr val="FFFFFF"/>
                      </a:solidFill>
                    </a:lnR>
                    <a:lnT w="13962">
                      <a:solidFill>
                        <a:srgbClr val="FFFFFF"/>
                      </a:solidFill>
                    </a:lnT>
                    <a:lnB w="13962">
                      <a:solidFill>
                        <a:srgbClr val="FFFFFF"/>
                      </a:solidFill>
                    </a:lnB>
                    <a:solidFill>
                      <a:schemeClr val="bg1">
                        <a:lumMod val="85000"/>
                      </a:schemeClr>
                    </a:solidFill>
                  </a:tcPr>
                </a:tc>
                <a:tc>
                  <a:txBody>
                    <a:bodyPr/>
                    <a:lstStyle/>
                    <a:p>
                      <a:pPr lvl="0" algn="ctr">
                        <a:lnSpc>
                          <a:spcPct val="100000"/>
                        </a:lnSpc>
                        <a:buNone/>
                      </a:pPr>
                      <a:endParaRPr lang="en-US" sz="2000" b="0" i="0" u="none" strike="noStrike" noProof="0">
                        <a:solidFill>
                          <a:srgbClr val="000000"/>
                        </a:solidFill>
                        <a:effectLst/>
                        <a:latin typeface="Calibri"/>
                      </a:endParaRPr>
                    </a:p>
                  </a:txBody>
                  <a:tcPr marL="100584" marR="100584" marT="50292" marB="50292" anchor="ctr">
                    <a:lnL w="13962">
                      <a:solidFill>
                        <a:srgbClr val="FFFFFF"/>
                      </a:solidFill>
                    </a:lnL>
                    <a:lnR w="13962">
                      <a:solidFill>
                        <a:srgbClr val="FFFFFF"/>
                      </a:solidFill>
                    </a:lnR>
                    <a:lnT w="13962">
                      <a:solidFill>
                        <a:srgbClr val="FFFFFF"/>
                      </a:solidFill>
                    </a:lnT>
                    <a:lnB w="13962">
                      <a:solidFill>
                        <a:srgbClr val="FFFFFF"/>
                      </a:solidFill>
                    </a:lnB>
                    <a:solidFill>
                      <a:schemeClr val="bg1">
                        <a:lumMod val="85000"/>
                      </a:schemeClr>
                    </a:solidFill>
                  </a:tcPr>
                </a:tc>
                <a:extLst>
                  <a:ext uri="{0D108BD9-81ED-4DB2-BD59-A6C34878D82A}">
                    <a16:rowId xmlns:a16="http://schemas.microsoft.com/office/drawing/2014/main" val="2636374081"/>
                  </a:ext>
                </a:extLst>
              </a:tr>
            </a:tbl>
          </a:graphicData>
        </a:graphic>
      </p:graphicFrame>
      <p:sp>
        <p:nvSpPr>
          <p:cNvPr id="12" name="TextBox 11">
            <a:extLst>
              <a:ext uri="{FF2B5EF4-FFF2-40B4-BE49-F238E27FC236}">
                <a16:creationId xmlns:a16="http://schemas.microsoft.com/office/drawing/2014/main" id="{F20ECAA3-36C6-FBFC-82A7-CF91D7FA9FE4}"/>
              </a:ext>
            </a:extLst>
          </p:cNvPr>
          <p:cNvSpPr txBox="1"/>
          <p:nvPr/>
        </p:nvSpPr>
        <p:spPr>
          <a:xfrm>
            <a:off x="11664177" y="1672956"/>
            <a:ext cx="4989575"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FC4710"/>
                </a:solidFill>
                <a:latin typeface="Avenir Book"/>
                <a:cs typeface="Segoe UI"/>
              </a:rPr>
              <a:t>CONCLUSION:</a:t>
            </a:r>
            <a:r>
              <a:rPr lang="en-US" sz="3200" b="1">
                <a:solidFill>
                  <a:srgbClr val="272B30"/>
                </a:solidFill>
                <a:latin typeface="Avenir Book"/>
                <a:cs typeface="Segoe UI"/>
              </a:rPr>
              <a:t>​</a:t>
            </a:r>
          </a:p>
          <a:p>
            <a:endParaRPr lang="en-US" sz="3200">
              <a:solidFill>
                <a:srgbClr val="272B30"/>
              </a:solidFill>
              <a:latin typeface="Avenir Book"/>
              <a:cs typeface="Segoe UI"/>
            </a:endParaRPr>
          </a:p>
          <a:p>
            <a:pPr marL="285750" indent="-285750" algn="just">
              <a:buFont typeface="Arial"/>
              <a:buChar char="•"/>
            </a:pPr>
            <a:r>
              <a:rPr lang="en-US" sz="2400">
                <a:solidFill>
                  <a:srgbClr val="272B30"/>
                </a:solidFill>
                <a:latin typeface="Avenir Book"/>
                <a:cs typeface="Arial"/>
              </a:rPr>
              <a:t>All the fields in the green are doing considerably well, while red highlighted fields need to be improved. </a:t>
            </a:r>
          </a:p>
          <a:p>
            <a:pPr algn="just"/>
            <a:endParaRPr lang="en-US" sz="2400">
              <a:solidFill>
                <a:srgbClr val="272B30"/>
              </a:solidFill>
              <a:latin typeface="Avenir Book"/>
              <a:ea typeface="Calibri"/>
              <a:cs typeface="Arial"/>
            </a:endParaRPr>
          </a:p>
          <a:p>
            <a:pPr marL="285750" indent="-285750" algn="just">
              <a:buFont typeface="Arial"/>
              <a:buChar char="•"/>
            </a:pPr>
            <a:r>
              <a:rPr lang="en-US" sz="2400">
                <a:latin typeface="Avenir Book"/>
                <a:ea typeface="Calibri"/>
                <a:cs typeface="Arial"/>
              </a:rPr>
              <a:t>Long fields like addresses are mostly having low scores.</a:t>
            </a:r>
          </a:p>
          <a:p>
            <a:endParaRPr lang="en-US" sz="2400">
              <a:solidFill>
                <a:srgbClr val="000000"/>
              </a:solidFill>
              <a:latin typeface="Avenir Book"/>
              <a:cs typeface="Arial"/>
            </a:endParaRPr>
          </a:p>
          <a:p>
            <a:pPr marL="285750" indent="-285750">
              <a:buFont typeface="Arial,Sans-Serif"/>
              <a:buChar char="•"/>
            </a:pPr>
            <a:endParaRPr lang="en-US" sz="2400">
              <a:solidFill>
                <a:srgbClr val="272B30"/>
              </a:solidFill>
              <a:latin typeface="Avenir Book"/>
              <a:cs typeface="Arial"/>
            </a:endParaRPr>
          </a:p>
        </p:txBody>
      </p:sp>
    </p:spTree>
    <p:extLst>
      <p:ext uri="{BB962C8B-B14F-4D97-AF65-F5344CB8AC3E}">
        <p14:creationId xmlns:p14="http://schemas.microsoft.com/office/powerpoint/2010/main" val="4372947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35" name="Group 35"/>
          <p:cNvGrpSpPr/>
          <p:nvPr/>
        </p:nvGrpSpPr>
        <p:grpSpPr>
          <a:xfrm>
            <a:off x="14477864" y="-772840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15204">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4" name="TextBox 42">
            <a:extLst>
              <a:ext uri="{FF2B5EF4-FFF2-40B4-BE49-F238E27FC236}">
                <a16:creationId xmlns:a16="http://schemas.microsoft.com/office/drawing/2014/main" id="{03AFAE7C-56D9-1D72-41AA-8BC34AE187D6}"/>
              </a:ext>
            </a:extLst>
          </p:cNvPr>
          <p:cNvSpPr txBox="1"/>
          <p:nvPr/>
        </p:nvSpPr>
        <p:spPr>
          <a:xfrm>
            <a:off x="610328" y="384957"/>
            <a:ext cx="11323938" cy="987963"/>
          </a:xfrm>
          <a:prstGeom prst="rect">
            <a:avLst/>
          </a:prstGeom>
        </p:spPr>
        <p:txBody>
          <a:bodyPr wrap="square" lIns="0" tIns="0" rIns="0" bIns="0" rtlCol="0" anchor="ctr">
            <a:spAutoFit/>
          </a:bodyPr>
          <a:lstStyle/>
          <a:p>
            <a:pPr>
              <a:lnSpc>
                <a:spcPts val="8902"/>
              </a:lnSpc>
              <a:spcBef>
                <a:spcPct val="0"/>
              </a:spcBef>
            </a:pPr>
            <a:r>
              <a:rPr lang="en-US" sz="4000" b="1">
                <a:solidFill>
                  <a:srgbClr val="FF0000"/>
                </a:solidFill>
                <a:latin typeface="Avenir Book"/>
                <a:ea typeface="Gotham Bold"/>
                <a:cs typeface="Gotham Bold"/>
                <a:sym typeface="Gotham Bold"/>
              </a:rPr>
              <a:t>AOI Statistics Comparison with </a:t>
            </a:r>
            <a:r>
              <a:rPr lang="en-US" sz="4000" b="1" err="1">
                <a:solidFill>
                  <a:srgbClr val="FF0000"/>
                </a:solidFill>
                <a:latin typeface="Avenir Book"/>
                <a:ea typeface="Gotham Bold"/>
                <a:cs typeface="Gotham Bold"/>
                <a:sym typeface="Gotham Bold"/>
              </a:rPr>
              <a:t>BaseLine</a:t>
            </a:r>
            <a:r>
              <a:rPr lang="en-US" sz="4000" b="1">
                <a:solidFill>
                  <a:srgbClr val="FF0000"/>
                </a:solidFill>
                <a:latin typeface="Avenir Book"/>
                <a:ea typeface="Gotham Bold"/>
                <a:cs typeface="Gotham Bold"/>
                <a:sym typeface="Gotham Bold"/>
              </a:rPr>
              <a:t>:</a:t>
            </a:r>
            <a:endParaRPr lang="en-US" sz="4000" b="1">
              <a:solidFill>
                <a:srgbClr val="FF0000"/>
              </a:solidFill>
              <a:latin typeface="Avenir Book"/>
              <a:ea typeface="Gotham Bold"/>
              <a:cs typeface="Gotham Bold"/>
            </a:endParaRPr>
          </a:p>
        </p:txBody>
      </p:sp>
      <p:graphicFrame>
        <p:nvGraphicFramePr>
          <p:cNvPr id="3" name="Table 2">
            <a:extLst>
              <a:ext uri="{FF2B5EF4-FFF2-40B4-BE49-F238E27FC236}">
                <a16:creationId xmlns:a16="http://schemas.microsoft.com/office/drawing/2014/main" id="{0D2602D2-EF56-81CD-3B42-A5C478384C1D}"/>
              </a:ext>
            </a:extLst>
          </p:cNvPr>
          <p:cNvGraphicFramePr>
            <a:graphicFrameLocks noGrp="1"/>
          </p:cNvGraphicFramePr>
          <p:nvPr>
            <p:extLst>
              <p:ext uri="{D42A27DB-BD31-4B8C-83A1-F6EECF244321}">
                <p14:modId xmlns:p14="http://schemas.microsoft.com/office/powerpoint/2010/main" val="2722284627"/>
              </p:ext>
            </p:extLst>
          </p:nvPr>
        </p:nvGraphicFramePr>
        <p:xfrm>
          <a:off x="504264" y="1761564"/>
          <a:ext cx="10629891" cy="8031475"/>
        </p:xfrm>
        <a:graphic>
          <a:graphicData uri="http://schemas.openxmlformats.org/drawingml/2006/table">
            <a:tbl>
              <a:tblPr bandRow="1">
                <a:tableStyleId>{5C22544A-7EE6-4342-B048-85BDC9FD1C3A}</a:tableStyleId>
              </a:tblPr>
              <a:tblGrid>
                <a:gridCol w="3867186">
                  <a:extLst>
                    <a:ext uri="{9D8B030D-6E8A-4147-A177-3AD203B41FA5}">
                      <a16:colId xmlns:a16="http://schemas.microsoft.com/office/drawing/2014/main" val="726862531"/>
                    </a:ext>
                  </a:extLst>
                </a:gridCol>
                <a:gridCol w="1752598">
                  <a:extLst>
                    <a:ext uri="{9D8B030D-6E8A-4147-A177-3AD203B41FA5}">
                      <a16:colId xmlns:a16="http://schemas.microsoft.com/office/drawing/2014/main" val="1029074764"/>
                    </a:ext>
                  </a:extLst>
                </a:gridCol>
                <a:gridCol w="1695448">
                  <a:extLst>
                    <a:ext uri="{9D8B030D-6E8A-4147-A177-3AD203B41FA5}">
                      <a16:colId xmlns:a16="http://schemas.microsoft.com/office/drawing/2014/main" val="1965502615"/>
                    </a:ext>
                  </a:extLst>
                </a:gridCol>
                <a:gridCol w="1447800">
                  <a:extLst>
                    <a:ext uri="{9D8B030D-6E8A-4147-A177-3AD203B41FA5}">
                      <a16:colId xmlns:a16="http://schemas.microsoft.com/office/drawing/2014/main" val="1226742"/>
                    </a:ext>
                  </a:extLst>
                </a:gridCol>
                <a:gridCol w="1866859">
                  <a:extLst>
                    <a:ext uri="{9D8B030D-6E8A-4147-A177-3AD203B41FA5}">
                      <a16:colId xmlns:a16="http://schemas.microsoft.com/office/drawing/2014/main" val="2962532712"/>
                    </a:ext>
                  </a:extLst>
                </a:gridCol>
              </a:tblGrid>
              <a:tr h="704850">
                <a:tc>
                  <a:txBody>
                    <a:bodyPr/>
                    <a:lstStyle/>
                    <a:p>
                      <a:pPr algn="ctr" rtl="0" fontAlgn="base">
                        <a:lnSpc>
                          <a:spcPct val="100000"/>
                        </a:lnSpc>
                      </a:pPr>
                      <a:r>
                        <a:rPr lang="en-US" sz="2000" b="1">
                          <a:solidFill>
                            <a:srgbClr val="FFFFFF"/>
                          </a:solidFill>
                          <a:effectLst/>
                          <a:latin typeface="Avenir Book"/>
                        </a:rPr>
                        <a:t>Fields</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41910" cap="flat" cmpd="sng" algn="ctr">
                      <a:solidFill>
                        <a:srgbClr val="FFFFFF"/>
                      </a:solidFill>
                      <a:prstDash val="solid"/>
                      <a:round/>
                      <a:headEnd type="none" w="med" len="med"/>
                      <a:tailEnd type="none" w="med" len="med"/>
                    </a:lnB>
                    <a:solidFill>
                      <a:srgbClr val="FC4710"/>
                    </a:solidFill>
                  </a:tcPr>
                </a:tc>
                <a:tc>
                  <a:txBody>
                    <a:bodyPr/>
                    <a:lstStyle/>
                    <a:p>
                      <a:pPr algn="ctr" rtl="0" fontAlgn="base">
                        <a:lnSpc>
                          <a:spcPct val="100000"/>
                        </a:lnSpc>
                      </a:pPr>
                      <a:r>
                        <a:rPr lang="en-US" sz="2000" b="1">
                          <a:solidFill>
                            <a:srgbClr val="FFFFFF"/>
                          </a:solidFill>
                          <a:effectLst/>
                          <a:latin typeface="Avenir Book"/>
                        </a:rPr>
                        <a:t>Baseline F1 (A)</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41910" cap="flat" cmpd="sng" algn="ctr">
                      <a:solidFill>
                        <a:srgbClr val="FFFFFF"/>
                      </a:solidFill>
                      <a:prstDash val="solid"/>
                      <a:round/>
                      <a:headEnd type="none" w="med" len="med"/>
                      <a:tailEnd type="none" w="med" len="med"/>
                    </a:lnB>
                    <a:solidFill>
                      <a:srgbClr val="FC4710"/>
                    </a:solidFill>
                  </a:tcPr>
                </a:tc>
                <a:tc>
                  <a:txBody>
                    <a:bodyPr/>
                    <a:lstStyle/>
                    <a:p>
                      <a:pPr algn="ctr" rtl="0" fontAlgn="base">
                        <a:lnSpc>
                          <a:spcPct val="100000"/>
                        </a:lnSpc>
                      </a:pPr>
                      <a:r>
                        <a:rPr lang="en-US" sz="2000" b="1">
                          <a:solidFill>
                            <a:srgbClr val="FFFFFF"/>
                          </a:solidFill>
                          <a:effectLst/>
                          <a:latin typeface="Avenir Book"/>
                        </a:rPr>
                        <a:t>Current F1 (B)</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41910" cap="flat" cmpd="sng" algn="ctr">
                      <a:solidFill>
                        <a:srgbClr val="FFFFFF"/>
                      </a:solidFill>
                      <a:prstDash val="solid"/>
                      <a:round/>
                      <a:headEnd type="none" w="med" len="med"/>
                      <a:tailEnd type="none" w="med" len="med"/>
                    </a:lnB>
                    <a:solidFill>
                      <a:srgbClr val="FC4710"/>
                    </a:solidFill>
                  </a:tcPr>
                </a:tc>
                <a:tc>
                  <a:txBody>
                    <a:bodyPr/>
                    <a:lstStyle/>
                    <a:p>
                      <a:pPr algn="ctr" rtl="0" fontAlgn="base">
                        <a:lnSpc>
                          <a:spcPct val="100000"/>
                        </a:lnSpc>
                      </a:pPr>
                      <a:r>
                        <a:rPr lang="en-US" sz="2000" b="1">
                          <a:solidFill>
                            <a:srgbClr val="FFFFFF"/>
                          </a:solidFill>
                          <a:effectLst/>
                          <a:latin typeface="Avenir Book"/>
                        </a:rPr>
                        <a:t>B - A</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41910" cap="flat" cmpd="sng" algn="ctr">
                      <a:solidFill>
                        <a:srgbClr val="FFFFFF"/>
                      </a:solidFill>
                      <a:prstDash val="solid"/>
                      <a:round/>
                      <a:headEnd type="none" w="med" len="med"/>
                      <a:tailEnd type="none" w="med" len="med"/>
                    </a:lnB>
                    <a:solidFill>
                      <a:srgbClr val="FC4710"/>
                    </a:solidFill>
                  </a:tcPr>
                </a:tc>
                <a:tc>
                  <a:txBody>
                    <a:bodyPr/>
                    <a:lstStyle/>
                    <a:p>
                      <a:pPr lvl="0" algn="ctr">
                        <a:lnSpc>
                          <a:spcPct val="100000"/>
                        </a:lnSpc>
                        <a:buNone/>
                      </a:pPr>
                      <a:r>
                        <a:rPr lang="en-US" sz="2000" b="1" i="0" u="none" strike="noStrike" noProof="0">
                          <a:solidFill>
                            <a:srgbClr val="FFFFFF"/>
                          </a:solidFill>
                          <a:effectLst/>
                          <a:latin typeface="Avenir Book"/>
                        </a:rPr>
                        <a:t># of samples</a:t>
                      </a:r>
                      <a:endParaRPr lang="en-US" sz="2000">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41910" cap="flat" cmpd="sng" algn="ctr">
                      <a:solidFill>
                        <a:srgbClr val="FFFFFF"/>
                      </a:solidFill>
                      <a:prstDash val="solid"/>
                      <a:round/>
                      <a:headEnd type="none" w="med" len="med"/>
                      <a:tailEnd type="none" w="med" len="med"/>
                    </a:lnB>
                    <a:solidFill>
                      <a:srgbClr val="FC4710"/>
                    </a:solidFill>
                  </a:tcPr>
                </a:tc>
                <a:extLst>
                  <a:ext uri="{0D108BD9-81ED-4DB2-BD59-A6C34878D82A}">
                    <a16:rowId xmlns:a16="http://schemas.microsoft.com/office/drawing/2014/main" val="4153232705"/>
                  </a:ext>
                </a:extLst>
              </a:tr>
              <a:tr h="666750">
                <a:tc>
                  <a:txBody>
                    <a:bodyPr/>
                    <a:lstStyle/>
                    <a:p>
                      <a:pPr lvl="0" algn="ctr">
                        <a:lnSpc>
                          <a:spcPct val="100000"/>
                        </a:lnSpc>
                        <a:buNone/>
                      </a:pPr>
                      <a:r>
                        <a:rPr lang="en-US" sz="2000" b="1" i="0" u="none" strike="noStrike" noProof="0" err="1">
                          <a:solidFill>
                            <a:srgbClr val="000000"/>
                          </a:solidFill>
                          <a:effectLst/>
                          <a:latin typeface="Avenir Book"/>
                        </a:rPr>
                        <a:t>shareholder_names</a:t>
                      </a:r>
                      <a:endParaRPr lang="en-US" sz="2000" b="1">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41910"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tc>
                  <a:txBody>
                    <a:bodyPr/>
                    <a:lstStyle/>
                    <a:p>
                      <a:pPr lvl="0" algn="ctr">
                        <a:lnSpc>
                          <a:spcPct val="100000"/>
                        </a:lnSpc>
                        <a:buNone/>
                      </a:pPr>
                      <a:r>
                        <a:rPr lang="en-US" sz="2000" b="0" i="0" u="none" strike="noStrike" noProof="0">
                          <a:solidFill>
                            <a:srgbClr val="000000"/>
                          </a:solidFill>
                          <a:effectLst/>
                          <a:latin typeface="Avenir Book"/>
                        </a:rPr>
                        <a:t>27%</a:t>
                      </a:r>
                      <a:endParaRPr lang="en-US" sz="2000">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41910"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tc>
                  <a:txBody>
                    <a:bodyPr/>
                    <a:lstStyle/>
                    <a:p>
                      <a:pPr lvl="0" algn="ctr">
                        <a:lnSpc>
                          <a:spcPct val="100000"/>
                        </a:lnSpc>
                        <a:buNone/>
                      </a:pPr>
                      <a:r>
                        <a:rPr lang="en-US" sz="2000" b="0" i="0" u="none" strike="noStrike" noProof="0">
                          <a:solidFill>
                            <a:srgbClr val="000000"/>
                          </a:solidFill>
                          <a:effectLst/>
                          <a:latin typeface="Avenir Book"/>
                        </a:rPr>
                        <a:t>56%</a:t>
                      </a:r>
                      <a:endParaRPr lang="en-US" sz="2000">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41910"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tc>
                  <a:txBody>
                    <a:bodyPr/>
                    <a:lstStyle/>
                    <a:p>
                      <a:pPr lvl="0" algn="ctr">
                        <a:lnSpc>
                          <a:spcPct val="100000"/>
                        </a:lnSpc>
                        <a:buNone/>
                      </a:pPr>
                      <a:r>
                        <a:rPr lang="en-US" sz="2000" b="0" i="0" u="none" strike="noStrike" noProof="0">
                          <a:solidFill>
                            <a:srgbClr val="00B050"/>
                          </a:solidFill>
                          <a:effectLst/>
                          <a:latin typeface="Avenir Book"/>
                        </a:rPr>
                        <a:t>+29%</a:t>
                      </a:r>
                      <a:endParaRPr lang="en-US" sz="2000">
                        <a:solidFill>
                          <a:srgbClr val="00B050"/>
                        </a:solidFill>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41910"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tc>
                  <a:txBody>
                    <a:bodyPr/>
                    <a:lstStyle/>
                    <a:p>
                      <a:pPr lvl="0" algn="ctr">
                        <a:lnSpc>
                          <a:spcPct val="100000"/>
                        </a:lnSpc>
                        <a:buNone/>
                      </a:pPr>
                      <a:r>
                        <a:rPr lang="en-US" sz="2000" b="0" i="0" u="none" strike="noStrike" noProof="0">
                          <a:solidFill>
                            <a:srgbClr val="000000"/>
                          </a:solidFill>
                          <a:effectLst/>
                          <a:latin typeface="Avenir Book"/>
                        </a:rPr>
                        <a:t>13</a:t>
                      </a:r>
                      <a:endParaRPr lang="en-US" sz="2000">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41910"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extLst>
                  <a:ext uri="{0D108BD9-81ED-4DB2-BD59-A6C34878D82A}">
                    <a16:rowId xmlns:a16="http://schemas.microsoft.com/office/drawing/2014/main" val="1445311773"/>
                  </a:ext>
                </a:extLst>
              </a:tr>
              <a:tr h="615691">
                <a:tc>
                  <a:txBody>
                    <a:bodyPr/>
                    <a:lstStyle/>
                    <a:p>
                      <a:pPr lvl="0" algn="ctr">
                        <a:lnSpc>
                          <a:spcPct val="100000"/>
                        </a:lnSpc>
                        <a:buNone/>
                      </a:pPr>
                      <a:r>
                        <a:rPr lang="en-US" sz="2000" b="1" i="0" u="none" strike="noStrike" noProof="0" err="1">
                          <a:solidFill>
                            <a:srgbClr val="000000"/>
                          </a:solidFill>
                          <a:effectLst/>
                          <a:latin typeface="Avenir Book"/>
                        </a:rPr>
                        <a:t>date_of_signature</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spcBef>
                          <a:spcPts val="0"/>
                        </a:spcBef>
                        <a:spcAft>
                          <a:spcPts val="0"/>
                        </a:spcAft>
                        <a:buNone/>
                      </a:pPr>
                      <a:r>
                        <a:rPr lang="en-US" sz="2000">
                          <a:effectLst/>
                          <a:latin typeface="Avenir Book"/>
                        </a:rPr>
                        <a:t>39%</a:t>
                      </a:r>
                      <a:endParaRPr lang="en-US" sz="2000" b="0" i="0" u="none" strike="noStrike" noProof="0">
                        <a:solidFill>
                          <a:srgbClr val="000000"/>
                        </a:solidFill>
                        <a:effectLst/>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000000"/>
                          </a:solidFill>
                          <a:effectLst/>
                          <a:latin typeface="Avenir Book"/>
                        </a:rPr>
                        <a:t>62%</a:t>
                      </a:r>
                      <a:endParaRPr lang="en-US" sz="2000">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00B050"/>
                          </a:solidFill>
                          <a:effectLst/>
                          <a:latin typeface="Avenir Book"/>
                        </a:rPr>
                        <a:t>+23%</a:t>
                      </a:r>
                      <a:endParaRPr lang="en-US" sz="2000">
                        <a:solidFill>
                          <a:srgbClr val="00B050"/>
                        </a:solidFill>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5</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780356607"/>
                  </a:ext>
                </a:extLst>
              </a:tr>
              <a:tr h="628650">
                <a:tc>
                  <a:txBody>
                    <a:bodyPr/>
                    <a:lstStyle/>
                    <a:p>
                      <a:pPr lvl="0" algn="ctr">
                        <a:lnSpc>
                          <a:spcPct val="100000"/>
                        </a:lnSpc>
                        <a:buNone/>
                      </a:pPr>
                      <a:r>
                        <a:rPr lang="en-US" sz="2000" b="1" i="0" u="none" strike="noStrike" noProof="0" err="1">
                          <a:solidFill>
                            <a:srgbClr val="000000"/>
                          </a:solidFill>
                          <a:effectLst/>
                          <a:latin typeface="Avenir Book"/>
                        </a:rPr>
                        <a:t>total_number_of_shares</a:t>
                      </a:r>
                      <a:endParaRPr lang="en-US" sz="2000" b="1">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tc>
                  <a:txBody>
                    <a:bodyPr/>
                    <a:lstStyle/>
                    <a:p>
                      <a:pPr algn="ctr" rtl="0" fontAlgn="base">
                        <a:lnSpc>
                          <a:spcPct val="100000"/>
                        </a:lnSpc>
                      </a:pPr>
                      <a:r>
                        <a:rPr lang="en-US" sz="2000">
                          <a:effectLst/>
                          <a:latin typeface="Avenir Book"/>
                        </a:rPr>
                        <a:t>83%</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tc>
                  <a:txBody>
                    <a:bodyPr/>
                    <a:lstStyle/>
                    <a:p>
                      <a:pPr lvl="0" algn="ctr">
                        <a:lnSpc>
                          <a:spcPct val="100000"/>
                        </a:lnSpc>
                        <a:buNone/>
                      </a:pPr>
                      <a:r>
                        <a:rPr lang="en-US" sz="2000" b="0" i="0" u="none" strike="noStrike" noProof="0">
                          <a:solidFill>
                            <a:srgbClr val="000000"/>
                          </a:solidFill>
                          <a:effectLst/>
                          <a:latin typeface="Avenir Book"/>
                        </a:rPr>
                        <a:t>100%</a:t>
                      </a:r>
                      <a:endParaRPr lang="en-US" sz="2000">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tc>
                  <a:txBody>
                    <a:bodyPr/>
                    <a:lstStyle/>
                    <a:p>
                      <a:pPr algn="ctr" rtl="0" fontAlgn="base">
                        <a:lnSpc>
                          <a:spcPct val="100000"/>
                        </a:lnSpc>
                      </a:pPr>
                      <a:r>
                        <a:rPr lang="en-US" sz="2000" b="0" i="0" u="none" strike="noStrike" noProof="0">
                          <a:solidFill>
                            <a:srgbClr val="00B050"/>
                          </a:solidFill>
                          <a:effectLst/>
                          <a:latin typeface="Avenir Book"/>
                        </a:rPr>
                        <a:t>+17%</a:t>
                      </a:r>
                      <a:endParaRPr lang="en-US" sz="2000">
                        <a:solidFill>
                          <a:srgbClr val="00B050"/>
                        </a:solidFill>
                        <a:effectLst/>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tc>
                  <a:txBody>
                    <a:bodyPr/>
                    <a:lstStyle/>
                    <a:p>
                      <a:pPr lvl="0" algn="ctr">
                        <a:lnSpc>
                          <a:spcPct val="100000"/>
                        </a:lnSpc>
                        <a:buNone/>
                      </a:pPr>
                      <a:r>
                        <a:rPr lang="en-US" sz="2000" b="0" i="0" u="none" strike="noStrike" noProof="0">
                          <a:solidFill>
                            <a:srgbClr val="000000"/>
                          </a:solidFill>
                          <a:effectLst/>
                          <a:latin typeface="Avenir Book"/>
                        </a:rPr>
                        <a:t>5</a:t>
                      </a:r>
                      <a:endParaRPr lang="en-US" sz="2000">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CFCC"/>
                    </a:solidFill>
                  </a:tcPr>
                </a:tc>
                <a:extLst>
                  <a:ext uri="{0D108BD9-81ED-4DB2-BD59-A6C34878D82A}">
                    <a16:rowId xmlns:a16="http://schemas.microsoft.com/office/drawing/2014/main" val="210192265"/>
                  </a:ext>
                </a:extLst>
              </a:tr>
              <a:tr h="704850">
                <a:tc>
                  <a:txBody>
                    <a:bodyPr/>
                    <a:lstStyle/>
                    <a:p>
                      <a:pPr lvl="0" algn="ctr">
                        <a:lnSpc>
                          <a:spcPct val="100000"/>
                        </a:lnSpc>
                        <a:buNone/>
                      </a:pPr>
                      <a:r>
                        <a:rPr lang="en-US" sz="2000" b="1" i="0" u="none" strike="noStrike" noProof="0" err="1">
                          <a:solidFill>
                            <a:srgbClr val="000000"/>
                          </a:solidFill>
                          <a:effectLst/>
                          <a:latin typeface="Avenir Book"/>
                        </a:rPr>
                        <a:t>period_of_corporation_duration</a:t>
                      </a:r>
                      <a:endParaRPr lang="en-US" sz="2000" b="1">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tc>
                  <a:txBody>
                    <a:bodyPr/>
                    <a:lstStyle/>
                    <a:p>
                      <a:pPr algn="ctr" rtl="0" fontAlgn="base">
                        <a:lnSpc>
                          <a:spcPct val="100000"/>
                        </a:lnSpc>
                      </a:pPr>
                      <a:r>
                        <a:rPr lang="en-US" sz="2000">
                          <a:effectLst/>
                          <a:latin typeface="Avenir Book"/>
                        </a:rPr>
                        <a:t>40%</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000000"/>
                          </a:solidFill>
                          <a:effectLst/>
                          <a:latin typeface="Avenir Book"/>
                        </a:rPr>
                        <a:t>52%</a:t>
                      </a:r>
                      <a:endParaRPr lang="en-US" sz="2000">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tc>
                  <a:txBody>
                    <a:bodyPr/>
                    <a:lstStyle/>
                    <a:p>
                      <a:pPr algn="ctr" rtl="0" fontAlgn="base">
                        <a:lnSpc>
                          <a:spcPct val="100000"/>
                        </a:lnSpc>
                      </a:pPr>
                      <a:r>
                        <a:rPr lang="en-US" sz="2000">
                          <a:solidFill>
                            <a:srgbClr val="00B050"/>
                          </a:solidFill>
                          <a:effectLst/>
                          <a:latin typeface="Avenir Book"/>
                        </a:rPr>
                        <a:t>+</a:t>
                      </a:r>
                      <a:r>
                        <a:rPr lang="en-US" sz="2000" b="0" i="0" u="none" strike="noStrike" noProof="0">
                          <a:solidFill>
                            <a:srgbClr val="00B050"/>
                          </a:solidFill>
                          <a:effectLst/>
                          <a:latin typeface="Avenir Book"/>
                        </a:rPr>
                        <a:t>12%</a:t>
                      </a:r>
                      <a:endParaRPr lang="en-US" sz="2000">
                        <a:solidFill>
                          <a:srgbClr val="00B050"/>
                        </a:solidFill>
                        <a:effectLst/>
                        <a:latin typeface="Avenir Book"/>
                      </a:endParaRP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3</a:t>
                      </a:r>
                    </a:p>
                  </a:txBody>
                  <a:tcPr marL="100584" marR="100584" marT="50292" marB="50292" anchor="ctr">
                    <a:lnL w="13964" cap="flat" cmpd="sng" algn="ctr">
                      <a:solidFill>
                        <a:srgbClr val="FFFFFF"/>
                      </a:solidFill>
                      <a:prstDash val="solid"/>
                      <a:round/>
                      <a:headEnd type="none" w="med" len="med"/>
                      <a:tailEnd type="none" w="med" len="med"/>
                    </a:lnL>
                    <a:lnR w="13964" cap="flat" cmpd="sng" algn="ctr">
                      <a:solidFill>
                        <a:srgbClr val="FFFFFF"/>
                      </a:solidFill>
                      <a:prstDash val="solid"/>
                      <a:round/>
                      <a:headEnd type="none" w="med" len="med"/>
                      <a:tailEnd type="none" w="med" len="med"/>
                    </a:lnR>
                    <a:lnT w="13964" cap="flat" cmpd="sng" algn="ctr">
                      <a:solidFill>
                        <a:srgbClr val="FFFFFF"/>
                      </a:solidFill>
                      <a:prstDash val="solid"/>
                      <a:round/>
                      <a:headEnd type="none" w="med" len="med"/>
                      <a:tailEnd type="none" w="med" len="med"/>
                    </a:lnT>
                    <a:lnB w="13964"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4135669509"/>
                  </a:ext>
                </a:extLst>
              </a:tr>
              <a:tr h="685800">
                <a:tc>
                  <a:txBody>
                    <a:bodyPr/>
                    <a:lstStyle/>
                    <a:p>
                      <a:pPr lvl="0" algn="ctr">
                        <a:lnSpc>
                          <a:spcPct val="100000"/>
                        </a:lnSpc>
                        <a:buNone/>
                      </a:pPr>
                      <a:r>
                        <a:rPr lang="en-US" sz="2000" b="1" i="0" u="none" strike="noStrike" noProof="0" err="1">
                          <a:solidFill>
                            <a:srgbClr val="000000"/>
                          </a:solidFill>
                          <a:effectLst/>
                          <a:latin typeface="Avenir Book"/>
                        </a:rPr>
                        <a:t>corporation_agent</a:t>
                      </a:r>
                      <a:endParaRPr lang="en-US" sz="2000" b="1">
                        <a:latin typeface="Avenir Book"/>
                      </a:endParaRPr>
                    </a:p>
                  </a:txBody>
                  <a:tcPr marL="100584" marR="100584" marT="50292" marB="50292" anchor="ctr">
                    <a:lnL w="13963">
                      <a:solidFill>
                        <a:srgbClr val="FFFFFF"/>
                      </a:solidFill>
                    </a:lnL>
                    <a:lnR w="13963">
                      <a:solidFill>
                        <a:srgbClr val="FFFFFF"/>
                      </a:solidFill>
                    </a:lnR>
                    <a:lnT w="13964" cap="flat" cmpd="sng" algn="ctr">
                      <a:solidFill>
                        <a:srgbClr val="FFFFFF"/>
                      </a:solidFill>
                      <a:prstDash val="solid"/>
                      <a:round/>
                      <a:headEnd type="none" w="med" len="med"/>
                      <a:tailEnd type="none" w="med" len="med"/>
                    </a:lnT>
                    <a:lnB w="13963"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buNone/>
                      </a:pPr>
                      <a:r>
                        <a:rPr lang="en-US" sz="2000">
                          <a:effectLst/>
                          <a:latin typeface="Avenir Book"/>
                        </a:rPr>
                        <a:t>63%</a:t>
                      </a:r>
                    </a:p>
                  </a:txBody>
                  <a:tcPr marL="100584" marR="100584" marT="50292" marB="50292" anchor="ctr">
                    <a:lnL w="13963">
                      <a:solidFill>
                        <a:srgbClr val="FFFFFF"/>
                      </a:solidFill>
                    </a:lnL>
                    <a:lnR w="13963">
                      <a:solidFill>
                        <a:srgbClr val="FFFFFF"/>
                      </a:solidFill>
                    </a:lnR>
                    <a:lnT w="13964" cap="flat" cmpd="sng" algn="ctr">
                      <a:solidFill>
                        <a:srgbClr val="FFFFFF"/>
                      </a:solidFill>
                      <a:prstDash val="solid"/>
                      <a:round/>
                      <a:headEnd type="none" w="med" len="med"/>
                      <a:tailEnd type="none" w="med" len="med"/>
                    </a:lnT>
                    <a:lnB w="13963"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buNone/>
                      </a:pPr>
                      <a:r>
                        <a:rPr lang="en-US" sz="2000" b="0" i="0" u="none" strike="noStrike" noProof="0">
                          <a:solidFill>
                            <a:srgbClr val="000000"/>
                          </a:solidFill>
                          <a:effectLst/>
                          <a:latin typeface="Avenir Book"/>
                        </a:rPr>
                        <a:t>68%</a:t>
                      </a:r>
                      <a:endParaRPr lang="en-US" sz="2000">
                        <a:latin typeface="Avenir Book"/>
                      </a:endParaRPr>
                    </a:p>
                  </a:txBody>
                  <a:tcPr marL="100584" marR="100584" marT="50292" marB="50292" anchor="ctr">
                    <a:lnL w="13963">
                      <a:solidFill>
                        <a:srgbClr val="FFFFFF"/>
                      </a:solidFill>
                    </a:lnL>
                    <a:lnR w="13963">
                      <a:solidFill>
                        <a:srgbClr val="FFFFFF"/>
                      </a:solidFill>
                    </a:lnR>
                    <a:lnT w="13964" cap="flat" cmpd="sng" algn="ctr">
                      <a:solidFill>
                        <a:srgbClr val="FFFFFF"/>
                      </a:solidFill>
                      <a:prstDash val="solid"/>
                      <a:round/>
                      <a:headEnd type="none" w="med" len="med"/>
                      <a:tailEnd type="none" w="med" len="med"/>
                    </a:lnT>
                    <a:lnB w="13963"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buNone/>
                      </a:pPr>
                      <a:r>
                        <a:rPr lang="en-US" sz="2000">
                          <a:solidFill>
                            <a:srgbClr val="00B050"/>
                          </a:solidFill>
                          <a:effectLst/>
                          <a:latin typeface="Avenir Book"/>
                        </a:rPr>
                        <a:t>+</a:t>
                      </a:r>
                      <a:r>
                        <a:rPr lang="en-US" sz="2000" b="0" i="0" u="none" strike="noStrike" noProof="0">
                          <a:solidFill>
                            <a:srgbClr val="00B050"/>
                          </a:solidFill>
                          <a:effectLst/>
                          <a:latin typeface="Avenir Book"/>
                        </a:rPr>
                        <a:t>5%</a:t>
                      </a:r>
                      <a:endParaRPr lang="en-US" sz="2000">
                        <a:solidFill>
                          <a:srgbClr val="00B050"/>
                        </a:solidFill>
                        <a:effectLst/>
                        <a:latin typeface="Avenir Book"/>
                      </a:endParaRPr>
                    </a:p>
                  </a:txBody>
                  <a:tcPr marL="100584" marR="100584" marT="50292" marB="50292" anchor="ctr">
                    <a:lnL w="13963">
                      <a:solidFill>
                        <a:srgbClr val="FFFFFF"/>
                      </a:solidFill>
                    </a:lnL>
                    <a:lnR w="13963">
                      <a:solidFill>
                        <a:srgbClr val="FFFFFF"/>
                      </a:solidFill>
                    </a:lnR>
                    <a:lnT w="13964" cap="flat" cmpd="sng" algn="ctr">
                      <a:solidFill>
                        <a:srgbClr val="FFFFFF"/>
                      </a:solidFill>
                      <a:prstDash val="solid"/>
                      <a:round/>
                      <a:headEnd type="none" w="med" len="med"/>
                      <a:tailEnd type="none" w="med" len="med"/>
                    </a:lnT>
                    <a:lnB w="13963"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10</a:t>
                      </a:r>
                    </a:p>
                  </a:txBody>
                  <a:tcPr marL="100584" marR="100584" marT="50292" marB="50292" anchor="ctr">
                    <a:lnL w="13963">
                      <a:solidFill>
                        <a:srgbClr val="FFFFFF"/>
                      </a:solidFill>
                    </a:lnL>
                    <a:lnR w="13963">
                      <a:solidFill>
                        <a:srgbClr val="FFFFFF"/>
                      </a:solidFill>
                    </a:lnR>
                    <a:lnT w="13964" cap="flat" cmpd="sng" algn="ctr">
                      <a:solidFill>
                        <a:srgbClr val="FFFFFF"/>
                      </a:solidFill>
                      <a:prstDash val="solid"/>
                      <a:round/>
                      <a:headEnd type="none" w="med" len="med"/>
                      <a:tailEnd type="none" w="med" len="med"/>
                    </a:lnT>
                    <a:lnB w="13963" cap="flat" cmpd="sng" algn="ctr">
                      <a:solidFill>
                        <a:srgbClr val="FFFFFF"/>
                      </a:solidFill>
                      <a:prstDash val="solid"/>
                      <a:round/>
                      <a:headEnd type="none" w="med" len="med"/>
                      <a:tailEnd type="none" w="med" len="med"/>
                    </a:lnB>
                    <a:solidFill>
                      <a:srgbClr val="FFCFCC"/>
                    </a:solidFill>
                  </a:tcPr>
                </a:tc>
                <a:extLst>
                  <a:ext uri="{0D108BD9-81ED-4DB2-BD59-A6C34878D82A}">
                    <a16:rowId xmlns:a16="http://schemas.microsoft.com/office/drawing/2014/main" val="3471305921"/>
                  </a:ext>
                </a:extLst>
              </a:tr>
              <a:tr h="628650">
                <a:tc>
                  <a:txBody>
                    <a:bodyPr/>
                    <a:lstStyle/>
                    <a:p>
                      <a:pPr lvl="0" algn="ctr">
                        <a:lnSpc>
                          <a:spcPct val="100000"/>
                        </a:lnSpc>
                        <a:buNone/>
                      </a:pPr>
                      <a:r>
                        <a:rPr lang="en-US" sz="2000" b="1" i="0" u="none" strike="noStrike" noProof="0">
                          <a:solidFill>
                            <a:srgbClr val="000000"/>
                          </a:solidFill>
                          <a:effectLst/>
                          <a:latin typeface="Avenir Book"/>
                        </a:rPr>
                        <a:t>incorporator_address1</a:t>
                      </a:r>
                      <a:endParaRPr lang="en-US" sz="2000" b="1">
                        <a:latin typeface="Avenir Book"/>
                      </a:endParaRPr>
                    </a:p>
                  </a:txBody>
                  <a:tcPr marL="100584" marR="100584" marT="50292" marB="50292" anchor="ctr">
                    <a:lnL w="13962">
                      <a:solidFill>
                        <a:srgbClr val="FFFFFF"/>
                      </a:solidFill>
                    </a:lnL>
                    <a:lnR w="13962">
                      <a:solidFill>
                        <a:srgbClr val="FFFFFF"/>
                      </a:solidFill>
                    </a:lnR>
                    <a:lnT w="13963" cap="flat" cmpd="sng" algn="ctr">
                      <a:solidFill>
                        <a:srgbClr val="FFFFFF"/>
                      </a:solidFill>
                      <a:prstDash val="solid"/>
                      <a:round/>
                      <a:headEnd type="none" w="med" len="med"/>
                      <a:tailEnd type="none" w="med" len="med"/>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a:effectLst/>
                          <a:latin typeface="Avenir Book"/>
                        </a:rPr>
                        <a:t>22%</a:t>
                      </a:r>
                    </a:p>
                  </a:txBody>
                  <a:tcPr marL="100584" marR="100584" marT="50292" marB="50292" anchor="ctr">
                    <a:lnL w="13962">
                      <a:solidFill>
                        <a:srgbClr val="FFFFFF"/>
                      </a:solidFill>
                    </a:lnL>
                    <a:lnR w="13962">
                      <a:solidFill>
                        <a:srgbClr val="FFFFFF"/>
                      </a:solidFill>
                    </a:lnR>
                    <a:lnT w="13963" cap="flat" cmpd="sng" algn="ctr">
                      <a:solidFill>
                        <a:srgbClr val="FFFFFF"/>
                      </a:solidFill>
                      <a:prstDash val="solid"/>
                      <a:round/>
                      <a:headEnd type="none" w="med" len="med"/>
                      <a:tailEnd type="none" w="med" len="med"/>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000000"/>
                          </a:solidFill>
                          <a:effectLst/>
                          <a:latin typeface="Avenir Book"/>
                        </a:rPr>
                        <a:t>20%</a:t>
                      </a:r>
                      <a:endParaRPr lang="en-US" sz="2000">
                        <a:latin typeface="Avenir Book"/>
                      </a:endParaRPr>
                    </a:p>
                  </a:txBody>
                  <a:tcPr marL="100584" marR="100584" marT="50292" marB="50292" anchor="ctr">
                    <a:lnL w="13962">
                      <a:solidFill>
                        <a:srgbClr val="FFFFFF"/>
                      </a:solidFill>
                    </a:lnL>
                    <a:lnR w="13962">
                      <a:solidFill>
                        <a:srgbClr val="FFFFFF"/>
                      </a:solidFill>
                    </a:lnR>
                    <a:lnT w="13963" cap="flat" cmpd="sng" algn="ctr">
                      <a:solidFill>
                        <a:srgbClr val="FFFFFF"/>
                      </a:solidFill>
                      <a:prstDash val="solid"/>
                      <a:round/>
                      <a:headEnd type="none" w="med" len="med"/>
                      <a:tailEnd type="none" w="med" len="med"/>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C00000"/>
                          </a:solidFill>
                          <a:effectLst/>
                          <a:latin typeface="Avenir Book"/>
                        </a:rPr>
                        <a:t>-2%</a:t>
                      </a:r>
                      <a:endParaRPr lang="en-US" sz="2000">
                        <a:solidFill>
                          <a:srgbClr val="C00000"/>
                        </a:solidFill>
                        <a:latin typeface="Avenir Book"/>
                      </a:endParaRPr>
                    </a:p>
                  </a:txBody>
                  <a:tcPr marL="100584" marR="100584" marT="50292" marB="50292" anchor="ctr">
                    <a:lnL w="13962">
                      <a:solidFill>
                        <a:srgbClr val="FFFFFF"/>
                      </a:solidFill>
                    </a:lnL>
                    <a:lnR w="13962">
                      <a:solidFill>
                        <a:srgbClr val="FFFFFF"/>
                      </a:solidFill>
                    </a:lnR>
                    <a:lnT w="13963" cap="flat" cmpd="sng" algn="ctr">
                      <a:solidFill>
                        <a:srgbClr val="FFFFFF"/>
                      </a:solidFill>
                      <a:prstDash val="solid"/>
                      <a:round/>
                      <a:headEnd type="none" w="med" len="med"/>
                      <a:tailEnd type="none" w="med" len="med"/>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4</a:t>
                      </a:r>
                    </a:p>
                  </a:txBody>
                  <a:tcPr marL="100584" marR="100584" marT="50292" marB="50292" anchor="ctr">
                    <a:lnL w="13962">
                      <a:solidFill>
                        <a:srgbClr val="FFFFFF"/>
                      </a:solidFill>
                    </a:lnL>
                    <a:lnR w="13962">
                      <a:solidFill>
                        <a:srgbClr val="FFFFFF"/>
                      </a:solidFill>
                    </a:lnR>
                    <a:lnT w="13963" cap="flat" cmpd="sng" algn="ctr">
                      <a:solidFill>
                        <a:srgbClr val="FFFFFF"/>
                      </a:solidFill>
                      <a:prstDash val="solid"/>
                      <a:round/>
                      <a:headEnd type="none" w="med" len="med"/>
                      <a:tailEnd type="none" w="med" len="med"/>
                    </a:lnT>
                    <a:lnB w="1396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2224232378"/>
                  </a:ext>
                </a:extLst>
              </a:tr>
              <a:tr h="723900">
                <a:tc>
                  <a:txBody>
                    <a:bodyPr/>
                    <a:lstStyle/>
                    <a:p>
                      <a:pPr lvl="0" algn="ctr">
                        <a:lnSpc>
                          <a:spcPct val="100000"/>
                        </a:lnSpc>
                        <a:buNone/>
                      </a:pPr>
                      <a:r>
                        <a:rPr lang="en-US" sz="2000" b="1" i="0" u="none" strike="noStrike" noProof="0" err="1">
                          <a:solidFill>
                            <a:srgbClr val="000000"/>
                          </a:solidFill>
                          <a:effectLst/>
                          <a:latin typeface="Avenir Book"/>
                        </a:rPr>
                        <a:t>incorporator_name</a:t>
                      </a:r>
                      <a:endParaRPr lang="en-US" sz="2000" b="1">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buNone/>
                      </a:pPr>
                      <a:r>
                        <a:rPr lang="en-US" sz="2000">
                          <a:effectLst/>
                          <a:latin typeface="Avenir Book"/>
                        </a:rPr>
                        <a:t>84%</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buNone/>
                      </a:pPr>
                      <a:r>
                        <a:rPr lang="en-US" sz="2000" b="0" i="0" u="none" strike="noStrike" noProof="0">
                          <a:solidFill>
                            <a:srgbClr val="000000"/>
                          </a:solidFill>
                          <a:effectLst/>
                          <a:latin typeface="Avenir Book"/>
                        </a:rPr>
                        <a:t>82%</a:t>
                      </a:r>
                      <a:endParaRPr lang="en-US" sz="2000">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buNone/>
                      </a:pPr>
                      <a:r>
                        <a:rPr lang="en-US" sz="2000" b="0" i="0" u="none" strike="noStrike" noProof="0">
                          <a:solidFill>
                            <a:srgbClr val="C00000"/>
                          </a:solidFill>
                          <a:effectLst/>
                          <a:latin typeface="Avenir Book"/>
                        </a:rPr>
                        <a:t>-2%</a:t>
                      </a:r>
                      <a:endParaRPr lang="en-US" sz="2000">
                        <a:solidFill>
                          <a:srgbClr val="C00000"/>
                        </a:solidFill>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buNone/>
                      </a:pPr>
                      <a:r>
                        <a:rPr lang="en-US" sz="2000" b="0" i="0" u="none" strike="noStrike" noProof="0">
                          <a:solidFill>
                            <a:srgbClr val="000000"/>
                          </a:solidFill>
                          <a:effectLst/>
                          <a:latin typeface="Avenir Book"/>
                        </a:rPr>
                        <a:t>10</a:t>
                      </a:r>
                      <a:endParaRPr lang="en-US" sz="2000">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extLst>
                  <a:ext uri="{0D108BD9-81ED-4DB2-BD59-A6C34878D82A}">
                    <a16:rowId xmlns:a16="http://schemas.microsoft.com/office/drawing/2014/main" val="933255839"/>
                  </a:ext>
                </a:extLst>
              </a:tr>
              <a:tr h="647700">
                <a:tc>
                  <a:txBody>
                    <a:bodyPr/>
                    <a:lstStyle/>
                    <a:p>
                      <a:pPr lvl="0" algn="ctr">
                        <a:lnSpc>
                          <a:spcPct val="100000"/>
                        </a:lnSpc>
                        <a:buNone/>
                      </a:pPr>
                      <a:r>
                        <a:rPr lang="en-US" sz="2000" b="1" i="0" u="none" strike="noStrike" noProof="0" err="1">
                          <a:solidFill>
                            <a:srgbClr val="000000"/>
                          </a:solidFill>
                          <a:effectLst/>
                          <a:latin typeface="Avenir Book"/>
                        </a:rPr>
                        <a:t>corporation_name</a:t>
                      </a:r>
                      <a:endParaRPr lang="en-US" sz="2000" b="1">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a:effectLst/>
                          <a:latin typeface="Avenir Book"/>
                        </a:rPr>
                        <a:t>100%</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000000"/>
                          </a:solidFill>
                          <a:effectLst/>
                          <a:latin typeface="Avenir Book"/>
                        </a:rPr>
                        <a:t>74%</a:t>
                      </a:r>
                      <a:endParaRPr lang="en-US" sz="2000">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C00000"/>
                          </a:solidFill>
                          <a:effectLst/>
                          <a:latin typeface="Avenir Book"/>
                        </a:rPr>
                        <a:t>-26%</a:t>
                      </a:r>
                      <a:endParaRPr lang="en-US" sz="2000">
                        <a:solidFill>
                          <a:srgbClr val="C00000"/>
                        </a:solidFill>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9</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3942520844"/>
                  </a:ext>
                </a:extLst>
              </a:tr>
              <a:tr h="704850">
                <a:tc>
                  <a:txBody>
                    <a:bodyPr/>
                    <a:lstStyle/>
                    <a:p>
                      <a:pPr lvl="0" algn="ctr">
                        <a:lnSpc>
                          <a:spcPct val="100000"/>
                        </a:lnSpc>
                        <a:buNone/>
                      </a:pPr>
                      <a:r>
                        <a:rPr lang="en-US" sz="2000" b="1" i="0" u="none" strike="noStrike" noProof="0" err="1">
                          <a:solidFill>
                            <a:srgbClr val="000000"/>
                          </a:solidFill>
                          <a:effectLst/>
                          <a:latin typeface="Avenir Book"/>
                        </a:rPr>
                        <a:t>corporation_agent_address</a:t>
                      </a:r>
                      <a:endParaRPr lang="en-US" sz="2000" b="1">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buNone/>
                      </a:pPr>
                      <a:r>
                        <a:rPr lang="en-US" sz="2000">
                          <a:effectLst/>
                          <a:latin typeface="Avenir Book"/>
                        </a:rPr>
                        <a:t>55%</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buNone/>
                      </a:pPr>
                      <a:r>
                        <a:rPr lang="en-US" sz="2000" b="0" i="0" u="none" strike="noStrike" noProof="0">
                          <a:solidFill>
                            <a:srgbClr val="000000"/>
                          </a:solidFill>
                          <a:effectLst/>
                          <a:latin typeface="Avenir Book"/>
                        </a:rPr>
                        <a:t>26%</a:t>
                      </a:r>
                      <a:endParaRPr lang="en-US" sz="2000">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buNone/>
                      </a:pPr>
                      <a:r>
                        <a:rPr lang="en-US" sz="2000" b="0" i="0" u="none" strike="noStrike" noProof="0">
                          <a:solidFill>
                            <a:srgbClr val="C00000"/>
                          </a:solidFill>
                          <a:effectLst/>
                          <a:latin typeface="Avenir Book"/>
                        </a:rPr>
                        <a:t>-29%</a:t>
                      </a:r>
                      <a:endParaRPr lang="en-US" sz="2000">
                        <a:solidFill>
                          <a:srgbClr val="C00000"/>
                        </a:solidFill>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tc>
                  <a:txBody>
                    <a:bodyPr/>
                    <a:lstStyle/>
                    <a:p>
                      <a:pPr lvl="0" algn="ctr">
                        <a:lnSpc>
                          <a:spcPct val="100000"/>
                        </a:lnSpc>
                        <a:spcBef>
                          <a:spcPts val="0"/>
                        </a:spcBef>
                        <a:spcAft>
                          <a:spcPts val="0"/>
                        </a:spcAft>
                        <a:buNone/>
                      </a:pPr>
                      <a:r>
                        <a:rPr lang="en-US" sz="2000" b="0" i="0" u="none" strike="noStrike" noProof="0">
                          <a:solidFill>
                            <a:srgbClr val="000000"/>
                          </a:solidFill>
                          <a:effectLst/>
                          <a:latin typeface="Avenir Book"/>
                        </a:rPr>
                        <a:t>6</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FCFCC"/>
                    </a:solidFill>
                  </a:tcPr>
                </a:tc>
                <a:extLst>
                  <a:ext uri="{0D108BD9-81ED-4DB2-BD59-A6C34878D82A}">
                    <a16:rowId xmlns:a16="http://schemas.microsoft.com/office/drawing/2014/main" val="4212011747"/>
                  </a:ext>
                </a:extLst>
              </a:tr>
              <a:tr h="628650">
                <a:tc>
                  <a:txBody>
                    <a:bodyPr/>
                    <a:lstStyle/>
                    <a:p>
                      <a:pPr lvl="0" algn="ctr">
                        <a:lnSpc>
                          <a:spcPct val="100000"/>
                        </a:lnSpc>
                        <a:buNone/>
                      </a:pPr>
                      <a:r>
                        <a:rPr lang="en-US" sz="2000" b="1" i="0" u="none" strike="noStrike" noProof="0" err="1">
                          <a:solidFill>
                            <a:srgbClr val="000000"/>
                          </a:solidFill>
                          <a:effectLst/>
                          <a:latin typeface="Avenir Book"/>
                        </a:rPr>
                        <a:t>corporation_address</a:t>
                      </a:r>
                      <a:endParaRPr lang="en-US" sz="2000" b="1">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a:effectLst/>
                          <a:latin typeface="Avenir Book"/>
                        </a:rPr>
                        <a:t>80%</a:t>
                      </a: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000000"/>
                          </a:solidFill>
                          <a:effectLst/>
                          <a:latin typeface="Avenir Book"/>
                        </a:rPr>
                        <a:t>48%</a:t>
                      </a:r>
                      <a:endParaRPr lang="en-US" sz="2000">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C00000"/>
                          </a:solidFill>
                          <a:effectLst/>
                          <a:latin typeface="Avenir Book"/>
                        </a:rPr>
                        <a:t>-32%</a:t>
                      </a:r>
                      <a:endParaRPr lang="en-US" sz="2000">
                        <a:solidFill>
                          <a:srgbClr val="C00000"/>
                        </a:solidFill>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tc>
                  <a:txBody>
                    <a:bodyPr/>
                    <a:lstStyle/>
                    <a:p>
                      <a:pPr lvl="0" algn="ctr">
                        <a:lnSpc>
                          <a:spcPct val="100000"/>
                        </a:lnSpc>
                        <a:buNone/>
                      </a:pPr>
                      <a:r>
                        <a:rPr lang="en-US" sz="2000" b="0" i="0" u="none" strike="noStrike" noProof="0">
                          <a:solidFill>
                            <a:srgbClr val="000000"/>
                          </a:solidFill>
                          <a:effectLst/>
                          <a:latin typeface="Avenir Book"/>
                        </a:rPr>
                        <a:t>5</a:t>
                      </a:r>
                      <a:endParaRPr lang="en-US" sz="2000">
                        <a:latin typeface="Avenir Book"/>
                      </a:endParaRPr>
                    </a:p>
                  </a:txBody>
                  <a:tcPr marL="100584" marR="100584" marT="50292" marB="50292" anchor="ctr">
                    <a:lnL w="13962">
                      <a:solidFill>
                        <a:srgbClr val="FFFFFF"/>
                      </a:solidFill>
                    </a:lnL>
                    <a:lnR w="13962">
                      <a:solidFill>
                        <a:srgbClr val="FFFFFF"/>
                      </a:solidFill>
                    </a:lnR>
                    <a:lnT w="13962">
                      <a:solidFill>
                        <a:srgbClr val="FFFFFF"/>
                      </a:solidFill>
                    </a:lnT>
                    <a:lnB w="1396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866777086"/>
                  </a:ext>
                </a:extLst>
              </a:tr>
              <a:tr h="685800">
                <a:tc>
                  <a:txBody>
                    <a:bodyPr/>
                    <a:lstStyle/>
                    <a:p>
                      <a:pPr lvl="0" algn="ctr">
                        <a:lnSpc>
                          <a:spcPct val="100000"/>
                        </a:lnSpc>
                        <a:buNone/>
                      </a:pPr>
                      <a:r>
                        <a:rPr lang="en-US" sz="2000" b="1" i="0" u="none" strike="noStrike" noProof="0">
                          <a:solidFill>
                            <a:srgbClr val="000000"/>
                          </a:solidFill>
                          <a:effectLst/>
                          <a:latin typeface="Avenir Book"/>
                        </a:rPr>
                        <a:t>AVERAGE</a:t>
                      </a:r>
                    </a:p>
                  </a:txBody>
                  <a:tcPr marL="100584" marR="100584" marT="50292" marB="50292" anchor="ctr">
                    <a:lnL w="13962">
                      <a:solidFill>
                        <a:srgbClr val="FFFFFF"/>
                      </a:solidFill>
                    </a:lnL>
                    <a:lnR w="13962">
                      <a:solidFill>
                        <a:srgbClr val="FFFFFF"/>
                      </a:solidFill>
                    </a:lnR>
                    <a:lnT w="13962">
                      <a:solidFill>
                        <a:srgbClr val="FFFFFF"/>
                      </a:solidFill>
                    </a:lnT>
                    <a:lnB w="13962">
                      <a:solidFill>
                        <a:srgbClr val="FFFFFF"/>
                      </a:solidFill>
                    </a:lnB>
                    <a:solidFill>
                      <a:schemeClr val="bg1">
                        <a:lumMod val="85000"/>
                      </a:schemeClr>
                    </a:solidFill>
                  </a:tcPr>
                </a:tc>
                <a:tc>
                  <a:txBody>
                    <a:bodyPr/>
                    <a:lstStyle/>
                    <a:p>
                      <a:pPr lvl="0" algn="ctr">
                        <a:lnSpc>
                          <a:spcPct val="100000"/>
                        </a:lnSpc>
                        <a:buNone/>
                      </a:pPr>
                      <a:r>
                        <a:rPr lang="en-US" sz="2000">
                          <a:effectLst/>
                          <a:latin typeface="Avenir Book"/>
                        </a:rPr>
                        <a:t>59%</a:t>
                      </a:r>
                    </a:p>
                  </a:txBody>
                  <a:tcPr marL="100584" marR="100584" marT="50292" marB="50292" anchor="ctr">
                    <a:lnL w="13962">
                      <a:solidFill>
                        <a:srgbClr val="FFFFFF"/>
                      </a:solidFill>
                    </a:lnL>
                    <a:lnR w="13962">
                      <a:solidFill>
                        <a:srgbClr val="FFFFFF"/>
                      </a:solidFill>
                    </a:lnR>
                    <a:lnT w="13962">
                      <a:solidFill>
                        <a:srgbClr val="FFFFFF"/>
                      </a:solidFill>
                    </a:lnT>
                    <a:lnB w="13962">
                      <a:solidFill>
                        <a:srgbClr val="FFFFFF"/>
                      </a:solidFill>
                    </a:lnB>
                    <a:solidFill>
                      <a:schemeClr val="bg1">
                        <a:lumMod val="85000"/>
                      </a:schemeClr>
                    </a:solidFill>
                  </a:tcPr>
                </a:tc>
                <a:tc>
                  <a:txBody>
                    <a:bodyPr/>
                    <a:lstStyle/>
                    <a:p>
                      <a:pPr lvl="0" algn="ctr">
                        <a:lnSpc>
                          <a:spcPct val="100000"/>
                        </a:lnSpc>
                        <a:buNone/>
                      </a:pPr>
                      <a:r>
                        <a:rPr lang="en-US" sz="2000" b="0" i="0" u="none" strike="noStrike" noProof="0">
                          <a:solidFill>
                            <a:srgbClr val="000000"/>
                          </a:solidFill>
                          <a:effectLst/>
                          <a:latin typeface="Avenir Book"/>
                        </a:rPr>
                        <a:t>59%</a:t>
                      </a:r>
                    </a:p>
                  </a:txBody>
                  <a:tcPr marL="100584" marR="100584" marT="50292" marB="50292" anchor="ctr">
                    <a:lnL w="13962">
                      <a:solidFill>
                        <a:srgbClr val="FFFFFF"/>
                      </a:solidFill>
                    </a:lnL>
                    <a:lnR w="13962">
                      <a:solidFill>
                        <a:srgbClr val="FFFFFF"/>
                      </a:solidFill>
                    </a:lnR>
                    <a:lnT w="13962">
                      <a:solidFill>
                        <a:srgbClr val="FFFFFF"/>
                      </a:solidFill>
                    </a:lnT>
                    <a:lnB w="13962">
                      <a:solidFill>
                        <a:srgbClr val="FFFFFF"/>
                      </a:solidFill>
                    </a:lnB>
                    <a:solidFill>
                      <a:schemeClr val="bg1">
                        <a:lumMod val="85000"/>
                      </a:schemeClr>
                    </a:solidFill>
                  </a:tcPr>
                </a:tc>
                <a:tc>
                  <a:txBody>
                    <a:bodyPr/>
                    <a:lstStyle/>
                    <a:p>
                      <a:pPr lvl="0" algn="ctr">
                        <a:lnSpc>
                          <a:spcPct val="100000"/>
                        </a:lnSpc>
                        <a:buNone/>
                      </a:pPr>
                      <a:r>
                        <a:rPr lang="en-US" sz="2000" b="0" i="0" u="none" strike="noStrike" noProof="0">
                          <a:solidFill>
                            <a:srgbClr val="000000"/>
                          </a:solidFill>
                          <a:effectLst/>
                          <a:latin typeface="Avenir Book"/>
                        </a:rPr>
                        <a:t>+0%</a:t>
                      </a:r>
                    </a:p>
                  </a:txBody>
                  <a:tcPr marL="100584" marR="100584" marT="50292" marB="50292" anchor="ctr">
                    <a:lnL w="13962">
                      <a:solidFill>
                        <a:srgbClr val="FFFFFF"/>
                      </a:solidFill>
                    </a:lnL>
                    <a:lnR w="13962">
                      <a:solidFill>
                        <a:srgbClr val="FFFFFF"/>
                      </a:solidFill>
                    </a:lnR>
                    <a:lnT w="13962">
                      <a:solidFill>
                        <a:srgbClr val="FFFFFF"/>
                      </a:solidFill>
                    </a:lnT>
                    <a:lnB w="13962">
                      <a:solidFill>
                        <a:srgbClr val="FFFFFF"/>
                      </a:solidFill>
                    </a:lnB>
                    <a:solidFill>
                      <a:schemeClr val="bg1">
                        <a:lumMod val="85000"/>
                      </a:schemeClr>
                    </a:solidFill>
                  </a:tcPr>
                </a:tc>
                <a:tc>
                  <a:txBody>
                    <a:bodyPr/>
                    <a:lstStyle/>
                    <a:p>
                      <a:pPr lvl="0" algn="ctr">
                        <a:lnSpc>
                          <a:spcPct val="100000"/>
                        </a:lnSpc>
                        <a:buNone/>
                      </a:pPr>
                      <a:endParaRPr lang="en-US" sz="2000" b="0" i="0" u="none" strike="noStrike" noProof="0">
                        <a:solidFill>
                          <a:srgbClr val="000000"/>
                        </a:solidFill>
                        <a:effectLst/>
                        <a:latin typeface="Calibri"/>
                      </a:endParaRPr>
                    </a:p>
                  </a:txBody>
                  <a:tcPr marL="100584" marR="100584" marT="50292" marB="50292" anchor="ctr">
                    <a:lnL w="13962">
                      <a:solidFill>
                        <a:srgbClr val="FFFFFF"/>
                      </a:solidFill>
                    </a:lnL>
                    <a:lnR w="13962">
                      <a:solidFill>
                        <a:srgbClr val="FFFFFF"/>
                      </a:solidFill>
                    </a:lnR>
                    <a:lnT w="13962">
                      <a:solidFill>
                        <a:srgbClr val="FFFFFF"/>
                      </a:solidFill>
                    </a:lnT>
                    <a:lnB w="13962">
                      <a:solidFill>
                        <a:srgbClr val="FFFFFF"/>
                      </a:solidFill>
                    </a:lnB>
                    <a:solidFill>
                      <a:schemeClr val="bg1">
                        <a:lumMod val="85000"/>
                      </a:schemeClr>
                    </a:solidFill>
                  </a:tcPr>
                </a:tc>
                <a:extLst>
                  <a:ext uri="{0D108BD9-81ED-4DB2-BD59-A6C34878D82A}">
                    <a16:rowId xmlns:a16="http://schemas.microsoft.com/office/drawing/2014/main" val="2636374081"/>
                  </a:ext>
                </a:extLst>
              </a:tr>
            </a:tbl>
          </a:graphicData>
        </a:graphic>
      </p:graphicFrame>
      <p:sp>
        <p:nvSpPr>
          <p:cNvPr id="12" name="TextBox 11">
            <a:extLst>
              <a:ext uri="{FF2B5EF4-FFF2-40B4-BE49-F238E27FC236}">
                <a16:creationId xmlns:a16="http://schemas.microsoft.com/office/drawing/2014/main" id="{F20ECAA3-36C6-FBFC-82A7-CF91D7FA9FE4}"/>
              </a:ext>
            </a:extLst>
          </p:cNvPr>
          <p:cNvSpPr txBox="1"/>
          <p:nvPr/>
        </p:nvSpPr>
        <p:spPr>
          <a:xfrm>
            <a:off x="11342274" y="2253507"/>
            <a:ext cx="6715023" cy="73558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FC4710"/>
                </a:solidFill>
                <a:latin typeface="Avenir Book"/>
                <a:cs typeface="Segoe UI"/>
              </a:rPr>
              <a:t>CONCLUSION:</a:t>
            </a:r>
            <a:r>
              <a:rPr lang="en-US" sz="3200">
                <a:solidFill>
                  <a:srgbClr val="272B30"/>
                </a:solidFill>
                <a:latin typeface="Avenir Book"/>
                <a:cs typeface="Segoe UI"/>
              </a:rPr>
              <a:t>​</a:t>
            </a:r>
          </a:p>
          <a:p>
            <a:endParaRPr lang="en-US" sz="3200">
              <a:solidFill>
                <a:srgbClr val="272B30"/>
              </a:solidFill>
              <a:latin typeface="Avenir Book"/>
              <a:cs typeface="Segoe UI"/>
            </a:endParaRPr>
          </a:p>
          <a:p>
            <a:pPr marL="285750" indent="-285750" algn="just">
              <a:buFont typeface="Arial"/>
              <a:buChar char="•"/>
            </a:pPr>
            <a:r>
              <a:rPr lang="en-US" sz="2400">
                <a:solidFill>
                  <a:srgbClr val="272B30"/>
                </a:solidFill>
                <a:latin typeface="Avenir Book"/>
                <a:cs typeface="Arial"/>
              </a:rPr>
              <a:t>On average there is no statistics change in AOI dataset. </a:t>
            </a:r>
          </a:p>
          <a:p>
            <a:pPr marL="285750" indent="-285750" algn="just">
              <a:buFont typeface="Arial"/>
              <a:buChar char="•"/>
            </a:pPr>
            <a:endParaRPr lang="en-US" sz="2400">
              <a:solidFill>
                <a:srgbClr val="272B30"/>
              </a:solidFill>
              <a:latin typeface="Avenir Book"/>
              <a:cs typeface="Arial"/>
            </a:endParaRPr>
          </a:p>
          <a:p>
            <a:pPr marL="285750" indent="-285750" algn="just">
              <a:buFont typeface="Arial"/>
              <a:buChar char="•"/>
            </a:pPr>
            <a:r>
              <a:rPr lang="en-US" sz="2400">
                <a:solidFill>
                  <a:srgbClr val="272B30"/>
                </a:solidFill>
                <a:latin typeface="Avenir Book"/>
                <a:cs typeface="Arial"/>
              </a:rPr>
              <a:t>However, long texts like addresses mostly have significant drops with new approach while some fields like </a:t>
            </a:r>
            <a:r>
              <a:rPr lang="en-US" sz="2400" err="1">
                <a:solidFill>
                  <a:srgbClr val="000000"/>
                </a:solidFill>
                <a:latin typeface="Avenir Book"/>
                <a:cs typeface="Arial"/>
              </a:rPr>
              <a:t>shareholder_names</a:t>
            </a:r>
            <a:r>
              <a:rPr lang="en-US" sz="2400">
                <a:solidFill>
                  <a:srgbClr val="000000"/>
                </a:solidFill>
                <a:latin typeface="Avenir Book"/>
                <a:cs typeface="Arial"/>
              </a:rPr>
              <a:t>, </a:t>
            </a:r>
            <a:r>
              <a:rPr lang="en-US" sz="2400" err="1">
                <a:solidFill>
                  <a:srgbClr val="000000"/>
                </a:solidFill>
                <a:latin typeface="Avenir Book"/>
                <a:cs typeface="Arial"/>
              </a:rPr>
              <a:t>date_of_signature</a:t>
            </a:r>
            <a:r>
              <a:rPr lang="en-US" sz="2400">
                <a:solidFill>
                  <a:srgbClr val="000000"/>
                </a:solidFill>
                <a:latin typeface="Avenir Book"/>
                <a:cs typeface="Arial"/>
              </a:rPr>
              <a:t> and </a:t>
            </a:r>
            <a:r>
              <a:rPr lang="en-US" sz="2400" err="1">
                <a:solidFill>
                  <a:srgbClr val="000000"/>
                </a:solidFill>
                <a:latin typeface="Avenir Book"/>
                <a:cs typeface="Arial"/>
              </a:rPr>
              <a:t>total_number_of_shares</a:t>
            </a:r>
            <a:r>
              <a:rPr lang="en-US" sz="2400">
                <a:solidFill>
                  <a:srgbClr val="000000"/>
                </a:solidFill>
                <a:latin typeface="Avenir Book"/>
                <a:cs typeface="Arial"/>
              </a:rPr>
              <a:t> has significant improvements.</a:t>
            </a:r>
            <a:endParaRPr lang="en-US" sz="2400">
              <a:latin typeface="Avenir Book"/>
              <a:ea typeface="Calibri"/>
              <a:cs typeface="Arial"/>
            </a:endParaRPr>
          </a:p>
          <a:p>
            <a:pPr marL="285750" indent="-285750" algn="just">
              <a:buFont typeface="Arial"/>
              <a:buChar char="•"/>
            </a:pPr>
            <a:endParaRPr lang="en-US" sz="2400">
              <a:solidFill>
                <a:srgbClr val="000000"/>
              </a:solidFill>
              <a:latin typeface="Avenir Book"/>
              <a:cs typeface="Arial"/>
            </a:endParaRPr>
          </a:p>
          <a:p>
            <a:pPr marL="285750" indent="-285750" algn="just">
              <a:buFont typeface="Arial"/>
              <a:buChar char="•"/>
            </a:pPr>
            <a:r>
              <a:rPr lang="en-US" sz="2400">
                <a:solidFill>
                  <a:srgbClr val="272B30"/>
                </a:solidFill>
                <a:latin typeface="Avenir Book"/>
                <a:cs typeface="Arial"/>
              </a:rPr>
              <a:t>These can be because of failure of reconstruction of bounding boxes due to OCR errors.</a:t>
            </a:r>
          </a:p>
          <a:p>
            <a:pPr marL="285750" indent="-285750" algn="just">
              <a:buFont typeface="Arial"/>
              <a:buChar char="•"/>
            </a:pPr>
            <a:endParaRPr lang="en-US" sz="2400">
              <a:solidFill>
                <a:srgbClr val="272B30"/>
              </a:solidFill>
              <a:latin typeface="Avenir Book"/>
              <a:cs typeface="Arial"/>
            </a:endParaRPr>
          </a:p>
          <a:p>
            <a:pPr marL="285750" indent="-285750" algn="just">
              <a:buFont typeface="Arial"/>
              <a:buChar char="•"/>
            </a:pPr>
            <a:r>
              <a:rPr lang="en-US" sz="2400">
                <a:solidFill>
                  <a:srgbClr val="272B30"/>
                </a:solidFill>
                <a:latin typeface="Avenir Book"/>
                <a:cs typeface="Arial"/>
              </a:rPr>
              <a:t>RAG applied for baseline to avoid splitting pages which can be the reason to get incorrect prediction because of losing information. We can try to send two page at a same time to get better results in current approach, required some research.</a:t>
            </a:r>
          </a:p>
        </p:txBody>
      </p:sp>
      <p:sp>
        <p:nvSpPr>
          <p:cNvPr id="2" name="TextBox 15">
            <a:extLst>
              <a:ext uri="{FF2B5EF4-FFF2-40B4-BE49-F238E27FC236}">
                <a16:creationId xmlns:a16="http://schemas.microsoft.com/office/drawing/2014/main" id="{0E90698D-00D4-9BB2-4BBF-5AC22DC5AD3D}"/>
              </a:ext>
            </a:extLst>
          </p:cNvPr>
          <p:cNvSpPr txBox="1"/>
          <p:nvPr/>
        </p:nvSpPr>
        <p:spPr>
          <a:xfrm>
            <a:off x="500403" y="7162366"/>
            <a:ext cx="10640529" cy="1920050"/>
          </a:xfrm>
          <a:prstGeom prst="rect">
            <a:avLst/>
          </a:prstGeom>
          <a:noFill/>
          <a:ln w="28575">
            <a:solidFill>
              <a:srgbClr val="FF0000"/>
            </a:solidFill>
            <a:prstDash val="dash"/>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ea typeface="Calibri"/>
              <a:cs typeface="Segoe UI"/>
            </a:endParaRPr>
          </a:p>
        </p:txBody>
      </p:sp>
    </p:spTree>
    <p:extLst>
      <p:ext uri="{BB962C8B-B14F-4D97-AF65-F5344CB8AC3E}">
        <p14:creationId xmlns:p14="http://schemas.microsoft.com/office/powerpoint/2010/main" val="2587664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35" name="Group 35"/>
          <p:cNvGrpSpPr/>
          <p:nvPr/>
        </p:nvGrpSpPr>
        <p:grpSpPr>
          <a:xfrm>
            <a:off x="16887037" y="-542645"/>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15204">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7" name="TextBox 33">
            <a:extLst>
              <a:ext uri="{FF2B5EF4-FFF2-40B4-BE49-F238E27FC236}">
                <a16:creationId xmlns:a16="http://schemas.microsoft.com/office/drawing/2014/main" id="{6AA3DA91-E065-9A3D-A335-52B6E2CD408E}"/>
              </a:ext>
            </a:extLst>
          </p:cNvPr>
          <p:cNvSpPr txBox="1"/>
          <p:nvPr/>
        </p:nvSpPr>
        <p:spPr>
          <a:xfrm>
            <a:off x="891421" y="-563816"/>
            <a:ext cx="16165308" cy="1708545"/>
          </a:xfrm>
          <a:prstGeom prst="rect">
            <a:avLst/>
          </a:prstGeom>
        </p:spPr>
        <p:txBody>
          <a:bodyPr wrap="square" lIns="0" tIns="0" rIns="0" bIns="0" rtlCol="0" anchor="t">
            <a:spAutoFit/>
          </a:bodyPr>
          <a:lstStyle/>
          <a:p>
            <a:pPr algn="ctr">
              <a:lnSpc>
                <a:spcPts val="15266"/>
              </a:lnSpc>
            </a:pPr>
            <a:r>
              <a:rPr lang="en-US" sz="7200" b="1">
                <a:solidFill>
                  <a:srgbClr val="191919"/>
                </a:solidFill>
                <a:latin typeface="Avenir Book"/>
                <a:ea typeface="Gotham Bold"/>
                <a:cs typeface="Gotham Bold"/>
              </a:rPr>
              <a:t>Error Analysis</a:t>
            </a:r>
            <a:endParaRPr lang="en-US"/>
          </a:p>
        </p:txBody>
      </p:sp>
      <p:cxnSp>
        <p:nvCxnSpPr>
          <p:cNvPr id="4" name="直線單箭頭接點 3">
            <a:extLst>
              <a:ext uri="{FF2B5EF4-FFF2-40B4-BE49-F238E27FC236}">
                <a16:creationId xmlns:a16="http://schemas.microsoft.com/office/drawing/2014/main" id="{62EE233F-A57D-64EC-905F-2F249D213249}"/>
              </a:ext>
            </a:extLst>
          </p:cNvPr>
          <p:cNvCxnSpPr/>
          <p:nvPr/>
        </p:nvCxnSpPr>
        <p:spPr>
          <a:xfrm>
            <a:off x="8633460" y="1247775"/>
            <a:ext cx="38100" cy="7867650"/>
          </a:xfrm>
          <a:prstGeom prst="straightConnector1">
            <a:avLst/>
          </a:prstGeom>
          <a:ln w="12700"/>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05041E9C-B821-C80B-3F0D-571E74051B23}"/>
              </a:ext>
            </a:extLst>
          </p:cNvPr>
          <p:cNvSpPr txBox="1"/>
          <p:nvPr/>
        </p:nvSpPr>
        <p:spPr>
          <a:xfrm>
            <a:off x="1064895" y="8985885"/>
            <a:ext cx="700659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a:buChar char="•"/>
            </a:pPr>
            <a:r>
              <a:rPr lang="en-US" sz="2400">
                <a:latin typeface="Avenir Book"/>
                <a:ea typeface="+mn-lt"/>
                <a:cs typeface="+mn-lt"/>
              </a:rPr>
              <a:t>GPT often </a:t>
            </a:r>
            <a:r>
              <a:rPr lang="en-US" sz="2400" b="1">
                <a:solidFill>
                  <a:srgbClr val="FF0000"/>
                </a:solidFill>
                <a:latin typeface="Avenir Book"/>
                <a:ea typeface="+mn-lt"/>
                <a:cs typeface="+mn-lt"/>
              </a:rPr>
              <a:t>corrects or reinterprets content</a:t>
            </a:r>
            <a:r>
              <a:rPr lang="en-US" sz="2400">
                <a:latin typeface="Avenir Book"/>
                <a:ea typeface="+mn-lt"/>
                <a:cs typeface="+mn-lt"/>
              </a:rPr>
              <a:t>, while the golds has the output text as is, without adjustments. ( For </a:t>
            </a:r>
            <a:r>
              <a:rPr lang="en-US" sz="2400" err="1">
                <a:latin typeface="Avenir Book"/>
                <a:ea typeface="+mn-lt"/>
                <a:cs typeface="+mn-lt"/>
              </a:rPr>
              <a:t>corporation_agent_address</a:t>
            </a:r>
            <a:r>
              <a:rPr lang="en-US" sz="2400">
                <a:latin typeface="Avenir Book"/>
                <a:ea typeface="+mn-lt"/>
                <a:cs typeface="+mn-lt"/>
              </a:rPr>
              <a:t>)</a:t>
            </a:r>
            <a:endParaRPr lang="en-US" altLang="zh-TW" sz="2400" b="1">
              <a:latin typeface="Avenir Book"/>
              <a:ea typeface="Calibri"/>
            </a:endParaRPr>
          </a:p>
          <a:p>
            <a:pPr algn="l"/>
            <a:endParaRPr lang="zh-TW" altLang="en-US">
              <a:ea typeface="新細明體"/>
              <a:cs typeface="Calibri"/>
            </a:endParaRPr>
          </a:p>
        </p:txBody>
      </p:sp>
      <p:pic>
        <p:nvPicPr>
          <p:cNvPr id="6" name="圖片 5" descr="一張含有 文字, 字型, 螢幕擷取畫面, 信 的圖片&#10;&#10;自動產生的描述">
            <a:extLst>
              <a:ext uri="{FF2B5EF4-FFF2-40B4-BE49-F238E27FC236}">
                <a16:creationId xmlns:a16="http://schemas.microsoft.com/office/drawing/2014/main" id="{A5F18017-D5B5-FDB9-4C00-6AE76749FFE0}"/>
              </a:ext>
            </a:extLst>
          </p:cNvPr>
          <p:cNvPicPr>
            <a:picLocks noChangeAspect="1"/>
          </p:cNvPicPr>
          <p:nvPr/>
        </p:nvPicPr>
        <p:blipFill>
          <a:blip r:embed="rId3"/>
          <a:srcRect l="5199" t="2981" r="5373" b="7248"/>
          <a:stretch/>
        </p:blipFill>
        <p:spPr>
          <a:xfrm>
            <a:off x="1063336" y="1144905"/>
            <a:ext cx="7015699" cy="7617267"/>
          </a:xfrm>
          <a:prstGeom prst="rect">
            <a:avLst/>
          </a:prstGeom>
          <a:ln>
            <a:solidFill>
              <a:schemeClr val="bg2">
                <a:lumMod val="50000"/>
              </a:schemeClr>
            </a:solidFill>
          </a:ln>
        </p:spPr>
      </p:pic>
      <p:pic>
        <p:nvPicPr>
          <p:cNvPr id="9" name="圖片 5" descr="一張含有 文字, 字型, 螢幕擷取畫面, 信 的圖片&#10;&#10;自動產生的描述">
            <a:extLst>
              <a:ext uri="{FF2B5EF4-FFF2-40B4-BE49-F238E27FC236}">
                <a16:creationId xmlns:a16="http://schemas.microsoft.com/office/drawing/2014/main" id="{66A15800-2C0A-21E2-3B8C-E174EE672AAC}"/>
              </a:ext>
            </a:extLst>
          </p:cNvPr>
          <p:cNvPicPr>
            <a:picLocks noChangeAspect="1"/>
          </p:cNvPicPr>
          <p:nvPr/>
        </p:nvPicPr>
        <p:blipFill>
          <a:blip r:embed="rId3"/>
          <a:srcRect l="5199" t="2981" r="5373" b="7248"/>
          <a:stretch/>
        </p:blipFill>
        <p:spPr>
          <a:xfrm>
            <a:off x="9277695" y="1221105"/>
            <a:ext cx="7015699" cy="7602027"/>
          </a:xfrm>
          <a:prstGeom prst="rect">
            <a:avLst/>
          </a:prstGeom>
          <a:ln>
            <a:solidFill>
              <a:schemeClr val="bg2">
                <a:lumMod val="50000"/>
              </a:schemeClr>
            </a:solidFill>
          </a:ln>
        </p:spPr>
      </p:pic>
      <p:sp>
        <p:nvSpPr>
          <p:cNvPr id="10" name="文字方塊 4">
            <a:extLst>
              <a:ext uri="{FF2B5EF4-FFF2-40B4-BE49-F238E27FC236}">
                <a16:creationId xmlns:a16="http://schemas.microsoft.com/office/drawing/2014/main" id="{D3ACAE2D-B1F7-C802-2D11-8B15F54350AB}"/>
              </a:ext>
            </a:extLst>
          </p:cNvPr>
          <p:cNvSpPr txBox="1"/>
          <p:nvPr/>
        </p:nvSpPr>
        <p:spPr>
          <a:xfrm>
            <a:off x="9279255" y="8985885"/>
            <a:ext cx="700659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a:buChar char="•"/>
            </a:pPr>
            <a:r>
              <a:rPr lang="en-US" sz="2400">
                <a:latin typeface="Avenir Book"/>
                <a:ea typeface="+mn-lt"/>
                <a:cs typeface="+mn-lt"/>
              </a:rPr>
              <a:t>Both OCR and GPT occasionally fail to capture text accurately, especially when parts of the </a:t>
            </a:r>
            <a:r>
              <a:rPr lang="en-US" sz="2400">
                <a:solidFill>
                  <a:srgbClr val="FF0000"/>
                </a:solidFill>
                <a:latin typeface="Avenir Book"/>
                <a:ea typeface="+mn-lt"/>
                <a:cs typeface="+mn-lt"/>
              </a:rPr>
              <a:t>text are cut or incomplete. </a:t>
            </a:r>
            <a:r>
              <a:rPr lang="en-US" sz="2400">
                <a:latin typeface="Avenir Book"/>
                <a:ea typeface="+mn-lt"/>
                <a:cs typeface="+mn-lt"/>
              </a:rPr>
              <a:t>(For </a:t>
            </a:r>
            <a:r>
              <a:rPr lang="en-US" sz="2400" err="1">
                <a:latin typeface="Avenir Book"/>
                <a:ea typeface="+mn-lt"/>
                <a:cs typeface="+mn-lt"/>
              </a:rPr>
              <a:t>corporation_name</a:t>
            </a:r>
            <a:r>
              <a:rPr lang="en-US" sz="2400">
                <a:latin typeface="Avenir Book"/>
                <a:ea typeface="+mn-lt"/>
                <a:cs typeface="+mn-lt"/>
              </a:rPr>
              <a:t>)</a:t>
            </a:r>
            <a:endParaRPr lang="en-US" sz="2400">
              <a:latin typeface="Avenir Book"/>
              <a:ea typeface="Calibri"/>
              <a:cs typeface="Calibri"/>
            </a:endParaRPr>
          </a:p>
          <a:p>
            <a:pPr algn="l"/>
            <a:endParaRPr lang="zh-TW" altLang="en-US">
              <a:ea typeface="新細明體"/>
              <a:cs typeface="Calibri"/>
            </a:endParaRPr>
          </a:p>
        </p:txBody>
      </p:sp>
      <p:sp>
        <p:nvSpPr>
          <p:cNvPr id="15" name="TextBox 15">
            <a:extLst>
              <a:ext uri="{FF2B5EF4-FFF2-40B4-BE49-F238E27FC236}">
                <a16:creationId xmlns:a16="http://schemas.microsoft.com/office/drawing/2014/main" id="{BD49A646-6E6A-4D55-988B-AB4ED6F4506F}"/>
              </a:ext>
            </a:extLst>
          </p:cNvPr>
          <p:cNvSpPr txBox="1"/>
          <p:nvPr/>
        </p:nvSpPr>
        <p:spPr>
          <a:xfrm>
            <a:off x="4569483" y="3178920"/>
            <a:ext cx="3005289" cy="838010"/>
          </a:xfrm>
          <a:prstGeom prst="rect">
            <a:avLst/>
          </a:prstGeom>
          <a:noFill/>
          <a:ln w="57150">
            <a:solidFill>
              <a:srgbClr val="FF0000"/>
            </a:solidFill>
            <a:prstDash val="solid"/>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ea typeface="Calibri"/>
              <a:cs typeface="Segoe UI"/>
            </a:endParaRPr>
          </a:p>
        </p:txBody>
      </p:sp>
      <p:sp>
        <p:nvSpPr>
          <p:cNvPr id="17" name="TextBox 15">
            <a:extLst>
              <a:ext uri="{FF2B5EF4-FFF2-40B4-BE49-F238E27FC236}">
                <a16:creationId xmlns:a16="http://schemas.microsoft.com/office/drawing/2014/main" id="{FF23A3C3-B5CD-B10E-DA99-D2BDCFAC433F}"/>
              </a:ext>
            </a:extLst>
          </p:cNvPr>
          <p:cNvSpPr txBox="1"/>
          <p:nvPr/>
        </p:nvSpPr>
        <p:spPr>
          <a:xfrm>
            <a:off x="13598095" y="1974960"/>
            <a:ext cx="916683" cy="374278"/>
          </a:xfrm>
          <a:prstGeom prst="rect">
            <a:avLst/>
          </a:prstGeom>
          <a:noFill/>
          <a:ln w="57150">
            <a:solidFill>
              <a:srgbClr val="FF0000"/>
            </a:solidFill>
            <a:prstDash val="solid"/>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ea typeface="Calibri"/>
              <a:cs typeface="Segoe UI"/>
            </a:endParaRPr>
          </a:p>
        </p:txBody>
      </p:sp>
    </p:spTree>
    <p:extLst>
      <p:ext uri="{BB962C8B-B14F-4D97-AF65-F5344CB8AC3E}">
        <p14:creationId xmlns:p14="http://schemas.microsoft.com/office/powerpoint/2010/main" val="521060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35" name="Group 35"/>
          <p:cNvGrpSpPr/>
          <p:nvPr/>
        </p:nvGrpSpPr>
        <p:grpSpPr>
          <a:xfrm>
            <a:off x="16887037" y="-542645"/>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15204">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7" name="TextBox 33">
            <a:extLst>
              <a:ext uri="{FF2B5EF4-FFF2-40B4-BE49-F238E27FC236}">
                <a16:creationId xmlns:a16="http://schemas.microsoft.com/office/drawing/2014/main" id="{6AA3DA91-E065-9A3D-A335-52B6E2CD408E}"/>
              </a:ext>
            </a:extLst>
          </p:cNvPr>
          <p:cNvSpPr txBox="1"/>
          <p:nvPr/>
        </p:nvSpPr>
        <p:spPr>
          <a:xfrm>
            <a:off x="891421" y="-563816"/>
            <a:ext cx="16165308" cy="1708545"/>
          </a:xfrm>
          <a:prstGeom prst="rect">
            <a:avLst/>
          </a:prstGeom>
        </p:spPr>
        <p:txBody>
          <a:bodyPr wrap="square" lIns="0" tIns="0" rIns="0" bIns="0" rtlCol="0" anchor="t">
            <a:spAutoFit/>
          </a:bodyPr>
          <a:lstStyle/>
          <a:p>
            <a:pPr algn="ctr">
              <a:lnSpc>
                <a:spcPts val="15266"/>
              </a:lnSpc>
            </a:pPr>
            <a:r>
              <a:rPr lang="en-US" sz="7200" b="1">
                <a:solidFill>
                  <a:srgbClr val="191919"/>
                </a:solidFill>
                <a:latin typeface="Avenir Book"/>
                <a:ea typeface="Gotham Bold"/>
                <a:cs typeface="Gotham Bold"/>
              </a:rPr>
              <a:t>Error Analysis</a:t>
            </a:r>
            <a:endParaRPr lang="en-US"/>
          </a:p>
        </p:txBody>
      </p:sp>
      <p:cxnSp>
        <p:nvCxnSpPr>
          <p:cNvPr id="4" name="直線單箭頭接點 3">
            <a:extLst>
              <a:ext uri="{FF2B5EF4-FFF2-40B4-BE49-F238E27FC236}">
                <a16:creationId xmlns:a16="http://schemas.microsoft.com/office/drawing/2014/main" id="{62EE233F-A57D-64EC-905F-2F249D213249}"/>
              </a:ext>
            </a:extLst>
          </p:cNvPr>
          <p:cNvCxnSpPr/>
          <p:nvPr/>
        </p:nvCxnSpPr>
        <p:spPr>
          <a:xfrm>
            <a:off x="8633460" y="1247775"/>
            <a:ext cx="38100" cy="7867650"/>
          </a:xfrm>
          <a:prstGeom prst="straightConnector1">
            <a:avLst/>
          </a:prstGeom>
          <a:ln w="12700"/>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05041E9C-B821-C80B-3F0D-571E74051B23}"/>
              </a:ext>
            </a:extLst>
          </p:cNvPr>
          <p:cNvSpPr txBox="1"/>
          <p:nvPr/>
        </p:nvSpPr>
        <p:spPr>
          <a:xfrm>
            <a:off x="927735" y="8757285"/>
            <a:ext cx="700659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a:buChar char="•"/>
            </a:pPr>
            <a:r>
              <a:rPr lang="en-US" sz="2400">
                <a:solidFill>
                  <a:srgbClr val="FF0000"/>
                </a:solidFill>
                <a:latin typeface="Avenir Book"/>
                <a:ea typeface="+mn-lt"/>
                <a:cs typeface="+mn-lt"/>
              </a:rPr>
              <a:t>Incorrect prediction</a:t>
            </a:r>
            <a:r>
              <a:rPr lang="en-US" sz="2400">
                <a:latin typeface="Avenir Book"/>
                <a:ea typeface="+mn-lt"/>
                <a:cs typeface="+mn-lt"/>
              </a:rPr>
              <a:t> as we are passing page by page which can be a reason to lose </a:t>
            </a:r>
            <a:r>
              <a:rPr lang="en-US" sz="2400">
                <a:solidFill>
                  <a:srgbClr val="FF0000"/>
                </a:solidFill>
                <a:latin typeface="Avenir Book"/>
                <a:ea typeface="+mn-lt"/>
                <a:cs typeface="+mn-lt"/>
              </a:rPr>
              <a:t>some contextual Information</a:t>
            </a:r>
            <a:r>
              <a:rPr lang="en-US" sz="2400">
                <a:latin typeface="Avenir Book"/>
                <a:ea typeface="+mn-lt"/>
                <a:cs typeface="+mn-lt"/>
              </a:rPr>
              <a:t>.</a:t>
            </a:r>
          </a:p>
          <a:p>
            <a:pPr algn="l"/>
            <a:endParaRPr lang="zh-TW" altLang="en-US">
              <a:ea typeface="新細明體"/>
              <a:cs typeface="Calibri"/>
            </a:endParaRPr>
          </a:p>
        </p:txBody>
      </p:sp>
      <p:sp>
        <p:nvSpPr>
          <p:cNvPr id="10" name="文字方塊 4">
            <a:extLst>
              <a:ext uri="{FF2B5EF4-FFF2-40B4-BE49-F238E27FC236}">
                <a16:creationId xmlns:a16="http://schemas.microsoft.com/office/drawing/2014/main" id="{D3ACAE2D-B1F7-C802-2D11-8B15F54350AB}"/>
              </a:ext>
            </a:extLst>
          </p:cNvPr>
          <p:cNvSpPr txBox="1"/>
          <p:nvPr/>
        </p:nvSpPr>
        <p:spPr>
          <a:xfrm>
            <a:off x="9150207" y="8755810"/>
            <a:ext cx="8094283"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a:buChar char="•"/>
            </a:pPr>
            <a:r>
              <a:rPr lang="en-US" sz="2400">
                <a:latin typeface="Avenir Book"/>
                <a:ea typeface="+mn-lt"/>
                <a:cs typeface="+mn-lt"/>
              </a:rPr>
              <a:t>The gold label (sometimes) does not contain </a:t>
            </a:r>
            <a:r>
              <a:rPr lang="en-US" sz="2400" err="1">
                <a:latin typeface="Avenir Book"/>
                <a:ea typeface="+mn-lt"/>
                <a:cs typeface="+mn-lt"/>
              </a:rPr>
              <a:t>corporation_address</a:t>
            </a:r>
            <a:r>
              <a:rPr lang="en-US" sz="2400">
                <a:latin typeface="Avenir Book"/>
                <a:ea typeface="+mn-lt"/>
                <a:cs typeface="+mn-lt"/>
              </a:rPr>
              <a:t> sometimes and GPT tends to </a:t>
            </a:r>
            <a:r>
              <a:rPr lang="en-US" sz="2400">
                <a:solidFill>
                  <a:srgbClr val="FF0000"/>
                </a:solidFill>
                <a:latin typeface="Avenir Book"/>
                <a:ea typeface="+mn-lt"/>
                <a:cs typeface="+mn-lt"/>
              </a:rPr>
              <a:t>interpret it from the document</a:t>
            </a:r>
            <a:r>
              <a:rPr lang="en-US" sz="2400">
                <a:latin typeface="Avenir Book"/>
                <a:ea typeface="+mn-lt"/>
                <a:cs typeface="+mn-lt"/>
              </a:rPr>
              <a:t>. OCR may need tags when addresses are unclear.</a:t>
            </a:r>
          </a:p>
          <a:p>
            <a:pPr marL="342900" indent="-342900" algn="just">
              <a:buFont typeface="Arial"/>
              <a:buChar char="•"/>
            </a:pPr>
            <a:endParaRPr lang="en-US" sz="2400">
              <a:solidFill>
                <a:srgbClr val="FF0000"/>
              </a:solidFill>
              <a:latin typeface="Calibri"/>
              <a:ea typeface="Calibri"/>
              <a:cs typeface="Calibri"/>
            </a:endParaRPr>
          </a:p>
          <a:p>
            <a:pPr algn="l"/>
            <a:endParaRPr lang="zh-TW" altLang="en-US">
              <a:ea typeface="新細明體"/>
              <a:cs typeface="Calibri"/>
            </a:endParaRPr>
          </a:p>
        </p:txBody>
      </p:sp>
      <p:pic>
        <p:nvPicPr>
          <p:cNvPr id="2" name="Picture 1" descr="A close-up of a document&#10;&#10;Description automatically generated">
            <a:extLst>
              <a:ext uri="{FF2B5EF4-FFF2-40B4-BE49-F238E27FC236}">
                <a16:creationId xmlns:a16="http://schemas.microsoft.com/office/drawing/2014/main" id="{B8829FB8-B5FA-AB57-B521-AAEFDD20244A}"/>
              </a:ext>
            </a:extLst>
          </p:cNvPr>
          <p:cNvPicPr>
            <a:picLocks noChangeAspect="1"/>
          </p:cNvPicPr>
          <p:nvPr/>
        </p:nvPicPr>
        <p:blipFill>
          <a:blip r:embed="rId3"/>
          <a:stretch>
            <a:fillRect/>
          </a:stretch>
        </p:blipFill>
        <p:spPr>
          <a:xfrm>
            <a:off x="9281160" y="992382"/>
            <a:ext cx="6978446" cy="7512460"/>
          </a:xfrm>
          <a:prstGeom prst="rect">
            <a:avLst/>
          </a:prstGeom>
          <a:ln>
            <a:noFill/>
          </a:ln>
        </p:spPr>
      </p:pic>
      <p:sp>
        <p:nvSpPr>
          <p:cNvPr id="8" name="TextBox 15">
            <a:extLst>
              <a:ext uri="{FF2B5EF4-FFF2-40B4-BE49-F238E27FC236}">
                <a16:creationId xmlns:a16="http://schemas.microsoft.com/office/drawing/2014/main" id="{E5501733-36BD-9C44-26ED-708C22ABC830}"/>
              </a:ext>
            </a:extLst>
          </p:cNvPr>
          <p:cNvSpPr txBox="1"/>
          <p:nvPr/>
        </p:nvSpPr>
        <p:spPr>
          <a:xfrm>
            <a:off x="9763005" y="1299882"/>
            <a:ext cx="6022809" cy="2605850"/>
          </a:xfrm>
          <a:prstGeom prst="rect">
            <a:avLst/>
          </a:prstGeom>
          <a:noFill/>
          <a:ln w="57150">
            <a:solidFill>
              <a:srgbClr val="FF0000"/>
            </a:solidFill>
            <a:prstDash val="solid"/>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ea typeface="Calibri"/>
              <a:cs typeface="Segoe UI"/>
            </a:endParaRPr>
          </a:p>
        </p:txBody>
      </p:sp>
      <p:pic>
        <p:nvPicPr>
          <p:cNvPr id="11" name="Picture 10" descr="A document with a number of shares&#10;&#10;Description automatically generated">
            <a:extLst>
              <a:ext uri="{FF2B5EF4-FFF2-40B4-BE49-F238E27FC236}">
                <a16:creationId xmlns:a16="http://schemas.microsoft.com/office/drawing/2014/main" id="{C4DE9CCA-C46C-5F91-CCAC-3585DC088D3F}"/>
              </a:ext>
            </a:extLst>
          </p:cNvPr>
          <p:cNvPicPr>
            <a:picLocks noChangeAspect="1"/>
          </p:cNvPicPr>
          <p:nvPr/>
        </p:nvPicPr>
        <p:blipFill>
          <a:blip r:embed="rId4"/>
          <a:stretch>
            <a:fillRect/>
          </a:stretch>
        </p:blipFill>
        <p:spPr>
          <a:xfrm>
            <a:off x="1197293" y="1301115"/>
            <a:ext cx="6475095" cy="7395210"/>
          </a:xfrm>
          <a:prstGeom prst="rect">
            <a:avLst/>
          </a:prstGeom>
        </p:spPr>
      </p:pic>
      <p:sp>
        <p:nvSpPr>
          <p:cNvPr id="13" name="TextBox 15">
            <a:extLst>
              <a:ext uri="{FF2B5EF4-FFF2-40B4-BE49-F238E27FC236}">
                <a16:creationId xmlns:a16="http://schemas.microsoft.com/office/drawing/2014/main" id="{03A3AB7F-C136-BD89-75F6-3A198EDEE8BD}"/>
              </a:ext>
            </a:extLst>
          </p:cNvPr>
          <p:cNvSpPr txBox="1"/>
          <p:nvPr/>
        </p:nvSpPr>
        <p:spPr>
          <a:xfrm>
            <a:off x="2664483" y="1900756"/>
            <a:ext cx="3828249" cy="959930"/>
          </a:xfrm>
          <a:prstGeom prst="rect">
            <a:avLst/>
          </a:prstGeom>
          <a:noFill/>
          <a:ln w="57150">
            <a:solidFill>
              <a:srgbClr val="FF0000"/>
            </a:solidFill>
            <a:prstDash val="solid"/>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ea typeface="Calibri"/>
              <a:cs typeface="Segoe UI"/>
            </a:endParaRPr>
          </a:p>
        </p:txBody>
      </p:sp>
    </p:spTree>
    <p:extLst>
      <p:ext uri="{BB962C8B-B14F-4D97-AF65-F5344CB8AC3E}">
        <p14:creationId xmlns:p14="http://schemas.microsoft.com/office/powerpoint/2010/main" val="211113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35" name="Group 35"/>
          <p:cNvGrpSpPr/>
          <p:nvPr/>
        </p:nvGrpSpPr>
        <p:grpSpPr>
          <a:xfrm>
            <a:off x="16887037" y="-542645"/>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15204">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7" name="TextBox 33">
            <a:extLst>
              <a:ext uri="{FF2B5EF4-FFF2-40B4-BE49-F238E27FC236}">
                <a16:creationId xmlns:a16="http://schemas.microsoft.com/office/drawing/2014/main" id="{6AA3DA91-E065-9A3D-A335-52B6E2CD408E}"/>
              </a:ext>
            </a:extLst>
          </p:cNvPr>
          <p:cNvSpPr txBox="1"/>
          <p:nvPr/>
        </p:nvSpPr>
        <p:spPr>
          <a:xfrm>
            <a:off x="891421" y="-563816"/>
            <a:ext cx="16165308" cy="1708545"/>
          </a:xfrm>
          <a:prstGeom prst="rect">
            <a:avLst/>
          </a:prstGeom>
        </p:spPr>
        <p:txBody>
          <a:bodyPr wrap="square" lIns="0" tIns="0" rIns="0" bIns="0" rtlCol="0" anchor="t">
            <a:spAutoFit/>
          </a:bodyPr>
          <a:lstStyle/>
          <a:p>
            <a:pPr algn="ctr">
              <a:lnSpc>
                <a:spcPts val="15266"/>
              </a:lnSpc>
            </a:pPr>
            <a:r>
              <a:rPr lang="en-US" sz="7200" b="1">
                <a:solidFill>
                  <a:srgbClr val="191919"/>
                </a:solidFill>
                <a:latin typeface="Avenir Book"/>
                <a:ea typeface="Gotham Bold"/>
                <a:cs typeface="Gotham Bold"/>
              </a:rPr>
              <a:t>Error Analysis</a:t>
            </a:r>
            <a:endParaRPr lang="en-US"/>
          </a:p>
        </p:txBody>
      </p:sp>
      <p:cxnSp>
        <p:nvCxnSpPr>
          <p:cNvPr id="4" name="直線單箭頭接點 3">
            <a:extLst>
              <a:ext uri="{FF2B5EF4-FFF2-40B4-BE49-F238E27FC236}">
                <a16:creationId xmlns:a16="http://schemas.microsoft.com/office/drawing/2014/main" id="{62EE233F-A57D-64EC-905F-2F249D213249}"/>
              </a:ext>
            </a:extLst>
          </p:cNvPr>
          <p:cNvCxnSpPr/>
          <p:nvPr/>
        </p:nvCxnSpPr>
        <p:spPr>
          <a:xfrm>
            <a:off x="8450580" y="1217295"/>
            <a:ext cx="38100" cy="7867650"/>
          </a:xfrm>
          <a:prstGeom prst="straightConnector1">
            <a:avLst/>
          </a:prstGeom>
          <a:ln w="12700"/>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05041E9C-B821-C80B-3F0D-571E74051B23}"/>
              </a:ext>
            </a:extLst>
          </p:cNvPr>
          <p:cNvSpPr txBox="1"/>
          <p:nvPr/>
        </p:nvSpPr>
        <p:spPr>
          <a:xfrm>
            <a:off x="927735" y="8620125"/>
            <a:ext cx="7006590"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a:buChar char="•"/>
            </a:pPr>
            <a:r>
              <a:rPr lang="en-US" sz="2400">
                <a:latin typeface="Avenir Book"/>
                <a:ea typeface="+mn-lt"/>
                <a:cs typeface="+mn-lt"/>
              </a:rPr>
              <a:t>GPT may </a:t>
            </a:r>
            <a:r>
              <a:rPr lang="en-US" sz="2400">
                <a:solidFill>
                  <a:srgbClr val="FF0000"/>
                </a:solidFill>
                <a:latin typeface="Avenir Book"/>
                <a:ea typeface="+mn-lt"/>
                <a:cs typeface="+mn-lt"/>
              </a:rPr>
              <a:t>capture the address</a:t>
            </a:r>
            <a:r>
              <a:rPr lang="en-US" sz="2400">
                <a:latin typeface="Avenir Book"/>
                <a:ea typeface="+mn-lt"/>
                <a:cs typeface="+mn-lt"/>
              </a:rPr>
              <a:t> from the </a:t>
            </a:r>
            <a:r>
              <a:rPr lang="en-US" sz="2400" err="1">
                <a:solidFill>
                  <a:srgbClr val="FF0000"/>
                </a:solidFill>
                <a:latin typeface="Avenir Book"/>
                <a:ea typeface="+mn-lt"/>
                <a:cs typeface="+mn-lt"/>
              </a:rPr>
              <a:t>invoiced_to</a:t>
            </a:r>
            <a:r>
              <a:rPr lang="en-US" sz="2400">
                <a:latin typeface="Avenir Book"/>
                <a:ea typeface="+mn-lt"/>
                <a:cs typeface="+mn-lt"/>
              </a:rPr>
              <a:t> field ,if it's placed below the name, and sometimes fails to </a:t>
            </a:r>
            <a:r>
              <a:rPr lang="en-US" sz="2400">
                <a:solidFill>
                  <a:srgbClr val="FF0000"/>
                </a:solidFill>
                <a:latin typeface="Avenir Book"/>
                <a:ea typeface="+mn-lt"/>
                <a:cs typeface="+mn-lt"/>
              </a:rPr>
              <a:t>capture the $ symbol if it's too far from the field</a:t>
            </a:r>
            <a:r>
              <a:rPr lang="en-US" sz="2400">
                <a:latin typeface="Avenir Book"/>
                <a:ea typeface="+mn-lt"/>
                <a:cs typeface="+mn-lt"/>
              </a:rPr>
              <a:t>.</a:t>
            </a:r>
            <a:endParaRPr lang="en-US" altLang="zh-TW" sz="2400" b="1">
              <a:latin typeface="Avenir Book"/>
              <a:ea typeface="+mn-lt"/>
              <a:cs typeface="+mn-lt"/>
            </a:endParaRPr>
          </a:p>
          <a:p>
            <a:pPr algn="l"/>
            <a:endParaRPr lang="zh-TW" altLang="en-US">
              <a:ea typeface="新細明體"/>
              <a:cs typeface="Calibri"/>
            </a:endParaRPr>
          </a:p>
        </p:txBody>
      </p:sp>
      <p:pic>
        <p:nvPicPr>
          <p:cNvPr id="3" name="圖片 2" descr="一張含有 文字, 螢幕擷取畫面, 數字, 軟體 的圖片&#10;&#10;自動產生的描述">
            <a:extLst>
              <a:ext uri="{FF2B5EF4-FFF2-40B4-BE49-F238E27FC236}">
                <a16:creationId xmlns:a16="http://schemas.microsoft.com/office/drawing/2014/main" id="{D611250E-D3A1-4110-6F84-C67DE0369515}"/>
              </a:ext>
            </a:extLst>
          </p:cNvPr>
          <p:cNvPicPr>
            <a:picLocks noChangeAspect="1"/>
          </p:cNvPicPr>
          <p:nvPr/>
        </p:nvPicPr>
        <p:blipFill>
          <a:blip r:embed="rId3"/>
          <a:stretch>
            <a:fillRect/>
          </a:stretch>
        </p:blipFill>
        <p:spPr>
          <a:xfrm>
            <a:off x="1193600" y="1246051"/>
            <a:ext cx="6485560" cy="7269841"/>
          </a:xfrm>
          <a:prstGeom prst="rect">
            <a:avLst/>
          </a:prstGeom>
          <a:ln w="12700">
            <a:solidFill>
              <a:schemeClr val="accent5"/>
            </a:solidFill>
          </a:ln>
        </p:spPr>
      </p:pic>
      <p:sp>
        <p:nvSpPr>
          <p:cNvPr id="12" name="TextBox 15">
            <a:extLst>
              <a:ext uri="{FF2B5EF4-FFF2-40B4-BE49-F238E27FC236}">
                <a16:creationId xmlns:a16="http://schemas.microsoft.com/office/drawing/2014/main" id="{DB1B7EDF-0A10-DEFB-B53C-DD7EE9466186}"/>
              </a:ext>
            </a:extLst>
          </p:cNvPr>
          <p:cNvSpPr txBox="1"/>
          <p:nvPr/>
        </p:nvSpPr>
        <p:spPr>
          <a:xfrm>
            <a:off x="1072266" y="1740556"/>
            <a:ext cx="1547329" cy="2601493"/>
          </a:xfrm>
          <a:prstGeom prst="rect">
            <a:avLst/>
          </a:prstGeom>
          <a:noFill/>
          <a:ln w="57150">
            <a:solidFill>
              <a:srgbClr val="FF0000"/>
            </a:solidFill>
            <a:prstDash val="solid"/>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ea typeface="Calibri"/>
              <a:cs typeface="Segoe UI"/>
            </a:endParaRPr>
          </a:p>
        </p:txBody>
      </p:sp>
      <p:sp>
        <p:nvSpPr>
          <p:cNvPr id="14" name="TextBox 15">
            <a:extLst>
              <a:ext uri="{FF2B5EF4-FFF2-40B4-BE49-F238E27FC236}">
                <a16:creationId xmlns:a16="http://schemas.microsoft.com/office/drawing/2014/main" id="{0161CE5A-D5F3-D6E4-2837-6101121F3161}"/>
              </a:ext>
            </a:extLst>
          </p:cNvPr>
          <p:cNvSpPr txBox="1"/>
          <p:nvPr/>
        </p:nvSpPr>
        <p:spPr>
          <a:xfrm>
            <a:off x="4432323" y="4358206"/>
            <a:ext cx="3249129" cy="1584770"/>
          </a:xfrm>
          <a:prstGeom prst="rect">
            <a:avLst/>
          </a:prstGeom>
          <a:noFill/>
          <a:ln w="57150">
            <a:solidFill>
              <a:srgbClr val="FF0000"/>
            </a:solidFill>
            <a:prstDash val="solid"/>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ea typeface="Calibri"/>
              <a:cs typeface="Segoe UI"/>
            </a:endParaRPr>
          </a:p>
        </p:txBody>
      </p:sp>
      <p:sp>
        <p:nvSpPr>
          <p:cNvPr id="17" name="文字方塊 4">
            <a:extLst>
              <a:ext uri="{FF2B5EF4-FFF2-40B4-BE49-F238E27FC236}">
                <a16:creationId xmlns:a16="http://schemas.microsoft.com/office/drawing/2014/main" id="{78CCEDB5-114F-43C3-7CDC-566C6611C701}"/>
              </a:ext>
            </a:extLst>
          </p:cNvPr>
          <p:cNvSpPr txBox="1"/>
          <p:nvPr/>
        </p:nvSpPr>
        <p:spPr>
          <a:xfrm>
            <a:off x="8974455" y="1716405"/>
            <a:ext cx="7524750" cy="67710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b="1">
                <a:solidFill>
                  <a:srgbClr val="FF0000"/>
                </a:solidFill>
                <a:latin typeface="Avenir Book"/>
                <a:ea typeface="+mn-lt"/>
                <a:cs typeface="+mn-lt"/>
              </a:rPr>
              <a:t>Some Considerations Based on Observation:</a:t>
            </a:r>
          </a:p>
          <a:p>
            <a:pPr marL="514350" indent="-514350" algn="just">
              <a:buAutoNum type="arabicPeriod"/>
            </a:pPr>
            <a:endParaRPr lang="en-US" altLang="zh-TW" sz="2400" b="1">
              <a:latin typeface="Avenir Book"/>
              <a:ea typeface="Calibri"/>
              <a:cs typeface="Calibri"/>
            </a:endParaRPr>
          </a:p>
          <a:p>
            <a:pPr algn="just">
              <a:buFont typeface="Arial"/>
              <a:buChar char="•"/>
            </a:pPr>
            <a:r>
              <a:rPr lang="en-US" sz="2400" b="1">
                <a:latin typeface="Avenir Book"/>
                <a:ea typeface="+mn-lt"/>
                <a:cs typeface="+mn-lt"/>
              </a:rPr>
              <a:t>OCR and GPT limitations</a:t>
            </a:r>
            <a:r>
              <a:rPr lang="en-US" sz="2400">
                <a:latin typeface="Avenir Book"/>
                <a:ea typeface="+mn-lt"/>
                <a:cs typeface="+mn-lt"/>
              </a:rPr>
              <a:t>: Both have issues with text extraction accuracy.</a:t>
            </a:r>
            <a:endParaRPr lang="en-US" altLang="zh-TW" sz="2400" b="1">
              <a:latin typeface="Avenir Book"/>
              <a:ea typeface="Calibri"/>
              <a:cs typeface="Calibri"/>
            </a:endParaRPr>
          </a:p>
          <a:p>
            <a:pPr algn="just"/>
            <a:endParaRPr lang="en-US" sz="2400">
              <a:latin typeface="Avenir Book"/>
              <a:ea typeface="+mn-lt"/>
              <a:cs typeface="+mn-lt"/>
            </a:endParaRPr>
          </a:p>
          <a:p>
            <a:pPr algn="just">
              <a:buFont typeface="Arial"/>
              <a:buChar char="•"/>
            </a:pPr>
            <a:r>
              <a:rPr lang="en-US" sz="2400" b="1">
                <a:latin typeface="Avenir Book"/>
                <a:ea typeface="+mn-lt"/>
                <a:cs typeface="+mn-lt"/>
              </a:rPr>
              <a:t>Clear address formatting</a:t>
            </a:r>
            <a:r>
              <a:rPr lang="en-US" sz="2400">
                <a:latin typeface="Avenir Book"/>
                <a:ea typeface="+mn-lt"/>
                <a:cs typeface="+mn-lt"/>
              </a:rPr>
              <a:t>: Improves </a:t>
            </a:r>
            <a:r>
              <a:rPr lang="en-US" sz="2400" b="1">
                <a:latin typeface="Avenir Book"/>
                <a:ea typeface="+mn-lt"/>
                <a:cs typeface="+mn-lt"/>
              </a:rPr>
              <a:t>OCR</a:t>
            </a:r>
            <a:r>
              <a:rPr lang="en-US" sz="2400">
                <a:latin typeface="Avenir Book"/>
                <a:ea typeface="+mn-lt"/>
                <a:cs typeface="+mn-lt"/>
              </a:rPr>
              <a:t> and </a:t>
            </a:r>
            <a:r>
              <a:rPr lang="en-US" sz="2400" b="1">
                <a:latin typeface="Avenir Book"/>
                <a:ea typeface="+mn-lt"/>
                <a:cs typeface="+mn-lt"/>
              </a:rPr>
              <a:t>GPT</a:t>
            </a:r>
            <a:r>
              <a:rPr lang="en-US" sz="2400">
                <a:latin typeface="Avenir Book"/>
                <a:ea typeface="+mn-lt"/>
                <a:cs typeface="+mn-lt"/>
              </a:rPr>
              <a:t> performance.</a:t>
            </a:r>
            <a:endParaRPr lang="en-US" sz="2400">
              <a:latin typeface="Avenir Book"/>
              <a:ea typeface="Calibri"/>
              <a:cs typeface="Calibri"/>
            </a:endParaRPr>
          </a:p>
          <a:p>
            <a:pPr algn="just"/>
            <a:endParaRPr lang="en-US" sz="2400">
              <a:latin typeface="Avenir Book"/>
              <a:ea typeface="+mn-lt"/>
              <a:cs typeface="+mn-lt"/>
            </a:endParaRPr>
          </a:p>
          <a:p>
            <a:pPr algn="just">
              <a:buFont typeface="Arial"/>
              <a:buChar char="•"/>
            </a:pPr>
            <a:r>
              <a:rPr lang="en-US" sz="2400" b="1">
                <a:latin typeface="Avenir Book"/>
                <a:ea typeface="+mn-lt"/>
                <a:cs typeface="+mn-lt"/>
              </a:rPr>
              <a:t>Use of tags</a:t>
            </a:r>
            <a:r>
              <a:rPr lang="en-US" sz="2400">
                <a:latin typeface="Avenir Book"/>
                <a:ea typeface="+mn-lt"/>
                <a:cs typeface="+mn-lt"/>
              </a:rPr>
              <a:t>: Helps </a:t>
            </a:r>
            <a:r>
              <a:rPr lang="en-US" sz="2400" b="1">
                <a:latin typeface="Avenir Book"/>
                <a:ea typeface="+mn-lt"/>
                <a:cs typeface="+mn-lt"/>
              </a:rPr>
              <a:t>OCR</a:t>
            </a:r>
            <a:r>
              <a:rPr lang="en-US" sz="2400">
                <a:latin typeface="Avenir Book"/>
                <a:ea typeface="+mn-lt"/>
                <a:cs typeface="+mn-lt"/>
              </a:rPr>
              <a:t> capture data when addresses are unclear.</a:t>
            </a:r>
            <a:endParaRPr lang="en-US" sz="2400">
              <a:latin typeface="Avenir Book"/>
              <a:ea typeface="Calibri"/>
              <a:cs typeface="Calibri"/>
            </a:endParaRPr>
          </a:p>
          <a:p>
            <a:pPr algn="just"/>
            <a:endParaRPr lang="en-US" sz="2400">
              <a:latin typeface="Avenir Book"/>
              <a:ea typeface="+mn-lt"/>
              <a:cs typeface="+mn-lt"/>
            </a:endParaRPr>
          </a:p>
          <a:p>
            <a:pPr algn="just">
              <a:buFont typeface="Arial"/>
              <a:buChar char="•"/>
            </a:pPr>
            <a:r>
              <a:rPr lang="en-US" sz="2400" b="1">
                <a:latin typeface="Avenir Book"/>
                <a:ea typeface="+mn-lt"/>
                <a:cs typeface="+mn-lt"/>
              </a:rPr>
              <a:t>Proximity of symbols</a:t>
            </a:r>
            <a:r>
              <a:rPr lang="en-US" sz="2400">
                <a:latin typeface="Avenir Book"/>
                <a:ea typeface="+mn-lt"/>
                <a:cs typeface="+mn-lt"/>
              </a:rPr>
              <a:t>: Ensure </a:t>
            </a:r>
            <a:r>
              <a:rPr lang="en-US" sz="2400" b="1">
                <a:latin typeface="Avenir Book"/>
                <a:ea typeface="+mn-lt"/>
                <a:cs typeface="+mn-lt"/>
              </a:rPr>
              <a:t>$ symbol</a:t>
            </a:r>
            <a:r>
              <a:rPr lang="en-US" sz="2400">
                <a:latin typeface="Avenir Book"/>
                <a:ea typeface="+mn-lt"/>
                <a:cs typeface="+mn-lt"/>
              </a:rPr>
              <a:t> is close to its field for </a:t>
            </a:r>
            <a:r>
              <a:rPr lang="en-US" sz="2400" b="1">
                <a:latin typeface="Avenir Book"/>
                <a:ea typeface="+mn-lt"/>
                <a:cs typeface="+mn-lt"/>
              </a:rPr>
              <a:t>GPT</a:t>
            </a:r>
            <a:r>
              <a:rPr lang="en-US" sz="2400">
                <a:latin typeface="Avenir Book"/>
                <a:ea typeface="+mn-lt"/>
                <a:cs typeface="+mn-lt"/>
              </a:rPr>
              <a:t> accuracy.</a:t>
            </a:r>
            <a:endParaRPr lang="en-US" sz="2400">
              <a:latin typeface="Avenir Book"/>
              <a:ea typeface="Calibri"/>
              <a:cs typeface="Calibri"/>
            </a:endParaRPr>
          </a:p>
          <a:p>
            <a:pPr algn="just"/>
            <a:endParaRPr lang="en-US" sz="2400">
              <a:latin typeface="Avenir Book"/>
              <a:ea typeface="+mn-lt"/>
              <a:cs typeface="+mn-lt"/>
            </a:endParaRPr>
          </a:p>
          <a:p>
            <a:pPr algn="just">
              <a:buFont typeface="Arial"/>
              <a:buChar char="•"/>
            </a:pPr>
            <a:r>
              <a:rPr lang="en-US" sz="2400" b="1">
                <a:latin typeface="Avenir Book"/>
                <a:ea typeface="+mn-lt"/>
                <a:cs typeface="+mn-lt"/>
              </a:rPr>
              <a:t>Regular validation</a:t>
            </a:r>
            <a:r>
              <a:rPr lang="en-US" sz="2400">
                <a:latin typeface="Avenir Book"/>
                <a:ea typeface="+mn-lt"/>
                <a:cs typeface="+mn-lt"/>
              </a:rPr>
              <a:t>: Ensures better data accuracy from both </a:t>
            </a:r>
            <a:r>
              <a:rPr lang="en-US" sz="2400" b="1">
                <a:latin typeface="Avenir Book"/>
                <a:ea typeface="+mn-lt"/>
                <a:cs typeface="+mn-lt"/>
              </a:rPr>
              <a:t>OCR</a:t>
            </a:r>
            <a:r>
              <a:rPr lang="en-US" sz="2400">
                <a:latin typeface="Avenir Book"/>
                <a:ea typeface="+mn-lt"/>
                <a:cs typeface="+mn-lt"/>
              </a:rPr>
              <a:t> and </a:t>
            </a:r>
            <a:r>
              <a:rPr lang="en-US" sz="2400" b="1">
                <a:latin typeface="Avenir Book"/>
                <a:ea typeface="+mn-lt"/>
                <a:cs typeface="+mn-lt"/>
              </a:rPr>
              <a:t>GPT.</a:t>
            </a:r>
            <a:endParaRPr lang="en-US" sz="2400">
              <a:latin typeface="Avenir Book"/>
            </a:endParaRPr>
          </a:p>
          <a:p>
            <a:pPr marL="514350" indent="-514350" algn="just">
              <a:buAutoNum type="arabicPeriod"/>
            </a:pPr>
            <a:endParaRPr lang="en-US" altLang="zh-TW" sz="3200" b="1">
              <a:latin typeface="Avenir Book"/>
              <a:ea typeface="Calibri"/>
              <a:cs typeface="Calibri"/>
            </a:endParaRPr>
          </a:p>
          <a:p>
            <a:endParaRPr lang="zh-TW" altLang="en-US">
              <a:ea typeface="新細明體"/>
              <a:cs typeface="Calibri"/>
            </a:endParaRPr>
          </a:p>
        </p:txBody>
      </p:sp>
    </p:spTree>
    <p:extLst>
      <p:ext uri="{BB962C8B-B14F-4D97-AF65-F5344CB8AC3E}">
        <p14:creationId xmlns:p14="http://schemas.microsoft.com/office/powerpoint/2010/main" val="1492002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7" name="TextBox 33">
            <a:extLst>
              <a:ext uri="{FF2B5EF4-FFF2-40B4-BE49-F238E27FC236}">
                <a16:creationId xmlns:a16="http://schemas.microsoft.com/office/drawing/2014/main" id="{6AA3DA91-E065-9A3D-A335-52B6E2CD408E}"/>
              </a:ext>
            </a:extLst>
          </p:cNvPr>
          <p:cNvSpPr txBox="1"/>
          <p:nvPr/>
        </p:nvSpPr>
        <p:spPr>
          <a:xfrm>
            <a:off x="1059061" y="-168068"/>
            <a:ext cx="16165308" cy="1708545"/>
          </a:xfrm>
          <a:prstGeom prst="rect">
            <a:avLst/>
          </a:prstGeom>
        </p:spPr>
        <p:txBody>
          <a:bodyPr wrap="square" lIns="0" tIns="0" rIns="0" bIns="0" rtlCol="0" anchor="t">
            <a:spAutoFit/>
          </a:bodyPr>
          <a:lstStyle/>
          <a:p>
            <a:pPr algn="ctr">
              <a:lnSpc>
                <a:spcPts val="15266"/>
              </a:lnSpc>
            </a:pPr>
            <a:r>
              <a:rPr lang="en-US" sz="7200" b="1">
                <a:solidFill>
                  <a:srgbClr val="191919"/>
                </a:solidFill>
                <a:latin typeface="Avenir Book"/>
                <a:ea typeface="Gotham Bold"/>
                <a:cs typeface="Gotham Bold"/>
              </a:rPr>
              <a:t>Cost Analysis</a:t>
            </a:r>
            <a:endParaRPr lang="en-US"/>
          </a:p>
        </p:txBody>
      </p:sp>
      <p:sp>
        <p:nvSpPr>
          <p:cNvPr id="2" name="TextBox 1">
            <a:extLst>
              <a:ext uri="{FF2B5EF4-FFF2-40B4-BE49-F238E27FC236}">
                <a16:creationId xmlns:a16="http://schemas.microsoft.com/office/drawing/2014/main" id="{DEC21A4B-7135-D619-E2E3-3A40792590BF}"/>
              </a:ext>
            </a:extLst>
          </p:cNvPr>
          <p:cNvSpPr txBox="1"/>
          <p:nvPr/>
        </p:nvSpPr>
        <p:spPr>
          <a:xfrm>
            <a:off x="752500" y="6878957"/>
            <a:ext cx="649848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US" sz="2400" b="1">
              <a:solidFill>
                <a:srgbClr val="FF0000"/>
              </a:solidFill>
              <a:latin typeface="Avenir Book"/>
              <a:ea typeface="Calibri"/>
              <a:cs typeface="Calibri"/>
            </a:endParaRPr>
          </a:p>
          <a:p>
            <a:pPr algn="just"/>
            <a:r>
              <a:rPr lang="en-US" sz="2400" b="1">
                <a:latin typeface="Avenir Book"/>
                <a:ea typeface="Calibri"/>
                <a:cs typeface="Calibri"/>
              </a:rPr>
              <a:t>Unit Price :</a:t>
            </a:r>
            <a:r>
              <a:rPr lang="en-US" sz="2400" b="1">
                <a:solidFill>
                  <a:srgbClr val="FF0000"/>
                </a:solidFill>
                <a:latin typeface="Avenir Book"/>
                <a:ea typeface="Calibri"/>
                <a:cs typeface="Calibri"/>
              </a:rPr>
              <a:t> $2.50 / 1 M input Tokens</a:t>
            </a:r>
          </a:p>
          <a:p>
            <a:pPr algn="just"/>
            <a:r>
              <a:rPr lang="en-US" sz="2400" b="1">
                <a:solidFill>
                  <a:srgbClr val="FF0000"/>
                </a:solidFill>
                <a:latin typeface="Avenir Book"/>
                <a:ea typeface="Calibri"/>
                <a:cs typeface="Calibri"/>
              </a:rPr>
              <a:t>                  $10.00 / 1 M Output Tokens</a:t>
            </a:r>
          </a:p>
          <a:p>
            <a:endParaRPr lang="en-US">
              <a:solidFill>
                <a:srgbClr val="000000"/>
              </a:solidFill>
              <a:latin typeface="Calibri"/>
              <a:ea typeface="Calibri"/>
              <a:cs typeface="Calibri"/>
            </a:endParaRPr>
          </a:p>
          <a:p>
            <a:endParaRPr lang="en-US">
              <a:ea typeface="Calibri"/>
              <a:cs typeface="Calibri"/>
            </a:endParaRPr>
          </a:p>
          <a:p>
            <a:endParaRPr lang="en-US">
              <a:ea typeface="Calibri"/>
              <a:cs typeface="Calibri"/>
            </a:endParaRPr>
          </a:p>
        </p:txBody>
      </p:sp>
      <p:sp>
        <p:nvSpPr>
          <p:cNvPr id="15" name="TextBox 14">
            <a:extLst>
              <a:ext uri="{FF2B5EF4-FFF2-40B4-BE49-F238E27FC236}">
                <a16:creationId xmlns:a16="http://schemas.microsoft.com/office/drawing/2014/main" id="{A7481C0A-12E3-FFF0-6599-8264E9631B9C}"/>
              </a:ext>
            </a:extLst>
          </p:cNvPr>
          <p:cNvSpPr txBox="1"/>
          <p:nvPr/>
        </p:nvSpPr>
        <p:spPr>
          <a:xfrm>
            <a:off x="7939711" y="6876811"/>
            <a:ext cx="8865169" cy="20005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800">
                <a:solidFill>
                  <a:srgbClr val="FC4710"/>
                </a:solidFill>
                <a:latin typeface="Avenir Book"/>
              </a:rPr>
              <a:t>**Note:</a:t>
            </a:r>
            <a:r>
              <a:rPr lang="en-US" sz="2400">
                <a:solidFill>
                  <a:srgbClr val="FC4710"/>
                </a:solidFill>
                <a:latin typeface="Avenir Book"/>
              </a:rPr>
              <a:t> OpenAI multimodal calculates input cost based on input tokens, image size, and resolution. The image tokenizer most likely has not been published yet; the unit price has been provided for price estimation.</a:t>
            </a:r>
          </a:p>
          <a:p>
            <a:pPr algn="just"/>
            <a:endParaRPr lang="en-US" sz="2400">
              <a:solidFill>
                <a:srgbClr val="FC4710"/>
              </a:solidFill>
              <a:latin typeface="Avenir Book"/>
              <a:ea typeface="Calibri"/>
              <a:cs typeface="Calibri"/>
            </a:endParaRPr>
          </a:p>
        </p:txBody>
      </p:sp>
      <p:graphicFrame>
        <p:nvGraphicFramePr>
          <p:cNvPr id="4" name="Table 3">
            <a:extLst>
              <a:ext uri="{FF2B5EF4-FFF2-40B4-BE49-F238E27FC236}">
                <a16:creationId xmlns:a16="http://schemas.microsoft.com/office/drawing/2014/main" id="{24FE2E0C-26F1-B223-1EE2-4527431C96D9}"/>
              </a:ext>
            </a:extLst>
          </p:cNvPr>
          <p:cNvGraphicFramePr>
            <a:graphicFrameLocks noGrp="1"/>
          </p:cNvGraphicFramePr>
          <p:nvPr>
            <p:extLst>
              <p:ext uri="{D42A27DB-BD31-4B8C-83A1-F6EECF244321}">
                <p14:modId xmlns:p14="http://schemas.microsoft.com/office/powerpoint/2010/main" val="4230776260"/>
              </p:ext>
            </p:extLst>
          </p:nvPr>
        </p:nvGraphicFramePr>
        <p:xfrm>
          <a:off x="1448599" y="1938619"/>
          <a:ext cx="14690725" cy="4669382"/>
        </p:xfrm>
        <a:graphic>
          <a:graphicData uri="http://schemas.openxmlformats.org/drawingml/2006/table">
            <a:tbl>
              <a:tblPr/>
              <a:tblGrid>
                <a:gridCol w="2316045">
                  <a:extLst>
                    <a:ext uri="{9D8B030D-6E8A-4147-A177-3AD203B41FA5}">
                      <a16:colId xmlns:a16="http://schemas.microsoft.com/office/drawing/2014/main" val="721203954"/>
                    </a:ext>
                  </a:extLst>
                </a:gridCol>
                <a:gridCol w="2424647">
                  <a:extLst>
                    <a:ext uri="{9D8B030D-6E8A-4147-A177-3AD203B41FA5}">
                      <a16:colId xmlns:a16="http://schemas.microsoft.com/office/drawing/2014/main" val="2865249999"/>
                    </a:ext>
                  </a:extLst>
                </a:gridCol>
                <a:gridCol w="2532409">
                  <a:extLst>
                    <a:ext uri="{9D8B030D-6E8A-4147-A177-3AD203B41FA5}">
                      <a16:colId xmlns:a16="http://schemas.microsoft.com/office/drawing/2014/main" val="3791703892"/>
                    </a:ext>
                  </a:extLst>
                </a:gridCol>
                <a:gridCol w="2388726">
                  <a:extLst>
                    <a:ext uri="{9D8B030D-6E8A-4147-A177-3AD203B41FA5}">
                      <a16:colId xmlns:a16="http://schemas.microsoft.com/office/drawing/2014/main" val="4116985340"/>
                    </a:ext>
                  </a:extLst>
                </a:gridCol>
                <a:gridCol w="2604251">
                  <a:extLst>
                    <a:ext uri="{9D8B030D-6E8A-4147-A177-3AD203B41FA5}">
                      <a16:colId xmlns:a16="http://schemas.microsoft.com/office/drawing/2014/main" val="2902094519"/>
                    </a:ext>
                  </a:extLst>
                </a:gridCol>
                <a:gridCol w="2424647">
                  <a:extLst>
                    <a:ext uri="{9D8B030D-6E8A-4147-A177-3AD203B41FA5}">
                      <a16:colId xmlns:a16="http://schemas.microsoft.com/office/drawing/2014/main" val="3729738722"/>
                    </a:ext>
                  </a:extLst>
                </a:gridCol>
              </a:tblGrid>
              <a:tr h="762000">
                <a:tc>
                  <a:txBody>
                    <a:bodyPr/>
                    <a:lstStyle/>
                    <a:p>
                      <a:pPr algn="l" rtl="0" fontAlgn="ctr"/>
                      <a:endParaRPr lang="en-US" sz="3000" b="0" i="0" u="none" strike="noStrike">
                        <a:effectLst/>
                        <a:latin typeface="Avenir Book"/>
                      </a:endParaRPr>
                    </a:p>
                  </a:txBody>
                  <a:tcPr marL="10478" marR="10478" marT="104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C983"/>
                    </a:solidFill>
                  </a:tcPr>
                </a:tc>
                <a:tc gridSpan="3">
                  <a:txBody>
                    <a:bodyPr/>
                    <a:lstStyle/>
                    <a:p>
                      <a:pPr algn="ctr" rtl="0" fontAlgn="ctr"/>
                      <a:r>
                        <a:rPr lang="en-US" sz="4000" b="0" i="0" u="none" strike="noStrike">
                          <a:solidFill>
                            <a:srgbClr val="000000"/>
                          </a:solidFill>
                          <a:effectLst/>
                          <a:latin typeface="Avenir Book"/>
                        </a:rPr>
                        <a:t>Baseline</a:t>
                      </a:r>
                      <a:endParaRPr lang="en-US" sz="3000" b="0" i="0" u="none" strike="noStrike">
                        <a:effectLst/>
                        <a:latin typeface="Avenir Book"/>
                      </a:endParaRPr>
                    </a:p>
                  </a:txBody>
                  <a:tcPr marL="150876" marR="150876" marT="75438" marB="7543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C983"/>
                    </a:solidFill>
                  </a:tcPr>
                </a:tc>
                <a:tc hMerge="1">
                  <a:txBody>
                    <a:bodyPr/>
                    <a:lstStyle/>
                    <a:p>
                      <a:endParaRPr lang="en-US"/>
                    </a:p>
                  </a:txBody>
                  <a:tcPr/>
                </a:tc>
                <a:tc hMerge="1">
                  <a:txBody>
                    <a:bodyPr/>
                    <a:lstStyle/>
                    <a:p>
                      <a:endParaRPr lang="en-US"/>
                    </a:p>
                  </a:txBody>
                  <a:tcPr/>
                </a:tc>
                <a:tc gridSpan="2">
                  <a:txBody>
                    <a:bodyPr/>
                    <a:lstStyle/>
                    <a:p>
                      <a:pPr algn="ctr" rtl="0" fontAlgn="b"/>
                      <a:r>
                        <a:rPr lang="en-US" sz="4000" b="0" i="0" u="none" strike="noStrike">
                          <a:solidFill>
                            <a:srgbClr val="000000"/>
                          </a:solidFill>
                          <a:effectLst/>
                          <a:latin typeface="Avenir Book"/>
                        </a:rPr>
                        <a:t>Current</a:t>
                      </a:r>
                      <a:endParaRPr lang="en-US" sz="3000" b="0" i="0" u="none" strike="noStrike">
                        <a:effectLst/>
                        <a:latin typeface="Avenir Book"/>
                      </a:endParaRPr>
                    </a:p>
                  </a:txBody>
                  <a:tcPr marL="150876" marR="150876" marT="75438" marB="7543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C983"/>
                    </a:solidFill>
                  </a:tcPr>
                </a:tc>
                <a:tc hMerge="1">
                  <a:txBody>
                    <a:bodyPr/>
                    <a:lstStyle/>
                    <a:p>
                      <a:endParaRPr lang="en-US"/>
                    </a:p>
                  </a:txBody>
                  <a:tcPr/>
                </a:tc>
                <a:extLst>
                  <a:ext uri="{0D108BD9-81ED-4DB2-BD59-A6C34878D82A}">
                    <a16:rowId xmlns:a16="http://schemas.microsoft.com/office/drawing/2014/main" val="2229144478"/>
                  </a:ext>
                </a:extLst>
              </a:tr>
              <a:tr h="1009650">
                <a:tc>
                  <a:txBody>
                    <a:bodyPr/>
                    <a:lstStyle/>
                    <a:p>
                      <a:pPr algn="ctr" rtl="0" fontAlgn="ctr"/>
                      <a:r>
                        <a:rPr lang="en-US" sz="3300" b="0" i="0" u="none" strike="noStrike">
                          <a:solidFill>
                            <a:srgbClr val="000000"/>
                          </a:solidFill>
                          <a:effectLst/>
                          <a:latin typeface="Avenir Book"/>
                        </a:rPr>
                        <a:t>Datasets</a:t>
                      </a:r>
                      <a:endParaRPr lang="en-US" sz="3000" b="0" i="0" u="none" strike="noStrike">
                        <a:effectLst/>
                        <a:latin typeface="Avenir Book"/>
                      </a:endParaRPr>
                    </a:p>
                  </a:txBody>
                  <a:tcPr marL="10478" marR="10478" marT="104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a:txBody>
                    <a:bodyPr/>
                    <a:lstStyle/>
                    <a:p>
                      <a:pPr algn="ctr" rtl="0" fontAlgn="ctr"/>
                      <a:r>
                        <a:rPr lang="en-US" sz="3300" b="0" i="0" u="none" strike="noStrike">
                          <a:solidFill>
                            <a:srgbClr val="000000"/>
                          </a:solidFill>
                          <a:effectLst/>
                          <a:latin typeface="Avenir Book"/>
                        </a:rPr>
                        <a:t>Input Cost</a:t>
                      </a:r>
                      <a:endParaRPr lang="en-US" sz="3000" b="0" i="0" u="none" strike="noStrike">
                        <a:effectLst/>
                        <a:latin typeface="Avenir Book"/>
                      </a:endParaRPr>
                    </a:p>
                  </a:txBody>
                  <a:tcPr marL="10478" marR="10478" marT="104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a:txBody>
                    <a:bodyPr/>
                    <a:lstStyle/>
                    <a:p>
                      <a:pPr algn="ctr" rtl="0" fontAlgn="ctr"/>
                      <a:r>
                        <a:rPr lang="en-US" sz="3300" b="0" i="0" u="none" strike="noStrike">
                          <a:solidFill>
                            <a:srgbClr val="000000"/>
                          </a:solidFill>
                          <a:effectLst/>
                          <a:latin typeface="Avenir Book"/>
                        </a:rPr>
                        <a:t>Output Cost</a:t>
                      </a:r>
                      <a:endParaRPr lang="en-US" sz="3000" b="0" i="0" u="none" strike="noStrike">
                        <a:effectLst/>
                        <a:latin typeface="Avenir Book"/>
                      </a:endParaRPr>
                    </a:p>
                  </a:txBody>
                  <a:tcPr marL="10478" marR="10478" marT="104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a:txBody>
                    <a:bodyPr/>
                    <a:lstStyle/>
                    <a:p>
                      <a:pPr algn="ctr" rtl="0" fontAlgn="ctr"/>
                      <a:r>
                        <a:rPr lang="en-US" sz="3300" b="0" i="0" u="none" strike="noStrike">
                          <a:solidFill>
                            <a:srgbClr val="000000"/>
                          </a:solidFill>
                          <a:effectLst/>
                          <a:latin typeface="Avenir Book"/>
                        </a:rPr>
                        <a:t>Inference Time</a:t>
                      </a:r>
                      <a:endParaRPr lang="en-US" sz="3000" b="0" i="0" u="none" strike="noStrike">
                        <a:effectLst/>
                        <a:latin typeface="Avenir Book"/>
                      </a:endParaRPr>
                    </a:p>
                  </a:txBody>
                  <a:tcPr marL="10478" marR="10478" marT="104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a:txBody>
                    <a:bodyPr/>
                    <a:lstStyle/>
                    <a:p>
                      <a:pPr algn="ctr" rtl="0" fontAlgn="ctr"/>
                      <a:r>
                        <a:rPr lang="en-US" sz="3300" b="0" i="0" u="none" strike="noStrike">
                          <a:solidFill>
                            <a:srgbClr val="000000"/>
                          </a:solidFill>
                          <a:effectLst/>
                          <a:latin typeface="Avenir Book"/>
                        </a:rPr>
                        <a:t>Output Cost</a:t>
                      </a:r>
                      <a:endParaRPr lang="en-US" sz="3000" b="0" i="0" u="none" strike="noStrike">
                        <a:effectLst/>
                        <a:latin typeface="Avenir Book"/>
                      </a:endParaRPr>
                    </a:p>
                  </a:txBody>
                  <a:tcPr marL="10478" marR="10478" marT="104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a:txBody>
                    <a:bodyPr/>
                    <a:lstStyle/>
                    <a:p>
                      <a:pPr algn="ctr" rtl="0" fontAlgn="ctr"/>
                      <a:r>
                        <a:rPr lang="en-US" sz="3300" b="0" i="0" u="none" strike="noStrike">
                          <a:solidFill>
                            <a:srgbClr val="000000"/>
                          </a:solidFill>
                          <a:effectLst/>
                          <a:latin typeface="Avenir Book"/>
                        </a:rPr>
                        <a:t>Inference Time</a:t>
                      </a:r>
                      <a:endParaRPr lang="en-US" sz="3000" b="0" i="0" u="none" strike="noStrike">
                        <a:effectLst/>
                        <a:latin typeface="Avenir Book"/>
                      </a:endParaRPr>
                    </a:p>
                  </a:txBody>
                  <a:tcPr marL="10478" marR="10478" marT="104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extLst>
                  <a:ext uri="{0D108BD9-81ED-4DB2-BD59-A6C34878D82A}">
                    <a16:rowId xmlns:a16="http://schemas.microsoft.com/office/drawing/2014/main" val="980005380"/>
                  </a:ext>
                </a:extLst>
              </a:tr>
              <a:tr h="666750">
                <a:tc>
                  <a:txBody>
                    <a:bodyPr/>
                    <a:lstStyle/>
                    <a:p>
                      <a:pPr algn="ctr" rtl="0" fontAlgn="ctr"/>
                      <a:r>
                        <a:rPr lang="en-US" sz="3300" b="0" i="0" u="none" strike="noStrike">
                          <a:solidFill>
                            <a:srgbClr val="000000"/>
                          </a:solidFill>
                          <a:effectLst/>
                          <a:latin typeface="Avenir Book"/>
                        </a:rPr>
                        <a:t>Invoices</a:t>
                      </a:r>
                      <a:endParaRPr lang="en-US" sz="3000" b="0" i="0" u="none" strike="noStrike">
                        <a:effectLst/>
                        <a:latin typeface="Avenir Book"/>
                      </a:endParaRPr>
                    </a:p>
                  </a:txBody>
                  <a:tcPr marL="10478" marR="10478" marT="104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rowSpan="2">
                  <a:txBody>
                    <a:bodyPr/>
                    <a:lstStyle/>
                    <a:p>
                      <a:pPr algn="ctr" rtl="0" fontAlgn="ctr"/>
                      <a:r>
                        <a:rPr lang="en-US" sz="3300" b="0" i="0" u="none" strike="noStrike">
                          <a:solidFill>
                            <a:srgbClr val="000000"/>
                          </a:solidFill>
                          <a:effectLst/>
                          <a:latin typeface="Avenir Book"/>
                          <a:ea typeface="微軟正黑體"/>
                        </a:rPr>
                        <a:t>$ 0.22</a:t>
                      </a:r>
                      <a:endParaRPr lang="en-US" sz="3000" b="0" i="0" u="none" strike="noStrike">
                        <a:effectLst/>
                        <a:latin typeface="Avenir Book"/>
                        <a:ea typeface="微軟正黑體"/>
                      </a:endParaRPr>
                    </a:p>
                  </a:txBody>
                  <a:tcPr marL="150876" marR="150876" marT="75438" marB="7543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rtl="0" fontAlgn="ctr"/>
                      <a:r>
                        <a:rPr lang="en-US" sz="3300" b="0" i="0" u="none" strike="noStrike">
                          <a:solidFill>
                            <a:srgbClr val="000000"/>
                          </a:solidFill>
                          <a:effectLst/>
                          <a:latin typeface="Avenir Book"/>
                        </a:rPr>
                        <a:t>$ 0.22</a:t>
                      </a:r>
                      <a:endParaRPr lang="en-US" sz="3000" b="0" i="0" u="none" strike="noStrike">
                        <a:effectLst/>
                        <a:latin typeface="Avenir Book"/>
                      </a:endParaRPr>
                    </a:p>
                  </a:txBody>
                  <a:tcPr marL="150876" marR="150876" marT="75438" marB="7543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rtl="0" fontAlgn="ctr"/>
                      <a:r>
                        <a:rPr lang="en-US" sz="3300" b="0" i="0" u="none" strike="noStrike">
                          <a:solidFill>
                            <a:srgbClr val="000000"/>
                          </a:solidFill>
                          <a:effectLst/>
                          <a:latin typeface="Avenir Book"/>
                        </a:rPr>
                        <a:t>9 sec /call</a:t>
                      </a:r>
                      <a:endParaRPr lang="en-US" sz="3000" b="0" i="0" u="none" strike="noStrike">
                        <a:effectLst/>
                        <a:latin typeface="Avenir Book"/>
                      </a:endParaRPr>
                    </a:p>
                  </a:txBody>
                  <a:tcPr marL="150876" marR="150876" marT="75438" marB="7543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rtl="0" fontAlgn="ctr"/>
                      <a:r>
                        <a:rPr lang="en-US" sz="3300" b="0" i="0" u="none" strike="noStrike">
                          <a:solidFill>
                            <a:srgbClr val="000000"/>
                          </a:solidFill>
                          <a:effectLst/>
                          <a:latin typeface="Avenir Book"/>
                        </a:rPr>
                        <a:t>$ 0.35 </a:t>
                      </a:r>
                      <a:endParaRPr lang="en-US" sz="3000" b="0" i="0" u="none" strike="noStrike">
                        <a:effectLst/>
                        <a:latin typeface="Avenir Book"/>
                      </a:endParaRPr>
                    </a:p>
                  </a:txBody>
                  <a:tcPr marL="150876" marR="150876" marT="75438" marB="7543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rtl="0" fontAlgn="ctr"/>
                      <a:r>
                        <a:rPr lang="en-US" sz="3300" b="0" i="0" u="none" strike="noStrike">
                          <a:solidFill>
                            <a:srgbClr val="000000"/>
                          </a:solidFill>
                          <a:effectLst/>
                          <a:latin typeface="Avenir Book"/>
                        </a:rPr>
                        <a:t>10 sec /call</a:t>
                      </a:r>
                      <a:endParaRPr lang="en-US" sz="3000" b="0" i="0" u="none" strike="noStrike">
                        <a:effectLst/>
                        <a:latin typeface="Avenir Book"/>
                      </a:endParaRPr>
                    </a:p>
                  </a:txBody>
                  <a:tcPr marL="150876" marR="150876" marT="75438" marB="7543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7287223"/>
                  </a:ext>
                </a:extLst>
              </a:tr>
              <a:tr h="704850">
                <a:tc>
                  <a:txBody>
                    <a:bodyPr/>
                    <a:lstStyle/>
                    <a:p>
                      <a:pPr algn="ctr" rtl="0" fontAlgn="ctr"/>
                      <a:r>
                        <a:rPr lang="en-US" sz="3300" b="0" i="0" u="none" strike="noStrike">
                          <a:solidFill>
                            <a:srgbClr val="000000"/>
                          </a:solidFill>
                          <a:effectLst/>
                          <a:latin typeface="Avenir Book"/>
                        </a:rPr>
                        <a:t>(50 Pages)</a:t>
                      </a:r>
                      <a:endParaRPr lang="en-US" sz="3000" b="0" i="0" u="none" strike="noStrike">
                        <a:effectLst/>
                        <a:latin typeface="Avenir Book"/>
                      </a:endParaRPr>
                    </a:p>
                  </a:txBody>
                  <a:tcPr marL="10478" marR="10478" marT="104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272416347"/>
                  </a:ext>
                </a:extLst>
              </a:tr>
              <a:tr h="666750">
                <a:tc>
                  <a:txBody>
                    <a:bodyPr/>
                    <a:lstStyle/>
                    <a:p>
                      <a:pPr algn="ctr" rtl="0" fontAlgn="ctr"/>
                      <a:r>
                        <a:rPr lang="en-US" sz="3300" b="0" i="0" u="none" strike="noStrike">
                          <a:solidFill>
                            <a:srgbClr val="000000"/>
                          </a:solidFill>
                          <a:effectLst/>
                          <a:latin typeface="Avenir Book"/>
                        </a:rPr>
                        <a:t>AOI </a:t>
                      </a:r>
                      <a:endParaRPr lang="en-US" sz="3000" b="0" i="0" u="none" strike="noStrike">
                        <a:effectLst/>
                        <a:latin typeface="Avenir Book"/>
                      </a:endParaRPr>
                    </a:p>
                  </a:txBody>
                  <a:tcPr marL="10478" marR="10478" marT="104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rowSpan="2">
                  <a:txBody>
                    <a:bodyPr/>
                    <a:lstStyle/>
                    <a:p>
                      <a:pPr algn="ctr" rtl="0" fontAlgn="ctr"/>
                      <a:r>
                        <a:rPr lang="en-US" sz="3300" b="0" i="0" u="none" strike="noStrike">
                          <a:solidFill>
                            <a:srgbClr val="000000"/>
                          </a:solidFill>
                          <a:effectLst/>
                          <a:latin typeface="Avenir Book"/>
                        </a:rPr>
                        <a:t>  $ 0.3　</a:t>
                      </a:r>
                      <a:endParaRPr lang="en-US" sz="3000" b="0" i="0" u="none" strike="noStrike">
                        <a:effectLst/>
                        <a:latin typeface="Avenir Book"/>
                      </a:endParaRPr>
                    </a:p>
                  </a:txBody>
                  <a:tcPr marL="150876" marR="150876" marT="75438" marB="7543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rtl="0" fontAlgn="ctr"/>
                      <a:r>
                        <a:rPr lang="en-US" sz="3300" b="0" i="0" u="none" strike="noStrike">
                          <a:solidFill>
                            <a:srgbClr val="000000"/>
                          </a:solidFill>
                          <a:effectLst/>
                          <a:latin typeface="Avenir Book"/>
                        </a:rPr>
                        <a:t>$ 0.03</a:t>
                      </a:r>
                      <a:endParaRPr lang="en-US" sz="3000" b="0" i="0" u="none" strike="noStrike">
                        <a:effectLst/>
                        <a:latin typeface="Avenir Book"/>
                      </a:endParaRPr>
                    </a:p>
                  </a:txBody>
                  <a:tcPr marL="150876" marR="150876" marT="75438" marB="7543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rtl="0" fontAlgn="ctr"/>
                      <a:r>
                        <a:rPr lang="en-US" sz="3300" b="0" i="0" u="none" strike="noStrike">
                          <a:solidFill>
                            <a:srgbClr val="000000"/>
                          </a:solidFill>
                          <a:effectLst/>
                          <a:latin typeface="Avenir Book"/>
                        </a:rPr>
                        <a:t>8 sec /call</a:t>
                      </a:r>
                      <a:endParaRPr lang="en-US" sz="3000" b="0" i="0" u="none" strike="noStrike">
                        <a:effectLst/>
                        <a:latin typeface="Avenir Book"/>
                      </a:endParaRPr>
                    </a:p>
                  </a:txBody>
                  <a:tcPr marL="150876" marR="150876" marT="75438" marB="7543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rtl="0" fontAlgn="ctr"/>
                      <a:r>
                        <a:rPr lang="en-US" sz="3300" b="0" i="0" u="none" strike="noStrike">
                          <a:solidFill>
                            <a:srgbClr val="000000"/>
                          </a:solidFill>
                          <a:effectLst/>
                          <a:latin typeface="Avenir Book"/>
                        </a:rPr>
                        <a:t>$ 0.04 </a:t>
                      </a:r>
                      <a:endParaRPr lang="en-US" sz="3000" b="0" i="0" u="none" strike="noStrike">
                        <a:effectLst/>
                        <a:latin typeface="Avenir Book"/>
                      </a:endParaRPr>
                    </a:p>
                  </a:txBody>
                  <a:tcPr marL="150876" marR="150876" marT="75438" marB="7543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rtl="0" fontAlgn="ctr"/>
                      <a:r>
                        <a:rPr lang="en-US" sz="3300" b="0" i="0" u="none" strike="noStrike">
                          <a:solidFill>
                            <a:srgbClr val="000000"/>
                          </a:solidFill>
                          <a:effectLst/>
                          <a:latin typeface="Avenir Book"/>
                        </a:rPr>
                        <a:t>6 sec / call</a:t>
                      </a:r>
                      <a:endParaRPr lang="en-US" sz="3000" b="0" i="0" u="none" strike="noStrike">
                        <a:effectLst/>
                        <a:latin typeface="Avenir Book"/>
                      </a:endParaRPr>
                    </a:p>
                  </a:txBody>
                  <a:tcPr marL="150876" marR="150876" marT="75438" marB="7543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0119646"/>
                  </a:ext>
                </a:extLst>
              </a:tr>
              <a:tr h="852714">
                <a:tc>
                  <a:txBody>
                    <a:bodyPr/>
                    <a:lstStyle/>
                    <a:p>
                      <a:pPr algn="ctr" rtl="0" fontAlgn="ctr"/>
                      <a:r>
                        <a:rPr lang="en-US" sz="3300" b="0" i="0" u="none" strike="noStrike">
                          <a:solidFill>
                            <a:srgbClr val="000000"/>
                          </a:solidFill>
                          <a:effectLst/>
                          <a:latin typeface="Avenir Book"/>
                        </a:rPr>
                        <a:t>(21 Pages)</a:t>
                      </a:r>
                      <a:endParaRPr lang="en-US" sz="3000" b="0" i="0" u="none" strike="noStrike">
                        <a:effectLst/>
                        <a:latin typeface="Arial" panose="020B0604020202020204" pitchFamily="34" charset="0"/>
                      </a:endParaRPr>
                    </a:p>
                  </a:txBody>
                  <a:tcPr marL="10478" marR="10478" marT="104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6139384"/>
                  </a:ext>
                </a:extLst>
              </a:tr>
            </a:tbl>
          </a:graphicData>
        </a:graphic>
      </p:graphicFrame>
      <p:sp>
        <p:nvSpPr>
          <p:cNvPr id="6" name="TextBox 5">
            <a:extLst>
              <a:ext uri="{FF2B5EF4-FFF2-40B4-BE49-F238E27FC236}">
                <a16:creationId xmlns:a16="http://schemas.microsoft.com/office/drawing/2014/main" id="{22B6B675-852A-A112-35DE-F9E30AFCA4C4}"/>
              </a:ext>
            </a:extLst>
          </p:cNvPr>
          <p:cNvSpPr txBox="1"/>
          <p:nvPr/>
        </p:nvSpPr>
        <p:spPr>
          <a:xfrm>
            <a:off x="752042" y="8525741"/>
            <a:ext cx="1606954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3200">
                <a:solidFill>
                  <a:srgbClr val="FC4710"/>
                </a:solidFill>
                <a:latin typeface="Avenir Book"/>
              </a:rPr>
              <a:t>Conclusion: </a:t>
            </a:r>
            <a:r>
              <a:rPr lang="en-US" sz="2400">
                <a:solidFill>
                  <a:srgbClr val="000000"/>
                </a:solidFill>
                <a:latin typeface="Avenir Book"/>
              </a:rPr>
              <a:t>The cost of RAG has not been added for baseline cost analysis. The output cost difference is not significant between both approaches but we may save some cost for input since we are sending images instead of OCR texts to model but need some further research on OpenAI image to token calculation.</a:t>
            </a:r>
            <a:endParaRPr lang="en-US">
              <a:ea typeface="Calibri"/>
              <a:cs typeface="Calibri"/>
            </a:endParaRPr>
          </a:p>
        </p:txBody>
      </p:sp>
    </p:spTree>
    <p:extLst>
      <p:ext uri="{BB962C8B-B14F-4D97-AF65-F5344CB8AC3E}">
        <p14:creationId xmlns:p14="http://schemas.microsoft.com/office/powerpoint/2010/main" val="2445094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35" name="Group 35"/>
          <p:cNvGrpSpPr/>
          <p:nvPr/>
        </p:nvGrpSpPr>
        <p:grpSpPr>
          <a:xfrm>
            <a:off x="16810837" y="-9245"/>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15204">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12" name="TextBox 11">
            <a:extLst>
              <a:ext uri="{FF2B5EF4-FFF2-40B4-BE49-F238E27FC236}">
                <a16:creationId xmlns:a16="http://schemas.microsoft.com/office/drawing/2014/main" id="{F20ECAA3-36C6-FBFC-82A7-CF91D7FA9FE4}"/>
              </a:ext>
            </a:extLst>
          </p:cNvPr>
          <p:cNvSpPr txBox="1"/>
          <p:nvPr/>
        </p:nvSpPr>
        <p:spPr>
          <a:xfrm>
            <a:off x="633999" y="372178"/>
            <a:ext cx="15749049" cy="5460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endParaRPr lang="en-US" sz="3200" dirty="0">
              <a:solidFill>
                <a:srgbClr val="272B30"/>
              </a:solidFill>
              <a:latin typeface="Avenir Book"/>
              <a:cs typeface="Segoe UI"/>
            </a:endParaRPr>
          </a:p>
          <a:p>
            <a:pPr marL="285750" indent="-285750">
              <a:lnSpc>
                <a:spcPct val="150000"/>
              </a:lnSpc>
              <a:buFont typeface="Arial"/>
              <a:buChar char="•"/>
            </a:pPr>
            <a:r>
              <a:rPr lang="en-US" sz="2800" dirty="0">
                <a:latin typeface="Avenir Book"/>
                <a:cs typeface="Arial"/>
              </a:rPr>
              <a:t>Information and relation extraction with a multimodal model can be a potential option to eliminate OCR cost and OCR-related errors. It does have similar statistics.</a:t>
            </a:r>
          </a:p>
          <a:p>
            <a:pPr marL="285750" indent="-285750">
              <a:lnSpc>
                <a:spcPct val="150000"/>
              </a:lnSpc>
              <a:buFont typeface="Arial"/>
              <a:buChar char="•"/>
            </a:pPr>
            <a:r>
              <a:rPr lang="en-US" sz="2800" dirty="0">
                <a:latin typeface="Avenir Book"/>
                <a:cs typeface="Arial"/>
              </a:rPr>
              <a:t>Unfortunately, at this moment, OCR has been used since the model does not predict accurate bounding boxes, and OCR text matching has been used to reconstruct the bounding boxes, which is essential for information and relation extraction.</a:t>
            </a:r>
            <a:endParaRPr lang="en-US" sz="2800" dirty="0">
              <a:latin typeface="Avenir Book"/>
              <a:ea typeface="Calibri"/>
              <a:cs typeface="Arial"/>
            </a:endParaRPr>
          </a:p>
          <a:p>
            <a:pPr marL="285750" indent="-285750">
              <a:lnSpc>
                <a:spcPct val="150000"/>
              </a:lnSpc>
              <a:buFont typeface="Arial"/>
              <a:buChar char="•"/>
            </a:pPr>
            <a:r>
              <a:rPr lang="en-US" sz="2800" dirty="0">
                <a:latin typeface="Avenir Book"/>
                <a:cs typeface="Arial"/>
              </a:rPr>
              <a:t>Potentially minimizing cost by sending image instead of huge number of OCR</a:t>
            </a:r>
            <a:r>
              <a:rPr lang="en-US" sz="3200" dirty="0">
                <a:latin typeface="Avenir Book"/>
                <a:cs typeface="Arial"/>
              </a:rPr>
              <a:t> tokens and </a:t>
            </a:r>
            <a:r>
              <a:rPr lang="en-US" sz="2800" dirty="0">
                <a:latin typeface="Avenir Book"/>
                <a:cs typeface="Arial"/>
              </a:rPr>
              <a:t>RAG to retrieve relevant context for model input in previous labeling assistant</a:t>
            </a:r>
            <a:r>
              <a:rPr lang="en-US" sz="3200" dirty="0">
                <a:solidFill>
                  <a:srgbClr val="272B30"/>
                </a:solidFill>
                <a:latin typeface="Avenir Book"/>
                <a:cs typeface="Arial"/>
              </a:rPr>
              <a:t> </a:t>
            </a:r>
            <a:r>
              <a:rPr lang="en-US" sz="2800" dirty="0">
                <a:solidFill>
                  <a:srgbClr val="272B30"/>
                </a:solidFill>
                <a:latin typeface="Avenir Book"/>
                <a:cs typeface="Arial"/>
              </a:rPr>
              <a:t>pipeline.</a:t>
            </a:r>
            <a:endParaRPr lang="en-US" sz="2800" dirty="0">
              <a:solidFill>
                <a:srgbClr val="000000"/>
              </a:solidFill>
              <a:latin typeface="Avenir Book"/>
              <a:cs typeface="Arial"/>
            </a:endParaRPr>
          </a:p>
        </p:txBody>
      </p:sp>
      <p:sp>
        <p:nvSpPr>
          <p:cNvPr id="2" name="TextBox 1">
            <a:extLst>
              <a:ext uri="{FF2B5EF4-FFF2-40B4-BE49-F238E27FC236}">
                <a16:creationId xmlns:a16="http://schemas.microsoft.com/office/drawing/2014/main" id="{3D9CB3C0-2FBC-F0EE-1310-A59FD1FAFE95}"/>
              </a:ext>
            </a:extLst>
          </p:cNvPr>
          <p:cNvSpPr txBox="1"/>
          <p:nvPr/>
        </p:nvSpPr>
        <p:spPr>
          <a:xfrm>
            <a:off x="656539" y="6086687"/>
            <a:ext cx="274320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a:solidFill>
                  <a:srgbClr val="FC4710"/>
                </a:solidFill>
                <a:latin typeface="Avenir Book"/>
              </a:rPr>
              <a:t>Next Steps:</a:t>
            </a:r>
            <a:endParaRPr lang="en-US"/>
          </a:p>
        </p:txBody>
      </p:sp>
      <p:sp>
        <p:nvSpPr>
          <p:cNvPr id="4" name="TextBox 3">
            <a:extLst>
              <a:ext uri="{FF2B5EF4-FFF2-40B4-BE49-F238E27FC236}">
                <a16:creationId xmlns:a16="http://schemas.microsoft.com/office/drawing/2014/main" id="{18AEB2CD-1177-DA07-8FB5-1E2A206EC4BE}"/>
              </a:ext>
            </a:extLst>
          </p:cNvPr>
          <p:cNvSpPr txBox="1"/>
          <p:nvPr/>
        </p:nvSpPr>
        <p:spPr>
          <a:xfrm>
            <a:off x="623679" y="6692398"/>
            <a:ext cx="17642851" cy="3600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Sans-Serif"/>
              <a:buChar char="•"/>
            </a:pPr>
            <a:r>
              <a:rPr lang="en-US" sz="2800" dirty="0">
                <a:latin typeface="Avenir Book"/>
                <a:cs typeface="Arial"/>
              </a:rPr>
              <a:t>Improve prompt or extraction logic to get a better model score.</a:t>
            </a:r>
            <a:endParaRPr lang="en-US" sz="2800" dirty="0">
              <a:latin typeface="Avenir Book"/>
              <a:ea typeface="Calibri"/>
              <a:cs typeface="Calibri"/>
            </a:endParaRPr>
          </a:p>
          <a:p>
            <a:pPr marL="342900" indent="-342900">
              <a:lnSpc>
                <a:spcPct val="150000"/>
              </a:lnSpc>
              <a:buFont typeface="Arial,Sans-Serif"/>
              <a:buChar char="•"/>
            </a:pPr>
            <a:r>
              <a:rPr lang="en-US" sz="2800" dirty="0">
                <a:latin typeface="Avenir Book"/>
                <a:ea typeface="Calibri"/>
                <a:cs typeface="Calibri"/>
              </a:rPr>
              <a:t>Try different vendors with multimodal models like (OpenAI o1) to improve the results.</a:t>
            </a:r>
            <a:endParaRPr lang="en-US" sz="2800" dirty="0">
              <a:latin typeface="Avenir Book"/>
              <a:cs typeface="Arial"/>
            </a:endParaRPr>
          </a:p>
          <a:p>
            <a:pPr marL="342900" indent="-342900">
              <a:lnSpc>
                <a:spcPct val="150000"/>
              </a:lnSpc>
              <a:buFont typeface="Arial,Sans-Serif"/>
              <a:buChar char="•"/>
            </a:pPr>
            <a:r>
              <a:rPr lang="en-US" sz="2800" dirty="0">
                <a:latin typeface="Avenir Book"/>
                <a:cs typeface="Arial"/>
              </a:rPr>
              <a:t>Test </a:t>
            </a:r>
            <a:r>
              <a:rPr lang="en-US" sz="2800" dirty="0">
                <a:solidFill>
                  <a:srgbClr val="272B30"/>
                </a:solidFill>
                <a:latin typeface="Avenir Book"/>
                <a:cs typeface="Arial"/>
              </a:rPr>
              <a:t>different</a:t>
            </a:r>
            <a:r>
              <a:rPr lang="en-US" sz="2800" dirty="0">
                <a:latin typeface="Avenir Book"/>
                <a:cs typeface="Arial"/>
              </a:rPr>
              <a:t> multimodal models to find which ones give us the correct bounding boxes.</a:t>
            </a:r>
            <a:endParaRPr lang="en-US" sz="2800" dirty="0">
              <a:latin typeface="Avenir Book"/>
              <a:ea typeface="Calibri"/>
              <a:cs typeface="Calibri"/>
            </a:endParaRPr>
          </a:p>
          <a:p>
            <a:pPr marL="342900" indent="-342900">
              <a:lnSpc>
                <a:spcPct val="150000"/>
              </a:lnSpc>
              <a:buFont typeface="Arial,Sans-Serif"/>
              <a:buChar char="•"/>
            </a:pPr>
            <a:r>
              <a:rPr lang="en-US" sz="2800" dirty="0">
                <a:latin typeface="Avenir Book"/>
                <a:cs typeface="Arial"/>
              </a:rPr>
              <a:t>Few-shot Learning can be an option (needed some research)</a:t>
            </a:r>
          </a:p>
          <a:p>
            <a:pPr marL="342900" indent="-342900">
              <a:lnSpc>
                <a:spcPct val="150000"/>
              </a:lnSpc>
              <a:buFont typeface="Arial,Sans-Serif"/>
              <a:buChar char="•"/>
            </a:pPr>
            <a:r>
              <a:rPr lang="en-US" sz="2800" dirty="0">
                <a:solidFill>
                  <a:srgbClr val="000000"/>
                </a:solidFill>
                <a:latin typeface="Avenir Book"/>
                <a:cs typeface="Arial"/>
              </a:rPr>
              <a:t>Leverage Open-Source Models for better control over contextual understanding of the processing document </a:t>
            </a:r>
          </a:p>
          <a:p>
            <a:pPr marL="342900" indent="-342900">
              <a:buFont typeface="Arial,Sans-Serif"/>
              <a:buChar char="•"/>
            </a:pPr>
            <a:endParaRPr lang="en-US" sz="2000" dirty="0">
              <a:solidFill>
                <a:srgbClr val="272B30"/>
              </a:solidFill>
              <a:latin typeface="Avenir Book"/>
              <a:cs typeface="Arial"/>
            </a:endParaRPr>
          </a:p>
        </p:txBody>
      </p:sp>
      <p:sp>
        <p:nvSpPr>
          <p:cNvPr id="5" name="TextBox 4">
            <a:extLst>
              <a:ext uri="{FF2B5EF4-FFF2-40B4-BE49-F238E27FC236}">
                <a16:creationId xmlns:a16="http://schemas.microsoft.com/office/drawing/2014/main" id="{4D9AC528-6993-3594-C7C5-A60336739D23}"/>
              </a:ext>
            </a:extLst>
          </p:cNvPr>
          <p:cNvSpPr txBox="1"/>
          <p:nvPr/>
        </p:nvSpPr>
        <p:spPr>
          <a:xfrm>
            <a:off x="608022" y="364884"/>
            <a:ext cx="274320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a:solidFill>
                  <a:srgbClr val="FC4710"/>
                </a:solidFill>
                <a:latin typeface="Avenir Book"/>
              </a:rPr>
              <a:t>Conclusion:</a:t>
            </a:r>
          </a:p>
        </p:txBody>
      </p:sp>
    </p:spTree>
    <p:extLst>
      <p:ext uri="{BB962C8B-B14F-4D97-AF65-F5344CB8AC3E}">
        <p14:creationId xmlns:p14="http://schemas.microsoft.com/office/powerpoint/2010/main" val="22507359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rot="16200000">
            <a:off x="17025940" y="4962402"/>
            <a:ext cx="1658399" cy="384911"/>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3" name="TextBox 43"/>
          <p:cNvSpPr txBox="1"/>
          <p:nvPr/>
        </p:nvSpPr>
        <p:spPr>
          <a:xfrm>
            <a:off x="2935482" y="4489794"/>
            <a:ext cx="12410022" cy="1314655"/>
          </a:xfrm>
          <a:prstGeom prst="rect">
            <a:avLst/>
          </a:prstGeom>
        </p:spPr>
        <p:txBody>
          <a:bodyPr wrap="square" lIns="0" tIns="0" rIns="0" bIns="0" rtlCol="0" anchor="t">
            <a:spAutoFit/>
          </a:bodyPr>
          <a:lstStyle/>
          <a:p>
            <a:pPr algn="l">
              <a:lnSpc>
                <a:spcPts val="10149"/>
              </a:lnSpc>
            </a:pPr>
            <a:r>
              <a:rPr lang="en-US" sz="11153" b="1" i="1">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19125" cap="sq">
              <a:solidFill>
                <a:srgbClr val="F15204">
                  <a:alpha val="11765"/>
                </a:srgbClr>
              </a:solidFill>
              <a:prstDash val="solid"/>
              <a:miter/>
            </a:ln>
          </p:spPr>
          <p:txBody>
            <a:bodyPr/>
            <a:lstStyle/>
            <a:p>
              <a:endParaRPr lang="en-US"/>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1FB4EAAA5D3574AA5EA4D4798512D16" ma:contentTypeVersion="9" ma:contentTypeDescription="Create a new document." ma:contentTypeScope="" ma:versionID="fac3545eb738fbb499d259ab3a61b571">
  <xsd:schema xmlns:xsd="http://www.w3.org/2001/XMLSchema" xmlns:xs="http://www.w3.org/2001/XMLSchema" xmlns:p="http://schemas.microsoft.com/office/2006/metadata/properties" xmlns:ns3="8c064b5f-3c3f-4d78-a81d-a34b05295651" xmlns:ns4="ea8c8aec-be5f-4b48-b78d-c40a7955551c" targetNamespace="http://schemas.microsoft.com/office/2006/metadata/properties" ma:root="true" ma:fieldsID="df65a51ce0453eb451bde8eb401cf71c" ns3:_="" ns4:_="">
    <xsd:import namespace="8c064b5f-3c3f-4d78-a81d-a34b05295651"/>
    <xsd:import namespace="ea8c8aec-be5f-4b48-b78d-c40a7955551c"/>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064b5f-3c3f-4d78-a81d-a34b052956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8c8aec-be5f-4b48-b78d-c40a795555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c064b5f-3c3f-4d78-a81d-a34b05295651" xsi:nil="true"/>
  </documentManagement>
</p:properties>
</file>

<file path=customXml/itemProps1.xml><?xml version="1.0" encoding="utf-8"?>
<ds:datastoreItem xmlns:ds="http://schemas.openxmlformats.org/officeDocument/2006/customXml" ds:itemID="{B0D124EB-DC74-4CFF-93E8-328E156FB257}">
  <ds:schemaRefs>
    <ds:schemaRef ds:uri="8c064b5f-3c3f-4d78-a81d-a34b05295651"/>
    <ds:schemaRef ds:uri="ea8c8aec-be5f-4b48-b78d-c40a7955551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0707AF8-FEA5-42B2-BDE7-FF5ECE8294E0}">
  <ds:schemaRefs>
    <ds:schemaRef ds:uri="http://schemas.microsoft.com/sharepoint/v3/contenttype/forms"/>
  </ds:schemaRefs>
</ds:datastoreItem>
</file>

<file path=customXml/itemProps3.xml><?xml version="1.0" encoding="utf-8"?>
<ds:datastoreItem xmlns:ds="http://schemas.openxmlformats.org/officeDocument/2006/customXml" ds:itemID="{5BE7025A-BDAB-4978-B1E8-2BEEF299CEF0}">
  <ds:schemaRefs>
    <ds:schemaRef ds:uri="http://www.w3.org/XML/1998/namespace"/>
    <ds:schemaRef ds:uri="http://purl.org/dc/terms/"/>
    <ds:schemaRef ds:uri="ea8c8aec-be5f-4b48-b78d-c40a7955551c"/>
    <ds:schemaRef ds:uri="http://schemas.microsoft.com/office/infopath/2007/PartnerControls"/>
    <ds:schemaRef ds:uri="http://purl.org/dc/dcmitype/"/>
    <ds:schemaRef ds:uri="http://schemas.microsoft.com/office/2006/documentManagement/types"/>
    <ds:schemaRef ds:uri="http://schemas.openxmlformats.org/package/2006/metadata/core-properties"/>
    <ds:schemaRef ds:uri="8c064b5f-3c3f-4d78-a81d-a34b05295651"/>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0</TotalTime>
  <Words>2083</Words>
  <Application>Microsoft Office PowerPoint</Application>
  <PresentationFormat>Custom</PresentationFormat>
  <Paragraphs>427</Paragraphs>
  <Slides>23</Slides>
  <Notes>14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23</vt:i4>
      </vt:variant>
    </vt:vector>
  </HeadingPairs>
  <TitlesOfParts>
    <vt:vector size="37" baseType="lpstr">
      <vt:lpstr>Calibri</vt:lpstr>
      <vt:lpstr>Gotham Bold Italics</vt:lpstr>
      <vt:lpstr>Gotham Bold</vt:lpstr>
      <vt:lpstr>Aptos</vt:lpstr>
      <vt:lpstr>PMingLiU</vt:lpstr>
      <vt:lpstr>Consolas</vt:lpstr>
      <vt:lpstr>Arial</vt:lpstr>
      <vt:lpstr>Gotham</vt:lpstr>
      <vt:lpstr>Poppins</vt:lpstr>
      <vt:lpstr>Wingdings</vt:lpstr>
      <vt:lpstr>Avenir Book</vt:lpstr>
      <vt:lpstr>Arial,Sans-Serif</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Sanjana Ramesh</dc:creator>
  <cp:lastModifiedBy>Sanjana Ramesh (Student)</cp:lastModifiedBy>
  <cp:revision>1</cp:revision>
  <dcterms:created xsi:type="dcterms:W3CDTF">2006-08-16T00:00:00Z</dcterms:created>
  <dcterms:modified xsi:type="dcterms:W3CDTF">2024-12-11T00:04:04Z</dcterms:modified>
  <dc:identifier>DAGYrraSZmU</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0x01010091FB4EAAA5D3574AA5EA4D4798512D16</vt:lpwstr>
  </property>
</Properties>
</file>